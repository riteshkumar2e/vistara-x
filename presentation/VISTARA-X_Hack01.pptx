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2261d17-4104-3339-2d3e-4652f554cdce}">
          <p14:sldIdLst>
            <p14:sldId id="256"/>
            <p14:sldId id="257"/>
          </p14:sldIdLst>
        </p14:section>
        <p14:section name="Solution" id="{34ecae8f-a33c-2ec7-dd31-e95351e95136}">
          <p14:sldIdLst>
            <p14:sldId id="258"/>
            <p14:sldId id="259"/>
            <p14:sldId id="260"/>
            <p14:sldId id="261"/>
          </p14:sldIdLst>
        </p14:section>
        <p14:section name="Results" id="{d957d39b-95b6-bd2c-a63f-095a5484c692}">
          <p14:sldIdLst>
            <p14:sldId id="262"/>
          </p14:sldIdLst>
        </p14:section>
        <p14:section name="Hardware" id="{e57ecb48-71f1-efde-a603-d1d55ec8f987}">
          <p14:sldIdLst>
            <p14:sldId id="263"/>
            <p14:sldId id="264"/>
            <p14:sldId id="265"/>
            <p14:sldId id="266"/>
            <p14:sldId id="267"/>
            <p14:sldId id="268"/>
          </p14:sldIdLst>
        </p14:section>
        <p14:section name="Close" id="{dac70b5f-f511-f7b0-7de6-e6e08d1340c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9 crossing runs per mode</a:t>
            </a:r>
          </a:p>
        </c:rich>
      </c:tx>
      <c:layout/>
      <c:overlay val="0"/>
    </c:title>
    <c:autoTitleDeleted val="0"/>
    <c:plotArea>
      <c:layout/>
      <c:barChart>
        <c:barDir val="col"/>
        <c:grouping val="clustered"/>
        <c:varyColors val="0"/>
        <c:ser>
          <c:idx val="0"/>
          <c:order val="0"/>
          <c:tx>
            <c:strRef>
              <c:f>Sheet1!$B$1</c:f>
              <c:strCache>
                <c:ptCount val="1"/>
                <c:pt idx="0">
                  <c:v>Predictive</c:v>
                </c:pt>
              </c:strCache>
            </c:strRef>
          </c:tx>
          <c:spPr>
            <a:solidFill>
              <a:srgbClr val="0F8F83"/>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Sheet1!$B$2:$B$4</c:f>
              <c:numCache>
                <c:formatCode>General</c:formatCode>
                <c:ptCount val="3"/>
                <c:pt idx="0">
                  <c:v>9</c:v>
                </c:pt>
                <c:pt idx="1">
                  <c:v>0</c:v>
                </c:pt>
                <c:pt idx="2">
                  <c:v>0</c:v>
                </c:pt>
              </c:numCache>
            </c:numRef>
          </c:val>
        </c:ser>
        <c:ser>
          <c:idx val="1"/>
          <c:order val="1"/>
          <c:tx>
            <c:strRef>
              <c:f>Sheet1!$C$1</c:f>
              <c:strCache>
                <c:ptCount val="1"/>
                <c:pt idx="0">
                  <c:v>Reactive baseline</c:v>
                </c:pt>
              </c:strCache>
            </c:strRef>
          </c:tx>
          <c:spPr>
            <a:solidFill>
              <a:srgbClr val="7C5CE0"/>
            </a:solidFill>
            <a:effectLst/>
          </c:spPr>
          <c:invertIfNegative val="0"/>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cat>
            <c:multiLvlStrRef>
              <c:f>Sheet1!$A$2:$A$4</c:f>
              <c:multiLvlStrCache>
                <c:ptCount val="3"/>
                <c:lvl>
                  <c:pt idx="0">
                    <c:v>Goals reached</c:v>
                  </c:pt>
                  <c:pt idx="1">
                    <c:v>Collisions</c:v>
                  </c:pt>
                  <c:pt idx="2">
                    <c:v>Near misses</c:v>
                  </c:pt>
                </c:lvl>
              </c:multiLvlStrCache>
            </c:multiLvlStrRef>
          </c:cat>
          <c:val>
            <c:numRef>
              <c:f>Sheet1!$C$2:$C$4</c:f>
              <c:numCache>
                <c:formatCode>General</c:formatCode>
                <c:ptCount val="3"/>
                <c:pt idx="0">
                  <c:v>7</c:v>
                </c:pt>
                <c:pt idx="1">
                  <c:v>2</c:v>
                </c:pt>
                <c:pt idx="2">
                  <c:v>3</c:v>
                </c:pt>
              </c:numCache>
            </c:numRef>
          </c:val>
        </c:ser>
        <c:dLbls>
          <c:numFmt formatCode="#,##0" sourceLinked="0"/>
          <c:txPr>
            <a:bodyPr/>
            <a:lstStyle/>
            <a:p>
              <a:pPr>
                <a:defRPr b="0" i="0" strike="noStrike" sz="1200" u="none">
                  <a:solidFill>
                    <a:srgbClr val="10182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866"/>
                </a:solidFill>
                <a:latin typeface="+mn-lt"/>
              </a:defRPr>
            </a:pPr>
            <a:endParaRPr lang="en-US"/>
          </a:p>
        </c:txPr>
        <c:crossAx val="2094734552"/>
        <c:crosses val="autoZero"/>
        <c:auto val="1"/>
        <c:lblAlgn val="ctr"/>
        <c:noMultiLvlLbl val="1"/>
      </c:catAx>
      <c:valAx>
        <c:axId val="2094734552"/>
        <c:scaling>
          <c:orientation val="minMax"/>
          <c:max val="1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01820"/>
                </a:solidFill>
                <a:latin typeface="+mn-lt"/>
              </a:defRPr>
            </a:pPr>
            <a:r>
              <a:rPr sz="1300" b="0" i="0" u="none" strike="noStrike">
                <a:solidFill>
                  <a:srgbClr val="101820"/>
                </a:solidFill>
                <a:latin typeface="+mn-lt"/>
              </a:rPr>
              <a:t>Cost by group (₹ thousand)</a:t>
            </a:r>
          </a:p>
        </c:rich>
      </c:tx>
      <c:layout/>
      <c:overlay val="0"/>
    </c:title>
    <c:autoTitleDeleted val="0"/>
    <c:plotArea>
      <c:layout/>
      <c:doughnutChart>
        <c:varyColors val="1"/>
        <c:ser>
          <c:idx val="0"/>
          <c:order val="0"/>
          <c:tx>
            <c:strRef>
              <c:f>Sheet1!$B$1</c:f>
              <c:strCache>
                <c:ptCount val="1"/>
                <c:pt idx="0">
                  <c:v>Cost (₹ thousand)</c:v>
                </c:pt>
              </c:strCache>
            </c:strRef>
          </c:tx>
          <c:spPr>
            <a:solidFill>
              <a:schemeClr val="accent1"/>
            </a:solidFill>
            <a:ln w="9525" cap="flat">
              <a:solidFill>
                <a:srgbClr val="F9F9F9"/>
              </a:solidFill>
              <a:prstDash val="solid"/>
              <a:round/>
            </a:ln>
            <a:effectLst/>
          </c:spPr>
          <c:dPt>
            <c:idx val="0"/>
            <c:bubble3D val="0"/>
            <c:spPr>
              <a:solidFill>
                <a:srgbClr val="0B7D73"/>
              </a:solidFill>
              <a:effectLst/>
            </c:spPr>
          </c:dPt>
          <c:dPt>
            <c:idx val="1"/>
            <c:bubble3D val="0"/>
            <c:spPr>
              <a:solidFill>
                <a:srgbClr val="0D1114"/>
              </a:solidFill>
              <a:effectLst/>
            </c:spPr>
          </c:dPt>
          <c:dPt>
            <c:idx val="2"/>
            <c:bubble3D val="0"/>
            <c:spPr>
              <a:solidFill>
                <a:srgbClr val="D9A441"/>
              </a:solidFill>
              <a:effectLst/>
            </c:spPr>
          </c:dPt>
          <c:dPt>
            <c:idx val="3"/>
            <c:bubble3D val="0"/>
            <c:spPr>
              <a:solidFill>
                <a:srgbClr val="7C5CE0"/>
              </a:solidFill>
              <a:effectLst/>
            </c:spPr>
          </c:dPt>
          <c:dPt>
            <c:idx val="4"/>
            <c:bubble3D val="0"/>
            <c:spPr>
              <a:solidFill>
                <a:srgbClr val="C0352A"/>
              </a:solidFill>
              <a:effectLst/>
            </c:spPr>
          </c:dPt>
          <c:dPt>
            <c:idx val="5"/>
            <c:bubble3D val="0"/>
            <c:spPr>
              <a:solidFill>
                <a:srgbClr val="8FA3B0"/>
              </a:solidFill>
              <a:effectLst/>
            </c:spPr>
          </c:dPt>
          <c:dLbls>
            <c:dLbl>
              <c:idx val="0"/>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1"/>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2"/>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3"/>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4"/>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dLbl>
              <c:idx val="5"/>
              <c:numFmt formatCode="0.0" sourceLinked="0"/>
              <c:spPr/>
              <c:txPr>
                <a:bodyPr/>
                <a:lstStyle/>
                <a:p>
                  <a:pPr>
                    <a:defRPr sz="1100" b="0" i="0" u="none" strike="noStrike">
                      <a:solidFill>
                        <a:srgbClr val="FFFFFF"/>
                      </a:solidFill>
                      <a:latin typeface="+mn-lt"/>
                    </a:defRPr>
                  </a:pPr>
                </a:p>
              </c:txPr>
              <c:showLegendKey val="0"/>
              <c:showVal val="1"/>
              <c:showCatName val="0"/>
              <c:showSerName val="0"/>
              <c:showPercent val="0"/>
              <c:showBubbleSize val="0"/>
            </c:dLbl>
            <c:numFmt formatCode="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LiDAR</c:v>
                </c:pt>
                <c:pt idx="1">
                  <c:v>Drive + chassis</c:v>
                </c:pt>
                <c:pt idx="2">
                  <c:v>Power + safety</c:v>
                </c:pt>
                <c:pt idx="3">
                  <c:v>Arduino + sensors</c:v>
                </c:pt>
                <c:pt idx="4">
                  <c:v>Camera</c:v>
                </c:pt>
                <c:pt idx="5">
                  <c:v>Cables + USB hub</c:v>
                </c:pt>
              </c:strCache>
            </c:strRef>
          </c:cat>
          <c:val>
            <c:numRef>
              <c:f>Sheet1!$B$2:$B$7</c:f>
              <c:numCache>
                <c:ptCount val="6"/>
                <c:pt idx="0">
                  <c:v>8.5</c:v>
                </c:pt>
                <c:pt idx="1">
                  <c:v>5.3</c:v>
                </c:pt>
                <c:pt idx="2">
                  <c:v>2.5</c:v>
                </c:pt>
                <c:pt idx="3">
                  <c:v>1.8</c:v>
                </c:pt>
                <c:pt idx="4">
                  <c:v>1.6</c:v>
                </c:pt>
                <c:pt idx="5">
                  <c:v>1.3</c:v>
                </c:pt>
              </c:numCache>
            </c:numRef>
          </c:val>
        </c:ser>
        <c:firstSliceAng val="0"/>
        <c:holeSize val="55"/>
      </c:doughnutChart>
      <c:spPr>
        <a:noFill/>
        <a:ln>
          <a:noFill/>
        </a:ln>
        <a:effectLst/>
      </c:spPr>
    </c:plotArea>
    <c:legend>
      <c:legendPos val="r"/>
      <c:overlay val="0"/>
      <c:txPr>
        <a:bodyPr/>
        <a:lstStyle/>
        <a:p>
          <a:pPr>
            <a:defRPr sz="1100">
              <a:solidFill>
                <a:srgbClr val="4B586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VISTARA-X is an autonomous navigation system for robots that share corridors with people. Its key idea: it predicts where people will be in the next three seconds and acts before a conflict. The picture is a screenshot of our own 3D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robots brake only for what is in front of them. In a hospital or warehouse, people walk across and do not give way, and stopping does not stop someone walking into you. In our own test, the reactive robot was hit twice in nine runs. VISTARA-X predicted the person's path and slowed early: zero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product from the user's side. A nurse says, in Hinglish, take the medicine from the pharmacy to Ward B. The robot confirms, plans a route on its map, drives there while predicting people around it, and the recipient enters a PIN as proof of delivery. Underneath, the Arduino safety layer is always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laptop runs our Python backend: speech commands, YOLO perception, LiDAR tracking and prediction, SLAM, A-star planning and the delivery missions. It sends one speed command twenty times a second to an Arduino Mega. The Arduino keeps the robot safe on its own: if the laptop freezes it stops in half a second, and the E-stop cuts motor power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from our dashboard during the demo. The pipeline strip lights up only from live state. The boxes show where person T1 will be in half a second up to three seconds, with growing uncertainty. The radar draws the robot, its route and the predicted path, and the decision timeline logs every action with its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judge demo running in the browser. A person crosses the corridor without giving way and a cart turns. On the right, each step is ticked only from real telemetry: the pedestrian is tracked, its path predicted, the robot slows to fifty percent, re-routes and reaches the goal with zero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evaluation script runs the same 9 crossing variants with prediction on and off. Predictive: 9 of 9 goals, zero collisions, zero near misses. Reactive: 2 collisions and 3 near misses. The cost is about 1.5 seconds per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we designed for: a laptop on the robot runs our existing backend, a webcam and an RPLIDAR give vision and range, and an Arduino Mega handles motors, ultrasonic sensors, IMU and safety. No Raspberry Pi is needed: an Arduino has 8 KB of RAM and cannot run YOLO, SLAM or Whisper, so the laptop does that. Full specs, prices and wiring are in hardware/README.md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Sense: six ultrasonic sensors, wheel encoders, the IMU, the E-stop and the battery level go into the Arduino. Think: the laptop is the AI brain and sends a speed command; the Arduino checks four safety rules every 20 milliseconds. Act: it drives the motors, beeps the buzzer and sets the status LED. The power path is separate, so the E-stop cuts only the wheels and the brain keeps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wiring of the Arduino Mega. Motor driver on pins 5 to 8, wheel encoders on interrupt pins 2 and 3, the six ultrasonic sensors on pins 30 to 41, the IMU on I2C, the battery on A0 and the emergency stop on pin 26. The laptop connects over USB, or Bluetooth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in the Wokwi simulator with the same pin map as the real robot. Motor LEDs show the PWM. Moving an ultrasonic sensor's distance slows or stops the robot, the E-stop cuts everything at once and stays latched, and the battery knob triggers the low-battery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laptop we already own does the computing, the robot costs about 21 thousand rupees. A depth camera is an optional upgrade. Runtime is about two hours, limited by the laptop battery, and the software already returns the robot to its dock at low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 a real robot takes about ten weeks. Phase one is already de-risked, because the same Arduino firmware runs in Wokwi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Everything is on GitHub: the code, the evaluation, the hardware design and the Wokwi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3" name="Text 0"/>
          <p:cNvSpPr/>
          <p:nvPr>
            <p:ph idx="101" type="body" hasCustomPrompt="1"/>
          </p:nvPr>
        </p:nvSpPr>
        <p:spPr>
          <a:xfrm>
            <a:off x="548640" y="2468880"/>
            <a:ext cx="8046720" cy="5486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1"/>
                </a:solidFill>
                <a:latin typeface="Arial" pitchFamily="34" charset="0"/>
                <a:ea typeface="Arial" pitchFamily="34" charset="-122"/>
                <a:cs typeface="Arial"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VISTARA-X  ·  Team Hack01  ·  Hack in Hills '26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RiteshKumar2e/VISTARA-X" TargetMode="External"/><Relationship Id="rId1"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54864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VISTARA-X</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A robot that predicts, not just reacts</a:t>
            </a:r>
            <a:endParaRPr lang="en-US" sz="2000" dirty="0"/>
          </a:p>
        </p:txBody>
      </p:sp>
      <p:sp>
        <p:nvSpPr>
          <p:cNvPr id="5" name="Text 3"/>
          <p:cNvSpPr txBox="1"/>
          <p:nvPr/>
        </p:nvSpPr>
        <p:spPr>
          <a:xfrm>
            <a:off x="548640" y="4069080"/>
            <a:ext cx="3840480" cy="548640"/>
          </a:xfrm>
          <a:prstGeom prst="rect">
            <a:avLst/>
          </a:prstGeom>
          <a:noFill/>
          <a:ln/>
        </p:spPr>
        <p:txBody>
          <a:bodyPr wrap="square" lIns="0" tIns="0" rIns="0" bIns="0" rtlCol="0" anchor="t"/>
          <a:lstStyle/>
          <a:p>
            <a:pPr indent="0" marL="0">
              <a:buNone/>
            </a:pPr>
            <a:r>
              <a:rPr lang="en-US" sz="1400" dirty="0">
                <a:solidFill>
                  <a:schemeClr val="bg2"/>
                </a:solidFill>
              </a:rPr>
              <a:t>Ritesh Kumar  ·  Backend and AI/ML</a:t>
            </a:r>
            <a:endParaRPr lang="en-US" sz="1400" dirty="0"/>
          </a:p>
          <a:p>
            <a:pPr indent="0" marL="0">
              <a:buNone/>
            </a:pPr>
            <a:r>
              <a:rPr lang="en-US" sz="1400" dirty="0">
                <a:solidFill>
                  <a:schemeClr val="bg2"/>
                </a:solidFill>
              </a:rPr>
              <a:t>Kainat Afrazi  ·  Frontend</a:t>
            </a:r>
            <a:endParaRPr lang="en-US" sz="1400" dirty="0"/>
          </a:p>
        </p:txBody>
      </p:sp>
      <p:pic>
        <p:nvPicPr>
          <p:cNvPr id="6" name="Digital twin screenshot" descr="Screenshot of the VISTARA-X 3D digital twin: warehouse, robot, shelves and a walking person">    </p:cNvPr>
          <p:cNvPicPr>
            <a:picLocks noChangeAspect="1"/>
          </p:cNvPicPr>
          <p:nvPr/>
        </p:nvPicPr>
        <p:blipFill>
          <a:blip r:embed="rId1"/>
          <a:stretch>
            <a:fillRect/>
          </a:stretch>
        </p:blipFill>
        <p:spPr>
          <a:xfrm>
            <a:off x="4572000" y="1325880"/>
            <a:ext cx="4114800" cy="1856232"/>
          </a:xfrm>
          <a:prstGeom prst="rect">
            <a:avLst/>
          </a:prstGeom>
        </p:spPr>
      </p:pic>
      <p:sp>
        <p:nvSpPr>
          <p:cNvPr id="7" name="Text 4"/>
          <p:cNvSpPr txBox="1"/>
          <p:nvPr/>
        </p:nvSpPr>
        <p:spPr>
          <a:xfrm>
            <a:off x="4572000" y="3246120"/>
            <a:ext cx="4114800" cy="274320"/>
          </a:xfrm>
          <a:prstGeom prst="rect">
            <a:avLst/>
          </a:prstGeom>
          <a:noFill/>
          <a:ln/>
        </p:spPr>
        <p:txBody>
          <a:bodyPr wrap="square" lIns="0" tIns="0" rIns="0" bIns="0" rtlCol="0" anchor="t"/>
          <a:lstStyle/>
          <a:p>
            <a:pPr indent="0" marL="0">
              <a:buNone/>
            </a:pPr>
            <a:r>
              <a:rPr lang="en-US" sz="1100" i="1" dirty="0">
                <a:solidFill>
                  <a:schemeClr val="bg2"/>
                </a:solidFill>
              </a:rPr>
              <a:t>Our live 3D digital twin (screenshot)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Robots react too late</a:t>
            </a:r>
            <a:endParaRPr lang="en-US" sz="3000" dirty="0"/>
          </a:p>
        </p:txBody>
      </p:sp>
      <p:pic>
        <p:nvPicPr>
          <p:cNvPr id="3" name="Reactive vs predictive" descr="A typical robot stops at 0.3 metres and a crossing person walks into it: 2 collisions in 9 runs. VISTARA-X predicts the person's path 2.8 seconds ahead and slows early: 0 collisions in 9 runs.">    </p:cNvPr>
          <p:cNvPicPr>
            <a:picLocks noChangeAspect="1"/>
          </p:cNvPicPr>
          <p:nvPr/>
        </p:nvPicPr>
        <p:blipFill>
          <a:blip r:embed="rId1"/>
          <a:stretch>
            <a:fillRect/>
          </a:stretch>
        </p:blipFill>
        <p:spPr>
          <a:xfrm>
            <a:off x="457200" y="1097280"/>
            <a:ext cx="8229600" cy="3291840"/>
          </a:xfrm>
          <a:prstGeom prst="rect">
            <a:avLst/>
          </a:prstGeom>
        </p:spPr>
      </p:pic>
      <p:sp>
        <p:nvSpPr>
          <p:cNvPr id="4" name="Text 1"/>
          <p:cNvSpPr txBox="1"/>
          <p:nvPr/>
        </p:nvSpPr>
        <p:spPr>
          <a:xfrm>
            <a:off x="457200" y="4462272"/>
            <a:ext cx="8229600" cy="256032"/>
          </a:xfrm>
          <a:prstGeom prst="rect">
            <a:avLst/>
          </a:prstGeom>
          <a:noFill/>
          <a:ln/>
        </p:spPr>
        <p:txBody>
          <a:bodyPr wrap="square" lIns="0" tIns="0" rIns="0" bIns="0" rtlCol="0" anchor="t"/>
          <a:lstStyle/>
          <a:p>
            <a:pPr indent="0" marL="0">
              <a:buNone/>
            </a:pPr>
            <a:r>
              <a:rPr lang="en-US" sz="1000" i="1" dirty="0">
                <a:solidFill>
                  <a:schemeClr val="accent5"/>
                </a:solidFill>
              </a:rPr>
              <a:t>Numbers from our evaluation script: same crossing corridor, 9 runs each, fixed seeds (backend/evaluation/results.md).</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One delivery, step by step</a:t>
            </a:r>
            <a:endParaRPr lang="en-US" sz="3000" dirty="0"/>
          </a:p>
        </p:txBody>
      </p:sp>
      <p:pic>
        <p:nvPicPr>
          <p:cNvPr id="3" name="Mission workflow" descr="Five steps of a hospital delivery: ask by voice in Hinglish, confirm, plan the route, drive safely while predicting a crossing person, deliver with a PIN. Arduino safety is always on.">    </p:cNvPr>
          <p:cNvPicPr>
            <a:picLocks noChangeAspect="1"/>
          </p:cNvPicPr>
          <p:nvPr/>
        </p:nvPicPr>
        <p:blipFill>
          <a:blip r:embed="rId1"/>
          <a:stretch>
            <a:fillRect/>
          </a:stretch>
        </p:blipFill>
        <p:spPr>
          <a:xfrm>
            <a:off x="457200" y="1005840"/>
            <a:ext cx="8229600" cy="3703320"/>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System architecture</a:t>
            </a:r>
            <a:endParaRPr lang="en-US" sz="3000" dirty="0"/>
          </a:p>
        </p:txBody>
      </p:sp>
      <p:pic>
        <p:nvPicPr>
          <p:cNvPr id="3" name="System architecture" descr="The user talks to the laptop by voice or dashboard. The laptop runs speech, perception, tracking and prediction, SLAM, planning and missions, and sends speed commands to the Arduino Mega, which applies safety rules and drives the motors.">    </p:cNvPr>
          <p:cNvPicPr>
            <a:picLocks noChangeAspect="1"/>
          </p:cNvPicPr>
          <p:nvPr/>
        </p:nvPicPr>
        <p:blipFill>
          <a:blip r:embed="rId1"/>
          <a:stretch>
            <a:fillRect/>
          </a:stretch>
        </p:blipFill>
        <p:spPr>
          <a:xfrm>
            <a:off x="457200" y="1051560"/>
            <a:ext cx="8229600" cy="3502152"/>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Prediction, live in our dashboard</a:t>
            </a:r>
            <a:endParaRPr lang="en-US" sz="3000" dirty="0"/>
          </a:p>
        </p:txBody>
      </p:sp>
      <p:pic>
        <p:nvPicPr>
          <p:cNvPr id="3" name="Prediction panel screenshot" descr="Screenshot of the prediction panel during the demo: observe-to-act pipeline, predicted positions of person T1 from 0.5 to 3 seconds, conflict radar and decision timeline">    </p:cNvPr>
          <p:cNvPicPr>
            <a:picLocks noChangeAspect="1"/>
          </p:cNvPicPr>
          <p:nvPr/>
        </p:nvPicPr>
        <p:blipFill>
          <a:blip r:embed="rId1"/>
          <a:stretch>
            <a:fillRect/>
          </a:stretch>
        </p:blipFill>
        <p:spPr>
          <a:xfrm>
            <a:off x="457200" y="1097280"/>
            <a:ext cx="8229600" cy="2286000"/>
          </a:xfrm>
          <a:prstGeom prst="rect">
            <a:avLst/>
          </a:prstGeom>
        </p:spPr>
      </p:pic>
      <p:sp>
        <p:nvSpPr>
          <p:cNvPr id="4" name="Screenshot frame"/>
          <p:cNvSpPr/>
          <p:nvPr/>
        </p:nvSpPr>
        <p:spPr>
          <a:xfrm>
            <a:off x="457200" y="1097280"/>
            <a:ext cx="8229600" cy="2286000"/>
          </a:xfrm>
          <a:prstGeom prst="rect">
            <a:avLst/>
          </a:prstGeom>
          <a:ln w="12700">
            <a:solidFill>
              <a:srgbClr val="DFE4E9"/>
            </a:solidFill>
            <a:prstDash val="solid"/>
          </a:ln>
        </p:spPr>
      </p:sp>
      <p:sp>
        <p:nvSpPr>
          <p:cNvPr id="5" name="Marker 1"/>
          <p:cNvSpPr/>
          <p:nvPr/>
        </p:nvSpPr>
        <p:spPr>
          <a:xfrm>
            <a:off x="146304" y="1481328"/>
            <a:ext cx="292608" cy="292608"/>
          </a:xfrm>
          <a:prstGeom prst="ellipse">
            <a:avLst/>
          </a:prstGeom>
          <a:solidFill>
            <a:srgbClr val="D9A441"/>
          </a:solidFill>
          <a:ln w="19050">
            <a:solidFill>
              <a:srgbClr val="FFFFFF"/>
            </a:solidFill>
            <a:prstDash val="solid"/>
          </a:ln>
        </p:spPr>
      </p:sp>
      <p:sp>
        <p:nvSpPr>
          <p:cNvPr id="6" name="Text 3"/>
          <p:cNvSpPr txBox="1"/>
          <p:nvPr/>
        </p:nvSpPr>
        <p:spPr>
          <a:xfrm>
            <a:off x="146304" y="1481328"/>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7" name="Legend 1"/>
          <p:cNvSpPr/>
          <p:nvPr/>
        </p:nvSpPr>
        <p:spPr>
          <a:xfrm>
            <a:off x="457200" y="3639312"/>
            <a:ext cx="292608" cy="292608"/>
          </a:xfrm>
          <a:prstGeom prst="ellipse">
            <a:avLst/>
          </a:prstGeom>
          <a:solidFill>
            <a:srgbClr val="D9A441"/>
          </a:solidFill>
          <a:ln/>
        </p:spPr>
      </p:sp>
      <p:sp>
        <p:nvSpPr>
          <p:cNvPr id="8" name="Text 5"/>
          <p:cNvSpPr txBox="1"/>
          <p:nvPr/>
        </p:nvSpPr>
        <p:spPr>
          <a:xfrm>
            <a:off x="457200" y="3639312"/>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9" name="Text 6"/>
          <p:cNvSpPr txBox="1"/>
          <p:nvPr/>
        </p:nvSpPr>
        <p:spPr>
          <a:xfrm>
            <a:off x="841248" y="3611880"/>
            <a:ext cx="1645920" cy="274320"/>
          </a:xfrm>
          <a:prstGeom prst="rect">
            <a:avLst/>
          </a:prstGeom>
          <a:noFill/>
          <a:ln/>
        </p:spPr>
        <p:txBody>
          <a:bodyPr wrap="square" lIns="0" tIns="0" rIns="0" bIns="0" rtlCol="0" anchor="t"/>
          <a:lstStyle/>
          <a:p>
            <a:pPr indent="0" marL="0">
              <a:buNone/>
            </a:pPr>
            <a:r>
              <a:rPr lang="en-US" sz="1300" b="1" dirty="0">
                <a:solidFill>
                  <a:schemeClr val="tx1"/>
                </a:solidFill>
              </a:rPr>
              <a:t>Pipeline</a:t>
            </a:r>
            <a:endParaRPr lang="en-US" sz="1300" dirty="0"/>
          </a:p>
        </p:txBody>
      </p:sp>
      <p:sp>
        <p:nvSpPr>
          <p:cNvPr id="10" name="Text 7"/>
          <p:cNvSpPr txBox="1"/>
          <p:nvPr/>
        </p:nvSpPr>
        <p:spPr>
          <a:xfrm>
            <a:off x="841248" y="3904488"/>
            <a:ext cx="1645920" cy="457200"/>
          </a:xfrm>
          <a:prstGeom prst="rect">
            <a:avLst/>
          </a:prstGeom>
          <a:noFill/>
          <a:ln/>
        </p:spPr>
        <p:txBody>
          <a:bodyPr wrap="square" lIns="0" tIns="0" rIns="0" bIns="0" rtlCol="0" anchor="t"/>
          <a:lstStyle/>
          <a:p>
            <a:pPr indent="0" marL="0">
              <a:buNone/>
            </a:pPr>
            <a:r>
              <a:rPr lang="en-US" sz="1100" dirty="0">
                <a:solidFill>
                  <a:schemeClr val="accent5"/>
                </a:solidFill>
              </a:rPr>
              <a:t>each stage lights up from live state</a:t>
            </a:r>
            <a:endParaRPr lang="en-US" sz="1100" dirty="0"/>
          </a:p>
        </p:txBody>
      </p:sp>
      <p:sp>
        <p:nvSpPr>
          <p:cNvPr id="11" name="Marker 2"/>
          <p:cNvSpPr/>
          <p:nvPr/>
        </p:nvSpPr>
        <p:spPr>
          <a:xfrm>
            <a:off x="2331720" y="2432304"/>
            <a:ext cx="292608" cy="292608"/>
          </a:xfrm>
          <a:prstGeom prst="ellipse">
            <a:avLst/>
          </a:prstGeom>
          <a:solidFill>
            <a:srgbClr val="D9A441"/>
          </a:solidFill>
          <a:ln w="19050">
            <a:solidFill>
              <a:srgbClr val="FFFFFF"/>
            </a:solidFill>
            <a:prstDash val="solid"/>
          </a:ln>
        </p:spPr>
      </p:sp>
      <p:sp>
        <p:nvSpPr>
          <p:cNvPr id="12" name="Text 9"/>
          <p:cNvSpPr txBox="1"/>
          <p:nvPr/>
        </p:nvSpPr>
        <p:spPr>
          <a:xfrm>
            <a:off x="2331720" y="2432304"/>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13" name="Legend 2"/>
          <p:cNvSpPr/>
          <p:nvPr/>
        </p:nvSpPr>
        <p:spPr>
          <a:xfrm>
            <a:off x="2560320" y="3639312"/>
            <a:ext cx="292608" cy="292608"/>
          </a:xfrm>
          <a:prstGeom prst="ellipse">
            <a:avLst/>
          </a:prstGeom>
          <a:solidFill>
            <a:srgbClr val="D9A441"/>
          </a:solidFill>
          <a:ln/>
        </p:spPr>
      </p:sp>
      <p:sp>
        <p:nvSpPr>
          <p:cNvPr id="14" name="Text 11"/>
          <p:cNvSpPr txBox="1"/>
          <p:nvPr/>
        </p:nvSpPr>
        <p:spPr>
          <a:xfrm>
            <a:off x="2560320" y="3639312"/>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15" name="Text 12"/>
          <p:cNvSpPr txBox="1"/>
          <p:nvPr/>
        </p:nvSpPr>
        <p:spPr>
          <a:xfrm>
            <a:off x="2944368" y="3611880"/>
            <a:ext cx="1645920" cy="274320"/>
          </a:xfrm>
          <a:prstGeom prst="rect">
            <a:avLst/>
          </a:prstGeom>
          <a:noFill/>
          <a:ln/>
        </p:spPr>
        <p:txBody>
          <a:bodyPr wrap="square" lIns="0" tIns="0" rIns="0" bIns="0" rtlCol="0" anchor="t"/>
          <a:lstStyle/>
          <a:p>
            <a:pPr indent="0" marL="0">
              <a:buNone/>
            </a:pPr>
            <a:r>
              <a:rPr lang="en-US" sz="1300" b="1" dirty="0">
                <a:solidFill>
                  <a:schemeClr val="tx1"/>
                </a:solidFill>
              </a:rPr>
              <a:t>Person T1</a:t>
            </a:r>
            <a:endParaRPr lang="en-US" sz="1300" dirty="0"/>
          </a:p>
        </p:txBody>
      </p:sp>
      <p:sp>
        <p:nvSpPr>
          <p:cNvPr id="16" name="Text 13"/>
          <p:cNvSpPr txBox="1"/>
          <p:nvPr/>
        </p:nvSpPr>
        <p:spPr>
          <a:xfrm>
            <a:off x="2944368" y="3904488"/>
            <a:ext cx="1645920" cy="457200"/>
          </a:xfrm>
          <a:prstGeom prst="rect">
            <a:avLst/>
          </a:prstGeom>
          <a:noFill/>
          <a:ln/>
        </p:spPr>
        <p:txBody>
          <a:bodyPr wrap="square" lIns="0" tIns="0" rIns="0" bIns="0" rtlCol="0" anchor="t"/>
          <a:lstStyle/>
          <a:p>
            <a:pPr indent="0" marL="0">
              <a:buNone/>
            </a:pPr>
            <a:r>
              <a:rPr lang="en-US" sz="1100" dirty="0">
                <a:solidFill>
                  <a:schemeClr val="accent5"/>
                </a:solidFill>
              </a:rPr>
              <a:t>position at +0.5 to +3 s, ± uncertainty</a:t>
            </a:r>
            <a:endParaRPr lang="en-US" sz="1100" dirty="0"/>
          </a:p>
        </p:txBody>
      </p:sp>
      <p:sp>
        <p:nvSpPr>
          <p:cNvPr id="17" name="Marker 3"/>
          <p:cNvSpPr/>
          <p:nvPr/>
        </p:nvSpPr>
        <p:spPr>
          <a:xfrm>
            <a:off x="4498848" y="1810512"/>
            <a:ext cx="292608" cy="292608"/>
          </a:xfrm>
          <a:prstGeom prst="ellipse">
            <a:avLst/>
          </a:prstGeom>
          <a:solidFill>
            <a:srgbClr val="D9A441"/>
          </a:solidFill>
          <a:ln w="19050">
            <a:solidFill>
              <a:srgbClr val="FFFFFF"/>
            </a:solidFill>
            <a:prstDash val="solid"/>
          </a:ln>
        </p:spPr>
      </p:sp>
      <p:sp>
        <p:nvSpPr>
          <p:cNvPr id="18" name="Text 15"/>
          <p:cNvSpPr txBox="1"/>
          <p:nvPr/>
        </p:nvSpPr>
        <p:spPr>
          <a:xfrm>
            <a:off x="4498848" y="1810512"/>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19" name="Legend 3"/>
          <p:cNvSpPr/>
          <p:nvPr/>
        </p:nvSpPr>
        <p:spPr>
          <a:xfrm>
            <a:off x="4663440" y="3639312"/>
            <a:ext cx="292608" cy="292608"/>
          </a:xfrm>
          <a:prstGeom prst="ellipse">
            <a:avLst/>
          </a:prstGeom>
          <a:solidFill>
            <a:srgbClr val="D9A441"/>
          </a:solidFill>
          <a:ln/>
        </p:spPr>
      </p:sp>
      <p:sp>
        <p:nvSpPr>
          <p:cNvPr id="20" name="Text 17"/>
          <p:cNvSpPr txBox="1"/>
          <p:nvPr/>
        </p:nvSpPr>
        <p:spPr>
          <a:xfrm>
            <a:off x="4663440" y="3639312"/>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1" name="Text 18"/>
          <p:cNvSpPr txBox="1"/>
          <p:nvPr/>
        </p:nvSpPr>
        <p:spPr>
          <a:xfrm>
            <a:off x="5047488" y="3611880"/>
            <a:ext cx="1645920" cy="274320"/>
          </a:xfrm>
          <a:prstGeom prst="rect">
            <a:avLst/>
          </a:prstGeom>
          <a:noFill/>
          <a:ln/>
        </p:spPr>
        <p:txBody>
          <a:bodyPr wrap="square" lIns="0" tIns="0" rIns="0" bIns="0" rtlCol="0" anchor="t"/>
          <a:lstStyle/>
          <a:p>
            <a:pPr indent="0" marL="0">
              <a:buNone/>
            </a:pPr>
            <a:r>
              <a:rPr lang="en-US" sz="1300" b="1" dirty="0">
                <a:solidFill>
                  <a:schemeClr val="tx1"/>
                </a:solidFill>
              </a:rPr>
              <a:t>Radar</a:t>
            </a:r>
            <a:endParaRPr lang="en-US" sz="1300" dirty="0"/>
          </a:p>
        </p:txBody>
      </p:sp>
      <p:sp>
        <p:nvSpPr>
          <p:cNvPr id="22" name="Text 19"/>
          <p:cNvSpPr txBox="1"/>
          <p:nvPr/>
        </p:nvSpPr>
        <p:spPr>
          <a:xfrm>
            <a:off x="5047488" y="3904488"/>
            <a:ext cx="1645920" cy="457200"/>
          </a:xfrm>
          <a:prstGeom prst="rect">
            <a:avLst/>
          </a:prstGeom>
          <a:noFill/>
          <a:ln/>
        </p:spPr>
        <p:txBody>
          <a:bodyPr wrap="square" lIns="0" tIns="0" rIns="0" bIns="0" rtlCol="0" anchor="t"/>
          <a:lstStyle/>
          <a:p>
            <a:pPr indent="0" marL="0">
              <a:buNone/>
            </a:pPr>
            <a:r>
              <a:rPr lang="en-US" sz="1100" dirty="0">
                <a:solidFill>
                  <a:schemeClr val="accent5"/>
                </a:solidFill>
              </a:rPr>
              <a:t>robot, route and predicted path</a:t>
            </a:r>
            <a:endParaRPr lang="en-US" sz="1100" dirty="0"/>
          </a:p>
        </p:txBody>
      </p:sp>
      <p:sp>
        <p:nvSpPr>
          <p:cNvPr id="23" name="Marker 4"/>
          <p:cNvSpPr/>
          <p:nvPr/>
        </p:nvSpPr>
        <p:spPr>
          <a:xfrm>
            <a:off x="6400800" y="1481328"/>
            <a:ext cx="292608" cy="292608"/>
          </a:xfrm>
          <a:prstGeom prst="ellipse">
            <a:avLst/>
          </a:prstGeom>
          <a:solidFill>
            <a:srgbClr val="D9A441"/>
          </a:solidFill>
          <a:ln w="19050">
            <a:solidFill>
              <a:srgbClr val="FFFFFF"/>
            </a:solidFill>
            <a:prstDash val="solid"/>
          </a:ln>
        </p:spPr>
      </p:sp>
      <p:sp>
        <p:nvSpPr>
          <p:cNvPr id="24" name="Text 21"/>
          <p:cNvSpPr txBox="1"/>
          <p:nvPr/>
        </p:nvSpPr>
        <p:spPr>
          <a:xfrm>
            <a:off x="6400800" y="1481328"/>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25" name="Legend 4"/>
          <p:cNvSpPr/>
          <p:nvPr/>
        </p:nvSpPr>
        <p:spPr>
          <a:xfrm>
            <a:off x="6766560" y="3639312"/>
            <a:ext cx="292608" cy="292608"/>
          </a:xfrm>
          <a:prstGeom prst="ellipse">
            <a:avLst/>
          </a:prstGeom>
          <a:solidFill>
            <a:srgbClr val="D9A441"/>
          </a:solidFill>
          <a:ln/>
        </p:spPr>
      </p:sp>
      <p:sp>
        <p:nvSpPr>
          <p:cNvPr id="26" name="Text 23"/>
          <p:cNvSpPr txBox="1"/>
          <p:nvPr/>
        </p:nvSpPr>
        <p:spPr>
          <a:xfrm>
            <a:off x="6766560" y="3639312"/>
            <a:ext cx="292608" cy="292608"/>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27" name="Text 24"/>
          <p:cNvSpPr txBox="1"/>
          <p:nvPr/>
        </p:nvSpPr>
        <p:spPr>
          <a:xfrm>
            <a:off x="7150608" y="3611880"/>
            <a:ext cx="1645920" cy="274320"/>
          </a:xfrm>
          <a:prstGeom prst="rect">
            <a:avLst/>
          </a:prstGeom>
          <a:noFill/>
          <a:ln/>
        </p:spPr>
        <p:txBody>
          <a:bodyPr wrap="square" lIns="0" tIns="0" rIns="0" bIns="0" rtlCol="0" anchor="t"/>
          <a:lstStyle/>
          <a:p>
            <a:pPr indent="0" marL="0">
              <a:buNone/>
            </a:pPr>
            <a:r>
              <a:rPr lang="en-US" sz="1300" b="1" dirty="0">
                <a:solidFill>
                  <a:schemeClr val="tx1"/>
                </a:solidFill>
              </a:rPr>
              <a:t>Decision timeline</a:t>
            </a:r>
            <a:endParaRPr lang="en-US" sz="1300" dirty="0"/>
          </a:p>
        </p:txBody>
      </p:sp>
      <p:sp>
        <p:nvSpPr>
          <p:cNvPr id="28" name="Text 25"/>
          <p:cNvSpPr txBox="1"/>
          <p:nvPr/>
        </p:nvSpPr>
        <p:spPr>
          <a:xfrm>
            <a:off x="7150608" y="3904488"/>
            <a:ext cx="1645920" cy="457200"/>
          </a:xfrm>
          <a:prstGeom prst="rect">
            <a:avLst/>
          </a:prstGeom>
          <a:noFill/>
          <a:ln/>
        </p:spPr>
        <p:txBody>
          <a:bodyPr wrap="square" lIns="0" tIns="0" rIns="0" bIns="0" rtlCol="0" anchor="t"/>
          <a:lstStyle/>
          <a:p>
            <a:pPr indent="0" marL="0">
              <a:buNone/>
            </a:pPr>
            <a:r>
              <a:rPr lang="en-US" sz="1100" dirty="0">
                <a:solidFill>
                  <a:schemeClr val="accent5"/>
                </a:solidFill>
              </a:rPr>
              <a:t>every action logged with a reason</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Live: the judge demo run</a:t>
            </a:r>
            <a:endParaRPr lang="en-US" sz="3000" dirty="0"/>
          </a:p>
        </p:txBody>
      </p:sp>
      <p:pic>
        <p:nvPicPr>
          <p:cNvPr id="3" name="Live mission screenshot" descr="Screenshot of the live mission: 3D crossing corridor with a person and a cart, and the judge demo checklist from pedestrian detected to goal reached">    </p:cNvPr>
          <p:cNvPicPr>
            <a:picLocks noChangeAspect="1"/>
          </p:cNvPicPr>
          <p:nvPr/>
        </p:nvPicPr>
        <p:blipFill>
          <a:blip r:embed="rId1"/>
          <a:stretch>
            <a:fillRect/>
          </a:stretch>
        </p:blipFill>
        <p:spPr>
          <a:xfrm>
            <a:off x="457200" y="1051560"/>
            <a:ext cx="8229600" cy="3090672"/>
          </a:xfrm>
          <a:prstGeom prst="rect">
            <a:avLst/>
          </a:prstGeom>
        </p:spPr>
      </p:pic>
      <p:sp>
        <p:nvSpPr>
          <p:cNvPr id="4" name="Screenshot frame"/>
          <p:cNvSpPr/>
          <p:nvPr/>
        </p:nvSpPr>
        <p:spPr>
          <a:xfrm>
            <a:off x="457200" y="1051560"/>
            <a:ext cx="8229600" cy="3090672"/>
          </a:xfrm>
          <a:prstGeom prst="rect">
            <a:avLst/>
          </a:prstGeom>
          <a:ln w="12700">
            <a:solidFill>
              <a:srgbClr val="DFE4E9"/>
            </a:solidFill>
            <a:prstDash val="solid"/>
          </a:ln>
        </p:spPr>
      </p:sp>
      <p:sp>
        <p:nvSpPr>
          <p:cNvPr id="5" name="Person detected"/>
          <p:cNvSpPr/>
          <p:nvPr/>
        </p:nvSpPr>
        <p:spPr>
          <a:xfrm>
            <a:off x="457200" y="4279392"/>
            <a:ext cx="1481328" cy="365760"/>
          </a:xfrm>
          <a:prstGeom prst="roundRect">
            <a:avLst>
              <a:gd name="adj" fmla="val 50000"/>
            </a:avLst>
          </a:prstGeom>
          <a:solidFill>
            <a:srgbClr val="E2F2F0"/>
          </a:solidFill>
          <a:ln/>
        </p:spPr>
      </p:sp>
      <p:sp>
        <p:nvSpPr>
          <p:cNvPr id="6" name="Text 3"/>
          <p:cNvSpPr txBox="1"/>
          <p:nvPr/>
        </p:nvSpPr>
        <p:spPr>
          <a:xfrm>
            <a:off x="457200" y="4279392"/>
            <a:ext cx="1481328" cy="365760"/>
          </a:xfrm>
          <a:prstGeom prst="rect">
            <a:avLst/>
          </a:prstGeom>
          <a:noFill/>
          <a:ln/>
        </p:spPr>
        <p:txBody>
          <a:bodyPr wrap="square" lIns="0" tIns="0" rIns="0" bIns="0" rtlCol="0" anchor="ctr"/>
          <a:lstStyle/>
          <a:p>
            <a:pPr algn="ctr" indent="0" marL="0">
              <a:buNone/>
            </a:pPr>
            <a:r>
              <a:rPr lang="en-US" sz="1200" b="1" dirty="0">
                <a:solidFill>
                  <a:schemeClr val="accent1"/>
                </a:solidFill>
              </a:rPr>
              <a:t>Person detected</a:t>
            </a:r>
            <a:endParaRPr lang="en-US" sz="1200" dirty="0"/>
          </a:p>
        </p:txBody>
      </p:sp>
      <p:sp>
        <p:nvSpPr>
          <p:cNvPr id="7" name="Shape 4"/>
          <p:cNvSpPr/>
          <p:nvPr/>
        </p:nvSpPr>
        <p:spPr>
          <a:xfrm>
            <a:off x="1965960" y="4462272"/>
            <a:ext cx="128016" cy="0"/>
          </a:xfrm>
          <a:prstGeom prst="line">
            <a:avLst/>
          </a:prstGeom>
          <a:noFill/>
          <a:ln w="19050">
            <a:solidFill>
              <a:srgbClr val="4B5866"/>
            </a:solidFill>
            <a:prstDash val="solid"/>
            <a:tailEnd type="triangle"/>
          </a:ln>
        </p:spPr>
      </p:sp>
      <p:sp>
        <p:nvSpPr>
          <p:cNvPr id="8" name="Path predicted"/>
          <p:cNvSpPr/>
          <p:nvPr/>
        </p:nvSpPr>
        <p:spPr>
          <a:xfrm>
            <a:off x="2144268" y="4279392"/>
            <a:ext cx="1481328" cy="365760"/>
          </a:xfrm>
          <a:prstGeom prst="roundRect">
            <a:avLst>
              <a:gd name="adj" fmla="val 50000"/>
            </a:avLst>
          </a:prstGeom>
          <a:solidFill>
            <a:srgbClr val="E2F2F0"/>
          </a:solidFill>
          <a:ln/>
        </p:spPr>
      </p:sp>
      <p:sp>
        <p:nvSpPr>
          <p:cNvPr id="9" name="Text 6"/>
          <p:cNvSpPr txBox="1"/>
          <p:nvPr/>
        </p:nvSpPr>
        <p:spPr>
          <a:xfrm>
            <a:off x="2144268" y="4279392"/>
            <a:ext cx="1481328" cy="365760"/>
          </a:xfrm>
          <a:prstGeom prst="rect">
            <a:avLst/>
          </a:prstGeom>
          <a:noFill/>
          <a:ln/>
        </p:spPr>
        <p:txBody>
          <a:bodyPr wrap="square" lIns="0" tIns="0" rIns="0" bIns="0" rtlCol="0" anchor="ctr"/>
          <a:lstStyle/>
          <a:p>
            <a:pPr algn="ctr" indent="0" marL="0">
              <a:buNone/>
            </a:pPr>
            <a:r>
              <a:rPr lang="en-US" sz="1200" b="1" dirty="0">
                <a:solidFill>
                  <a:schemeClr val="accent1"/>
                </a:solidFill>
              </a:rPr>
              <a:t>Path predicted</a:t>
            </a:r>
            <a:endParaRPr lang="en-US" sz="1200" dirty="0"/>
          </a:p>
        </p:txBody>
      </p:sp>
      <p:sp>
        <p:nvSpPr>
          <p:cNvPr id="10" name="Shape 7"/>
          <p:cNvSpPr/>
          <p:nvPr/>
        </p:nvSpPr>
        <p:spPr>
          <a:xfrm>
            <a:off x="3653028" y="4462272"/>
            <a:ext cx="128016" cy="0"/>
          </a:xfrm>
          <a:prstGeom prst="line">
            <a:avLst/>
          </a:prstGeom>
          <a:noFill/>
          <a:ln w="19050">
            <a:solidFill>
              <a:srgbClr val="4B5866"/>
            </a:solidFill>
            <a:prstDash val="solid"/>
            <a:tailEnd type="triangle"/>
          </a:ln>
        </p:spPr>
      </p:sp>
      <p:sp>
        <p:nvSpPr>
          <p:cNvPr id="11" name="Slows to 50%"/>
          <p:cNvSpPr/>
          <p:nvPr/>
        </p:nvSpPr>
        <p:spPr>
          <a:xfrm>
            <a:off x="3831336" y="4279392"/>
            <a:ext cx="1481328" cy="365760"/>
          </a:xfrm>
          <a:prstGeom prst="roundRect">
            <a:avLst>
              <a:gd name="adj" fmla="val 50000"/>
            </a:avLst>
          </a:prstGeom>
          <a:solidFill>
            <a:srgbClr val="E2F2F0"/>
          </a:solidFill>
          <a:ln/>
        </p:spPr>
      </p:sp>
      <p:sp>
        <p:nvSpPr>
          <p:cNvPr id="12" name="Text 9"/>
          <p:cNvSpPr txBox="1"/>
          <p:nvPr/>
        </p:nvSpPr>
        <p:spPr>
          <a:xfrm>
            <a:off x="3831336" y="4279392"/>
            <a:ext cx="1481328" cy="365760"/>
          </a:xfrm>
          <a:prstGeom prst="rect">
            <a:avLst/>
          </a:prstGeom>
          <a:noFill/>
          <a:ln/>
        </p:spPr>
        <p:txBody>
          <a:bodyPr wrap="square" lIns="0" tIns="0" rIns="0" bIns="0" rtlCol="0" anchor="ctr"/>
          <a:lstStyle/>
          <a:p>
            <a:pPr algn="ctr" indent="0" marL="0">
              <a:buNone/>
            </a:pPr>
            <a:r>
              <a:rPr lang="en-US" sz="1200" b="1" dirty="0">
                <a:solidFill>
                  <a:schemeClr val="accent1"/>
                </a:solidFill>
              </a:rPr>
              <a:t>Slows to 50%</a:t>
            </a:r>
            <a:endParaRPr lang="en-US" sz="1200" dirty="0"/>
          </a:p>
        </p:txBody>
      </p:sp>
      <p:sp>
        <p:nvSpPr>
          <p:cNvPr id="13" name="Shape 10"/>
          <p:cNvSpPr/>
          <p:nvPr/>
        </p:nvSpPr>
        <p:spPr>
          <a:xfrm>
            <a:off x="5340096" y="4462272"/>
            <a:ext cx="128016" cy="0"/>
          </a:xfrm>
          <a:prstGeom prst="line">
            <a:avLst/>
          </a:prstGeom>
          <a:noFill/>
          <a:ln w="19050">
            <a:solidFill>
              <a:srgbClr val="4B5866"/>
            </a:solidFill>
            <a:prstDash val="solid"/>
            <a:tailEnd type="triangle"/>
          </a:ln>
        </p:spPr>
      </p:sp>
      <p:sp>
        <p:nvSpPr>
          <p:cNvPr id="14" name="Re-routes"/>
          <p:cNvSpPr/>
          <p:nvPr/>
        </p:nvSpPr>
        <p:spPr>
          <a:xfrm>
            <a:off x="5518404" y="4279392"/>
            <a:ext cx="1481328" cy="365760"/>
          </a:xfrm>
          <a:prstGeom prst="roundRect">
            <a:avLst>
              <a:gd name="adj" fmla="val 50000"/>
            </a:avLst>
          </a:prstGeom>
          <a:solidFill>
            <a:srgbClr val="E2F2F0"/>
          </a:solidFill>
          <a:ln/>
        </p:spPr>
      </p:sp>
      <p:sp>
        <p:nvSpPr>
          <p:cNvPr id="15" name="Text 12"/>
          <p:cNvSpPr txBox="1"/>
          <p:nvPr/>
        </p:nvSpPr>
        <p:spPr>
          <a:xfrm>
            <a:off x="5518404" y="4279392"/>
            <a:ext cx="1481328" cy="365760"/>
          </a:xfrm>
          <a:prstGeom prst="rect">
            <a:avLst/>
          </a:prstGeom>
          <a:noFill/>
          <a:ln/>
        </p:spPr>
        <p:txBody>
          <a:bodyPr wrap="square" lIns="0" tIns="0" rIns="0" bIns="0" rtlCol="0" anchor="ctr"/>
          <a:lstStyle/>
          <a:p>
            <a:pPr algn="ctr" indent="0" marL="0">
              <a:buNone/>
            </a:pPr>
            <a:r>
              <a:rPr lang="en-US" sz="1200" b="1" dirty="0">
                <a:solidFill>
                  <a:schemeClr val="accent1"/>
                </a:solidFill>
              </a:rPr>
              <a:t>Re-routes</a:t>
            </a:r>
            <a:endParaRPr lang="en-US" sz="1200" dirty="0"/>
          </a:p>
        </p:txBody>
      </p:sp>
      <p:sp>
        <p:nvSpPr>
          <p:cNvPr id="16" name="Shape 13"/>
          <p:cNvSpPr/>
          <p:nvPr/>
        </p:nvSpPr>
        <p:spPr>
          <a:xfrm>
            <a:off x="7027164" y="4462272"/>
            <a:ext cx="128016" cy="0"/>
          </a:xfrm>
          <a:prstGeom prst="line">
            <a:avLst/>
          </a:prstGeom>
          <a:noFill/>
          <a:ln w="19050">
            <a:solidFill>
              <a:srgbClr val="4B5866"/>
            </a:solidFill>
            <a:prstDash val="solid"/>
            <a:tailEnd type="triangle"/>
          </a:ln>
        </p:spPr>
      </p:sp>
      <p:sp>
        <p:nvSpPr>
          <p:cNvPr id="17" name="Goal, 0 collisions"/>
          <p:cNvSpPr/>
          <p:nvPr/>
        </p:nvSpPr>
        <p:spPr>
          <a:xfrm>
            <a:off x="7205472" y="4279392"/>
            <a:ext cx="1481328" cy="365760"/>
          </a:xfrm>
          <a:prstGeom prst="roundRect">
            <a:avLst>
              <a:gd name="adj" fmla="val 50000"/>
            </a:avLst>
          </a:prstGeom>
          <a:solidFill>
            <a:srgbClr val="0B7D73"/>
          </a:solidFill>
          <a:ln/>
        </p:spPr>
      </p:sp>
      <p:sp>
        <p:nvSpPr>
          <p:cNvPr id="18" name="Text 15"/>
          <p:cNvSpPr txBox="1"/>
          <p:nvPr/>
        </p:nvSpPr>
        <p:spPr>
          <a:xfrm>
            <a:off x="7205472" y="4279392"/>
            <a:ext cx="1481328" cy="365760"/>
          </a:xfrm>
          <a:prstGeom prst="rect">
            <a:avLst/>
          </a:prstGeom>
          <a:noFill/>
          <a:ln/>
        </p:spPr>
        <p:txBody>
          <a:bodyPr wrap="square" lIns="0" tIns="0" rIns="0" bIns="0" rtlCol="0" anchor="ctr"/>
          <a:lstStyle/>
          <a:p>
            <a:pPr algn="ctr" indent="0" marL="0">
              <a:buNone/>
            </a:pPr>
            <a:r>
              <a:rPr lang="en-US" sz="1200" b="1" dirty="0">
                <a:solidFill>
                  <a:schemeClr val="bg1"/>
                </a:solidFill>
              </a:rPr>
              <a:t>Goal, 0 collisions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Measured: predictive vs reactive</a:t>
            </a:r>
            <a:endParaRPr lang="en-US" sz="3000" dirty="0"/>
          </a:p>
        </p:txBody>
      </p:sp>
      <p:graphicFrame>
        <p:nvGraphicFramePr>
          <p:cNvPr id="3" name="Chart 0" descr=""/>
          <p:cNvGraphicFramePr/>
          <p:nvPr/>
        </p:nvGraphicFramePr>
        <p:xfrm>
          <a:off x="457200" y="1097280"/>
          <a:ext cx="4754880" cy="3200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14300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a:t>
            </a:r>
            <a:endParaRPr lang="en-US" sz="3200" dirty="0"/>
          </a:p>
        </p:txBody>
      </p:sp>
      <p:sp>
        <p:nvSpPr>
          <p:cNvPr id="5" name="Text 2"/>
          <p:cNvSpPr txBox="1"/>
          <p:nvPr/>
        </p:nvSpPr>
        <p:spPr>
          <a:xfrm>
            <a:off x="7086600" y="1216152"/>
            <a:ext cx="1600200" cy="292608"/>
          </a:xfrm>
          <a:prstGeom prst="rect">
            <a:avLst/>
          </a:prstGeom>
          <a:noFill/>
          <a:ln/>
        </p:spPr>
        <p:txBody>
          <a:bodyPr wrap="square" lIns="0" tIns="0" rIns="0" bIns="0" rtlCol="0" anchor="t"/>
          <a:lstStyle/>
          <a:p>
            <a:pPr indent="0" marL="0">
              <a:buNone/>
            </a:pPr>
            <a:r>
              <a:rPr lang="en-US" sz="1300" b="1" dirty="0">
                <a:solidFill>
                  <a:schemeClr val="tx1"/>
                </a:solidFill>
              </a:rPr>
              <a:t>collisions in 9 runs</a:t>
            </a:r>
            <a:endParaRPr lang="en-US" sz="1300" dirty="0"/>
          </a:p>
        </p:txBody>
      </p:sp>
      <p:sp>
        <p:nvSpPr>
          <p:cNvPr id="6" name="Text 3"/>
          <p:cNvSpPr txBox="1"/>
          <p:nvPr/>
        </p:nvSpPr>
        <p:spPr>
          <a:xfrm>
            <a:off x="7086600" y="150876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2</a:t>
            </a:r>
            <a:endParaRPr lang="en-US" sz="1100" dirty="0"/>
          </a:p>
        </p:txBody>
      </p:sp>
      <p:sp>
        <p:nvSpPr>
          <p:cNvPr id="7" name="Text 4"/>
          <p:cNvSpPr txBox="1"/>
          <p:nvPr/>
        </p:nvSpPr>
        <p:spPr>
          <a:xfrm>
            <a:off x="5577840" y="2194560"/>
            <a:ext cx="1463040" cy="68580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0.60 m</a:t>
            </a:r>
            <a:endParaRPr lang="en-US" sz="3200" dirty="0"/>
          </a:p>
        </p:txBody>
      </p:sp>
      <p:sp>
        <p:nvSpPr>
          <p:cNvPr id="8" name="Text 5"/>
          <p:cNvSpPr txBox="1"/>
          <p:nvPr/>
        </p:nvSpPr>
        <p:spPr>
          <a:xfrm>
            <a:off x="7086600" y="2267712"/>
            <a:ext cx="1600200" cy="292608"/>
          </a:xfrm>
          <a:prstGeom prst="rect">
            <a:avLst/>
          </a:prstGeom>
          <a:noFill/>
          <a:ln/>
        </p:spPr>
        <p:txBody>
          <a:bodyPr wrap="square" lIns="0" tIns="0" rIns="0" bIns="0" rtlCol="0" anchor="t"/>
          <a:lstStyle/>
          <a:p>
            <a:pPr indent="0" marL="0">
              <a:buNone/>
            </a:pPr>
            <a:r>
              <a:rPr lang="en-US" sz="1300" b="1" dirty="0">
                <a:solidFill>
                  <a:schemeClr val="tx1"/>
                </a:solidFill>
              </a:rPr>
              <a:t>worst closest approach</a:t>
            </a:r>
            <a:endParaRPr lang="en-US" sz="1300" dirty="0"/>
          </a:p>
        </p:txBody>
      </p:sp>
      <p:sp>
        <p:nvSpPr>
          <p:cNvPr id="9" name="Text 6"/>
          <p:cNvSpPr txBox="1"/>
          <p:nvPr/>
        </p:nvSpPr>
        <p:spPr>
          <a:xfrm>
            <a:off x="7086600" y="256032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reactive: −0.03 m (contact)</a:t>
            </a:r>
            <a:endParaRPr lang="en-US" sz="1100" dirty="0"/>
          </a:p>
        </p:txBody>
      </p:sp>
      <p:sp>
        <p:nvSpPr>
          <p:cNvPr id="10" name="Text 7"/>
          <p:cNvSpPr txBox="1"/>
          <p:nvPr/>
        </p:nvSpPr>
        <p:spPr>
          <a:xfrm>
            <a:off x="5577840" y="3246120"/>
            <a:ext cx="1463040" cy="68580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+1.5 s</a:t>
            </a:r>
            <a:endParaRPr lang="en-US" sz="3200" dirty="0"/>
          </a:p>
        </p:txBody>
      </p:sp>
      <p:sp>
        <p:nvSpPr>
          <p:cNvPr id="11" name="Text 8"/>
          <p:cNvSpPr txBox="1"/>
          <p:nvPr/>
        </p:nvSpPr>
        <p:spPr>
          <a:xfrm>
            <a:off x="7086600" y="33192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per mission</a:t>
            </a:r>
            <a:endParaRPr lang="en-US" sz="1300" dirty="0"/>
          </a:p>
        </p:txBody>
      </p:sp>
      <p:sp>
        <p:nvSpPr>
          <p:cNvPr id="12" name="Text 9"/>
          <p:cNvSpPr txBox="1"/>
          <p:nvPr/>
        </p:nvSpPr>
        <p:spPr>
          <a:xfrm>
            <a:off x="7086600" y="36118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the price of safety</a:t>
            </a:r>
            <a:endParaRPr lang="en-US" sz="1100" dirty="0"/>
          </a:p>
        </p:txBody>
      </p:sp>
      <p:sp>
        <p:nvSpPr>
          <p:cNvPr id="13" name="Text 10"/>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000" i="1" dirty="0">
                <a:solidFill>
                  <a:schemeClr val="accent5"/>
                </a:solidFill>
              </a:rPr>
              <a:t>Simulated crossing corridor: person at 0.6–1.2 m/s who does not give way, turning cart; fixed seeds, reproduced exactly on 23 Oct 2026. Not a statistical safety claim.</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Hardware: what the robot is built from</a:t>
            </a:r>
            <a:endParaRPr lang="en-US" sz="3000" dirty="0"/>
          </a:p>
        </p:txBody>
      </p:sp>
      <p:sp>
        <p:nvSpPr>
          <p:cNvPr id="3" name="Laptop card"/>
          <p:cNvSpPr/>
          <p:nvPr/>
        </p:nvSpPr>
        <p:spPr>
          <a:xfrm>
            <a:off x="457200" y="1097280"/>
            <a:ext cx="1883664" cy="1572768"/>
          </a:xfrm>
          <a:prstGeom prst="roundRect">
            <a:avLst>
              <a:gd name="adj" fmla="val 4651"/>
            </a:avLst>
          </a:prstGeom>
          <a:solidFill>
            <a:srgbClr val="F3F5F7"/>
          </a:solidFill>
          <a:ln w="9525">
            <a:solidFill>
              <a:srgbClr val="DFE4E9"/>
            </a:solidFill>
            <a:prstDash val="solid"/>
          </a:ln>
        </p:spPr>
      </p:sp>
      <p:sp>
        <p:nvSpPr>
          <p:cNvPr id="4" name="Laptop circle"/>
          <p:cNvSpPr/>
          <p:nvPr/>
        </p:nvSpPr>
        <p:spPr>
          <a:xfrm>
            <a:off x="594360" y="1234440"/>
            <a:ext cx="411480" cy="411480"/>
          </a:xfrm>
          <a:prstGeom prst="ellipse">
            <a:avLst/>
          </a:prstGeom>
          <a:solidFill>
            <a:srgbClr val="0B7D73"/>
          </a:solidFill>
          <a:ln/>
        </p:spPr>
      </p:sp>
      <p:pic>
        <p:nvPicPr>
          <p:cNvPr id="5" name="Laptop icon" descr="Laptop">    </p:cNvPr>
          <p:cNvPicPr>
            <a:picLocks noChangeAspect="1"/>
          </p:cNvPicPr>
          <p:nvPr/>
        </p:nvPicPr>
        <p:blipFill>
          <a:blip r:embed="rId1"/>
          <a:stretch>
            <a:fillRect/>
          </a:stretch>
        </p:blipFill>
        <p:spPr>
          <a:xfrm>
            <a:off x="693115" y="1333195"/>
            <a:ext cx="213970" cy="213970"/>
          </a:xfrm>
          <a:prstGeom prst="rect">
            <a:avLst/>
          </a:prstGeom>
        </p:spPr>
      </p:pic>
      <p:sp>
        <p:nvSpPr>
          <p:cNvPr id="6" name="Text 3"/>
          <p:cNvSpPr txBox="1"/>
          <p:nvPr/>
        </p:nvSpPr>
        <p:spPr>
          <a:xfrm>
            <a:off x="1097280"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₹0</a:t>
            </a:r>
            <a:endParaRPr lang="en-US" sz="1300" dirty="0"/>
          </a:p>
        </p:txBody>
      </p:sp>
      <p:sp>
        <p:nvSpPr>
          <p:cNvPr id="7" name="Text 4"/>
          <p:cNvSpPr txBox="1"/>
          <p:nvPr/>
        </p:nvSpPr>
        <p:spPr>
          <a:xfrm>
            <a:off x="594360"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Laptop</a:t>
            </a:r>
            <a:endParaRPr lang="en-US" sz="1300" dirty="0"/>
          </a:p>
        </p:txBody>
      </p:sp>
      <p:sp>
        <p:nvSpPr>
          <p:cNvPr id="8" name="Text 5"/>
          <p:cNvSpPr txBox="1"/>
          <p:nvPr/>
        </p:nvSpPr>
        <p:spPr>
          <a:xfrm>
            <a:off x="594360"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Already owned; rides on the robot, runs the backend</a:t>
            </a:r>
            <a:endParaRPr lang="en-US" sz="1100" dirty="0"/>
          </a:p>
        </p:txBody>
      </p:sp>
      <p:sp>
        <p:nvSpPr>
          <p:cNvPr id="9" name="USB webcam card"/>
          <p:cNvSpPr/>
          <p:nvPr/>
        </p:nvSpPr>
        <p:spPr>
          <a:xfrm>
            <a:off x="2569464" y="1097280"/>
            <a:ext cx="1883664" cy="1572768"/>
          </a:xfrm>
          <a:prstGeom prst="roundRect">
            <a:avLst>
              <a:gd name="adj" fmla="val 4651"/>
            </a:avLst>
          </a:prstGeom>
          <a:solidFill>
            <a:srgbClr val="F3F5F7"/>
          </a:solidFill>
          <a:ln w="9525">
            <a:solidFill>
              <a:srgbClr val="DFE4E9"/>
            </a:solidFill>
            <a:prstDash val="solid"/>
          </a:ln>
        </p:spPr>
      </p:sp>
      <p:sp>
        <p:nvSpPr>
          <p:cNvPr id="10" name="USB webcam circle"/>
          <p:cNvSpPr/>
          <p:nvPr/>
        </p:nvSpPr>
        <p:spPr>
          <a:xfrm>
            <a:off x="2706624" y="1234440"/>
            <a:ext cx="411480" cy="411480"/>
          </a:xfrm>
          <a:prstGeom prst="ellipse">
            <a:avLst/>
          </a:prstGeom>
          <a:solidFill>
            <a:srgbClr val="0B7D73"/>
          </a:solidFill>
          <a:ln/>
        </p:spPr>
      </p:sp>
      <p:pic>
        <p:nvPicPr>
          <p:cNvPr id="11" name="USB webcam icon" descr="USB webcam">    </p:cNvPr>
          <p:cNvPicPr>
            <a:picLocks noChangeAspect="1"/>
          </p:cNvPicPr>
          <p:nvPr/>
        </p:nvPicPr>
        <p:blipFill>
          <a:blip r:embed="rId2"/>
          <a:stretch>
            <a:fillRect/>
          </a:stretch>
        </p:blipFill>
        <p:spPr>
          <a:xfrm>
            <a:off x="2805379" y="1333195"/>
            <a:ext cx="213970" cy="213970"/>
          </a:xfrm>
          <a:prstGeom prst="rect">
            <a:avLst/>
          </a:prstGeom>
        </p:spPr>
      </p:pic>
      <p:sp>
        <p:nvSpPr>
          <p:cNvPr id="12" name="Text 8"/>
          <p:cNvSpPr txBox="1"/>
          <p:nvPr/>
        </p:nvSpPr>
        <p:spPr>
          <a:xfrm>
            <a:off x="3209544"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₹1,600</a:t>
            </a:r>
            <a:endParaRPr lang="en-US" sz="1300" dirty="0"/>
          </a:p>
        </p:txBody>
      </p:sp>
      <p:sp>
        <p:nvSpPr>
          <p:cNvPr id="13" name="Text 9"/>
          <p:cNvSpPr txBox="1"/>
          <p:nvPr/>
        </p:nvSpPr>
        <p:spPr>
          <a:xfrm>
            <a:off x="2706624"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USB webcam</a:t>
            </a:r>
            <a:endParaRPr lang="en-US" sz="1300" dirty="0"/>
          </a:p>
        </p:txBody>
      </p:sp>
      <p:sp>
        <p:nvSpPr>
          <p:cNvPr id="14" name="Text 10"/>
          <p:cNvSpPr txBox="1"/>
          <p:nvPr/>
        </p:nvSpPr>
        <p:spPr>
          <a:xfrm>
            <a:off x="2706624"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Logitech C270; YOLOv8 runs on the laptop</a:t>
            </a:r>
            <a:endParaRPr lang="en-US" sz="1100" dirty="0"/>
          </a:p>
        </p:txBody>
      </p:sp>
      <p:sp>
        <p:nvSpPr>
          <p:cNvPr id="15" name="RPLIDAR A1M8 card"/>
          <p:cNvSpPr/>
          <p:nvPr/>
        </p:nvSpPr>
        <p:spPr>
          <a:xfrm>
            <a:off x="4681728" y="1097280"/>
            <a:ext cx="1883664" cy="1572768"/>
          </a:xfrm>
          <a:prstGeom prst="roundRect">
            <a:avLst>
              <a:gd name="adj" fmla="val 4651"/>
            </a:avLst>
          </a:prstGeom>
          <a:solidFill>
            <a:srgbClr val="F3F5F7"/>
          </a:solidFill>
          <a:ln w="9525">
            <a:solidFill>
              <a:srgbClr val="DFE4E9"/>
            </a:solidFill>
            <a:prstDash val="solid"/>
          </a:ln>
        </p:spPr>
      </p:sp>
      <p:sp>
        <p:nvSpPr>
          <p:cNvPr id="16" name="RPLIDAR A1M8 circle"/>
          <p:cNvSpPr/>
          <p:nvPr/>
        </p:nvSpPr>
        <p:spPr>
          <a:xfrm>
            <a:off x="4818888" y="1234440"/>
            <a:ext cx="411480" cy="411480"/>
          </a:xfrm>
          <a:prstGeom prst="ellipse">
            <a:avLst/>
          </a:prstGeom>
          <a:solidFill>
            <a:srgbClr val="0B7D73"/>
          </a:solidFill>
          <a:ln/>
        </p:spPr>
      </p:sp>
      <p:pic>
        <p:nvPicPr>
          <p:cNvPr id="17" name="RPLIDAR A1M8 icon" descr="RPLIDAR A1M8">    </p:cNvPr>
          <p:cNvPicPr>
            <a:picLocks noChangeAspect="1"/>
          </p:cNvPicPr>
          <p:nvPr/>
        </p:nvPicPr>
        <p:blipFill>
          <a:blip r:embed="rId3"/>
          <a:stretch>
            <a:fillRect/>
          </a:stretch>
        </p:blipFill>
        <p:spPr>
          <a:xfrm>
            <a:off x="4917643" y="1333195"/>
            <a:ext cx="213970" cy="213970"/>
          </a:xfrm>
          <a:prstGeom prst="rect">
            <a:avLst/>
          </a:prstGeom>
        </p:spPr>
      </p:pic>
      <p:sp>
        <p:nvSpPr>
          <p:cNvPr id="18" name="Text 13"/>
          <p:cNvSpPr txBox="1"/>
          <p:nvPr/>
        </p:nvSpPr>
        <p:spPr>
          <a:xfrm>
            <a:off x="5321808"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₹8,500</a:t>
            </a:r>
            <a:endParaRPr lang="en-US" sz="1300" dirty="0"/>
          </a:p>
        </p:txBody>
      </p:sp>
      <p:sp>
        <p:nvSpPr>
          <p:cNvPr id="19" name="Text 14"/>
          <p:cNvSpPr txBox="1"/>
          <p:nvPr/>
        </p:nvSpPr>
        <p:spPr>
          <a:xfrm>
            <a:off x="4818888"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RPLIDAR A1M8</a:t>
            </a:r>
            <a:endParaRPr lang="en-US" sz="1300" dirty="0"/>
          </a:p>
        </p:txBody>
      </p:sp>
      <p:sp>
        <p:nvSpPr>
          <p:cNvPr id="20" name="Text 15"/>
          <p:cNvSpPr txBox="1"/>
          <p:nvPr/>
        </p:nvSpPr>
        <p:spPr>
          <a:xfrm>
            <a:off x="4818888"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360° LiDAR, 12 m range, up to 10 Hz</a:t>
            </a:r>
            <a:endParaRPr lang="en-US" sz="1100" dirty="0"/>
          </a:p>
        </p:txBody>
      </p:sp>
      <p:sp>
        <p:nvSpPr>
          <p:cNvPr id="21" name="Arduino Mega 2560 card"/>
          <p:cNvSpPr/>
          <p:nvPr/>
        </p:nvSpPr>
        <p:spPr>
          <a:xfrm>
            <a:off x="6793992" y="1097280"/>
            <a:ext cx="1883664" cy="1572768"/>
          </a:xfrm>
          <a:prstGeom prst="roundRect">
            <a:avLst>
              <a:gd name="adj" fmla="val 4651"/>
            </a:avLst>
          </a:prstGeom>
          <a:solidFill>
            <a:srgbClr val="F3F5F7"/>
          </a:solidFill>
          <a:ln w="9525">
            <a:solidFill>
              <a:srgbClr val="DFE4E9"/>
            </a:solidFill>
            <a:prstDash val="solid"/>
          </a:ln>
        </p:spPr>
      </p:sp>
      <p:sp>
        <p:nvSpPr>
          <p:cNvPr id="22" name="Arduino Mega 2560 circle"/>
          <p:cNvSpPr/>
          <p:nvPr/>
        </p:nvSpPr>
        <p:spPr>
          <a:xfrm>
            <a:off x="6931152" y="1234440"/>
            <a:ext cx="411480" cy="411480"/>
          </a:xfrm>
          <a:prstGeom prst="ellipse">
            <a:avLst/>
          </a:prstGeom>
          <a:solidFill>
            <a:srgbClr val="0B7D73"/>
          </a:solidFill>
          <a:ln/>
        </p:spPr>
      </p:sp>
      <p:pic>
        <p:nvPicPr>
          <p:cNvPr id="23" name="Arduino Mega 2560 icon" descr="Arduino Mega 2560">    </p:cNvPr>
          <p:cNvPicPr>
            <a:picLocks noChangeAspect="1"/>
          </p:cNvPicPr>
          <p:nvPr/>
        </p:nvPicPr>
        <p:blipFill>
          <a:blip r:embed="rId4"/>
          <a:stretch>
            <a:fillRect/>
          </a:stretch>
        </p:blipFill>
        <p:spPr>
          <a:xfrm>
            <a:off x="7029907" y="1333195"/>
            <a:ext cx="213970" cy="213970"/>
          </a:xfrm>
          <a:prstGeom prst="rect">
            <a:avLst/>
          </a:prstGeom>
        </p:spPr>
      </p:pic>
      <p:sp>
        <p:nvSpPr>
          <p:cNvPr id="24" name="Text 18"/>
          <p:cNvSpPr txBox="1"/>
          <p:nvPr/>
        </p:nvSpPr>
        <p:spPr>
          <a:xfrm>
            <a:off x="7434072" y="1280160"/>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₹900</a:t>
            </a:r>
            <a:endParaRPr lang="en-US" sz="1300" dirty="0"/>
          </a:p>
        </p:txBody>
      </p:sp>
      <p:sp>
        <p:nvSpPr>
          <p:cNvPr id="25" name="Text 19"/>
          <p:cNvSpPr txBox="1"/>
          <p:nvPr/>
        </p:nvSpPr>
        <p:spPr>
          <a:xfrm>
            <a:off x="6931152" y="1737360"/>
            <a:ext cx="1609344" cy="292608"/>
          </a:xfrm>
          <a:prstGeom prst="rect">
            <a:avLst/>
          </a:prstGeom>
          <a:noFill/>
          <a:ln/>
        </p:spPr>
        <p:txBody>
          <a:bodyPr wrap="square" lIns="0" tIns="0" rIns="0" bIns="0" rtlCol="0" anchor="t"/>
          <a:lstStyle/>
          <a:p>
            <a:pPr indent="0" marL="0">
              <a:buNone/>
            </a:pPr>
            <a:r>
              <a:rPr lang="en-US" sz="1300" b="1" dirty="0">
                <a:solidFill>
                  <a:schemeClr val="tx1"/>
                </a:solidFill>
              </a:rPr>
              <a:t>Arduino Mega 2560</a:t>
            </a:r>
            <a:endParaRPr lang="en-US" sz="1300" dirty="0"/>
          </a:p>
        </p:txBody>
      </p:sp>
      <p:sp>
        <p:nvSpPr>
          <p:cNvPr id="26" name="Text 20"/>
          <p:cNvSpPr txBox="1"/>
          <p:nvPr/>
        </p:nvSpPr>
        <p:spPr>
          <a:xfrm>
            <a:off x="6931152" y="2048256"/>
            <a:ext cx="1609344" cy="548640"/>
          </a:xfrm>
          <a:prstGeom prst="rect">
            <a:avLst/>
          </a:prstGeom>
          <a:noFill/>
          <a:ln/>
        </p:spPr>
        <p:txBody>
          <a:bodyPr wrap="square" lIns="0" tIns="0" rIns="0" bIns="0" rtlCol="0" anchor="t"/>
          <a:lstStyle/>
          <a:p>
            <a:pPr indent="0" marL="0">
              <a:buNone/>
            </a:pPr>
            <a:r>
              <a:rPr lang="en-US" sz="1100" dirty="0">
                <a:solidFill>
                  <a:schemeClr val="accent5"/>
                </a:solidFill>
              </a:rPr>
              <a:t>Motor control and independent safety layer</a:t>
            </a:r>
            <a:endParaRPr lang="en-US" sz="1100" dirty="0"/>
          </a:p>
        </p:txBody>
      </p:sp>
      <p:sp>
        <p:nvSpPr>
          <p:cNvPr id="27" name="6 × HC-SR04 card"/>
          <p:cNvSpPr/>
          <p:nvPr/>
        </p:nvSpPr>
        <p:spPr>
          <a:xfrm>
            <a:off x="457200" y="2852928"/>
            <a:ext cx="1883664" cy="1572768"/>
          </a:xfrm>
          <a:prstGeom prst="roundRect">
            <a:avLst>
              <a:gd name="adj" fmla="val 4651"/>
            </a:avLst>
          </a:prstGeom>
          <a:solidFill>
            <a:srgbClr val="F3F5F7"/>
          </a:solidFill>
          <a:ln w="9525">
            <a:solidFill>
              <a:srgbClr val="DFE4E9"/>
            </a:solidFill>
            <a:prstDash val="solid"/>
          </a:ln>
        </p:spPr>
      </p:sp>
      <p:sp>
        <p:nvSpPr>
          <p:cNvPr id="28" name="6 × HC-SR04 circle"/>
          <p:cNvSpPr/>
          <p:nvPr/>
        </p:nvSpPr>
        <p:spPr>
          <a:xfrm>
            <a:off x="594360" y="2990088"/>
            <a:ext cx="411480" cy="411480"/>
          </a:xfrm>
          <a:prstGeom prst="ellipse">
            <a:avLst/>
          </a:prstGeom>
          <a:solidFill>
            <a:srgbClr val="0B7D73"/>
          </a:solidFill>
          <a:ln/>
        </p:spPr>
      </p:sp>
      <p:pic>
        <p:nvPicPr>
          <p:cNvPr id="29" name="6 × HC-SR04 icon" descr="6 × HC-SR04">    </p:cNvPr>
          <p:cNvPicPr>
            <a:picLocks noChangeAspect="1"/>
          </p:cNvPicPr>
          <p:nvPr/>
        </p:nvPicPr>
        <p:blipFill>
          <a:blip r:embed="rId5"/>
          <a:stretch>
            <a:fillRect/>
          </a:stretch>
        </p:blipFill>
        <p:spPr>
          <a:xfrm>
            <a:off x="693115" y="3088843"/>
            <a:ext cx="213970" cy="213970"/>
          </a:xfrm>
          <a:prstGeom prst="rect">
            <a:avLst/>
          </a:prstGeom>
        </p:spPr>
      </p:pic>
      <p:sp>
        <p:nvSpPr>
          <p:cNvPr id="30" name="Text 23"/>
          <p:cNvSpPr txBox="1"/>
          <p:nvPr/>
        </p:nvSpPr>
        <p:spPr>
          <a:xfrm>
            <a:off x="1097280"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₹420</a:t>
            </a:r>
            <a:endParaRPr lang="en-US" sz="1300" dirty="0"/>
          </a:p>
        </p:txBody>
      </p:sp>
      <p:sp>
        <p:nvSpPr>
          <p:cNvPr id="31" name="Text 24"/>
          <p:cNvSpPr txBox="1"/>
          <p:nvPr/>
        </p:nvSpPr>
        <p:spPr>
          <a:xfrm>
            <a:off x="594360"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6 × HC-SR04</a:t>
            </a:r>
            <a:endParaRPr lang="en-US" sz="1300" dirty="0"/>
          </a:p>
        </p:txBody>
      </p:sp>
      <p:sp>
        <p:nvSpPr>
          <p:cNvPr id="32" name="Text 25"/>
          <p:cNvSpPr txBox="1"/>
          <p:nvPr/>
        </p:nvSpPr>
        <p:spPr>
          <a:xfrm>
            <a:off x="594360"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Ultrasonic ring: glass and low objects</a:t>
            </a:r>
            <a:endParaRPr lang="en-US" sz="1100" dirty="0"/>
          </a:p>
        </p:txBody>
      </p:sp>
      <p:sp>
        <p:nvSpPr>
          <p:cNvPr id="33" name="MPU6050 IMU card"/>
          <p:cNvSpPr/>
          <p:nvPr/>
        </p:nvSpPr>
        <p:spPr>
          <a:xfrm>
            <a:off x="2569464" y="2852928"/>
            <a:ext cx="1883664" cy="1572768"/>
          </a:xfrm>
          <a:prstGeom prst="roundRect">
            <a:avLst>
              <a:gd name="adj" fmla="val 4651"/>
            </a:avLst>
          </a:prstGeom>
          <a:solidFill>
            <a:srgbClr val="F3F5F7"/>
          </a:solidFill>
          <a:ln w="9525">
            <a:solidFill>
              <a:srgbClr val="DFE4E9"/>
            </a:solidFill>
            <a:prstDash val="solid"/>
          </a:ln>
        </p:spPr>
      </p:sp>
      <p:sp>
        <p:nvSpPr>
          <p:cNvPr id="34" name="MPU6050 IMU circle"/>
          <p:cNvSpPr/>
          <p:nvPr/>
        </p:nvSpPr>
        <p:spPr>
          <a:xfrm>
            <a:off x="2706624" y="2990088"/>
            <a:ext cx="411480" cy="411480"/>
          </a:xfrm>
          <a:prstGeom prst="ellipse">
            <a:avLst/>
          </a:prstGeom>
          <a:solidFill>
            <a:srgbClr val="0B7D73"/>
          </a:solidFill>
          <a:ln/>
        </p:spPr>
      </p:sp>
      <p:pic>
        <p:nvPicPr>
          <p:cNvPr id="35" name="MPU6050 IMU icon" descr="MPU6050 IMU">    </p:cNvPr>
          <p:cNvPicPr>
            <a:picLocks noChangeAspect="1"/>
          </p:cNvPicPr>
          <p:nvPr/>
        </p:nvPicPr>
        <p:blipFill>
          <a:blip r:embed="rId6"/>
          <a:stretch>
            <a:fillRect/>
          </a:stretch>
        </p:blipFill>
        <p:spPr>
          <a:xfrm>
            <a:off x="2805379" y="3088843"/>
            <a:ext cx="213970" cy="213970"/>
          </a:xfrm>
          <a:prstGeom prst="rect">
            <a:avLst/>
          </a:prstGeom>
        </p:spPr>
      </p:pic>
      <p:sp>
        <p:nvSpPr>
          <p:cNvPr id="36" name="Text 28"/>
          <p:cNvSpPr txBox="1"/>
          <p:nvPr/>
        </p:nvSpPr>
        <p:spPr>
          <a:xfrm>
            <a:off x="3209544"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₹150</a:t>
            </a:r>
            <a:endParaRPr lang="en-US" sz="1300" dirty="0"/>
          </a:p>
        </p:txBody>
      </p:sp>
      <p:sp>
        <p:nvSpPr>
          <p:cNvPr id="37" name="Text 29"/>
          <p:cNvSpPr txBox="1"/>
          <p:nvPr/>
        </p:nvSpPr>
        <p:spPr>
          <a:xfrm>
            <a:off x="2706624"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MPU6050 IMU</a:t>
            </a:r>
            <a:endParaRPr lang="en-US" sz="1300" dirty="0"/>
          </a:p>
        </p:txBody>
      </p:sp>
      <p:sp>
        <p:nvSpPr>
          <p:cNvPr id="38" name="Text 30"/>
          <p:cNvSpPr txBox="1"/>
          <p:nvPr/>
        </p:nvSpPr>
        <p:spPr>
          <a:xfrm>
            <a:off x="2706624"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Gyro and accelerometer for heading</a:t>
            </a:r>
            <a:endParaRPr lang="en-US" sz="1100" dirty="0"/>
          </a:p>
        </p:txBody>
      </p:sp>
      <p:sp>
        <p:nvSpPr>
          <p:cNvPr id="39" name="Drive motors card"/>
          <p:cNvSpPr/>
          <p:nvPr/>
        </p:nvSpPr>
        <p:spPr>
          <a:xfrm>
            <a:off x="4681728" y="2852928"/>
            <a:ext cx="1883664" cy="1572768"/>
          </a:xfrm>
          <a:prstGeom prst="roundRect">
            <a:avLst>
              <a:gd name="adj" fmla="val 4651"/>
            </a:avLst>
          </a:prstGeom>
          <a:solidFill>
            <a:srgbClr val="F3F5F7"/>
          </a:solidFill>
          <a:ln w="9525">
            <a:solidFill>
              <a:srgbClr val="DFE4E9"/>
            </a:solidFill>
            <a:prstDash val="solid"/>
          </a:ln>
        </p:spPr>
      </p:sp>
      <p:sp>
        <p:nvSpPr>
          <p:cNvPr id="40" name="Drive motors circle"/>
          <p:cNvSpPr/>
          <p:nvPr/>
        </p:nvSpPr>
        <p:spPr>
          <a:xfrm>
            <a:off x="4818888" y="2990088"/>
            <a:ext cx="411480" cy="411480"/>
          </a:xfrm>
          <a:prstGeom prst="ellipse">
            <a:avLst/>
          </a:prstGeom>
          <a:solidFill>
            <a:srgbClr val="0B7D73"/>
          </a:solidFill>
          <a:ln/>
        </p:spPr>
      </p:sp>
      <p:pic>
        <p:nvPicPr>
          <p:cNvPr id="41" name="Drive motors icon" descr="Drive motors">    </p:cNvPr>
          <p:cNvPicPr>
            <a:picLocks noChangeAspect="1"/>
          </p:cNvPicPr>
          <p:nvPr/>
        </p:nvPicPr>
        <p:blipFill>
          <a:blip r:embed="rId7"/>
          <a:stretch>
            <a:fillRect/>
          </a:stretch>
        </p:blipFill>
        <p:spPr>
          <a:xfrm>
            <a:off x="4917643" y="3088843"/>
            <a:ext cx="213970" cy="213970"/>
          </a:xfrm>
          <a:prstGeom prst="rect">
            <a:avLst/>
          </a:prstGeom>
        </p:spPr>
      </p:pic>
      <p:sp>
        <p:nvSpPr>
          <p:cNvPr id="42" name="Text 33"/>
          <p:cNvSpPr txBox="1"/>
          <p:nvPr/>
        </p:nvSpPr>
        <p:spPr>
          <a:xfrm>
            <a:off x="5321808"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₹3,400</a:t>
            </a:r>
            <a:endParaRPr lang="en-US" sz="1300" dirty="0"/>
          </a:p>
        </p:txBody>
      </p:sp>
      <p:sp>
        <p:nvSpPr>
          <p:cNvPr id="43" name="Text 34"/>
          <p:cNvSpPr txBox="1"/>
          <p:nvPr/>
        </p:nvSpPr>
        <p:spPr>
          <a:xfrm>
            <a:off x="4818888"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Drive motors</a:t>
            </a:r>
            <a:endParaRPr lang="en-US" sz="1300" dirty="0"/>
          </a:p>
        </p:txBody>
      </p:sp>
      <p:sp>
        <p:nvSpPr>
          <p:cNvPr id="44" name="Text 35"/>
          <p:cNvSpPr txBox="1"/>
          <p:nvPr/>
        </p:nvSpPr>
        <p:spPr>
          <a:xfrm>
            <a:off x="4818888"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 × 12 V encoder gearmotors, 178 rpm; MDD3A driver</a:t>
            </a:r>
            <a:endParaRPr lang="en-US" sz="1100" dirty="0"/>
          </a:p>
        </p:txBody>
      </p:sp>
      <p:sp>
        <p:nvSpPr>
          <p:cNvPr id="45" name="3S Li-ion + E-stop card"/>
          <p:cNvSpPr/>
          <p:nvPr/>
        </p:nvSpPr>
        <p:spPr>
          <a:xfrm>
            <a:off x="6793992" y="2852928"/>
            <a:ext cx="1883664" cy="1572768"/>
          </a:xfrm>
          <a:prstGeom prst="roundRect">
            <a:avLst>
              <a:gd name="adj" fmla="val 4651"/>
            </a:avLst>
          </a:prstGeom>
          <a:solidFill>
            <a:srgbClr val="F3F5F7"/>
          </a:solidFill>
          <a:ln w="9525">
            <a:solidFill>
              <a:srgbClr val="DFE4E9"/>
            </a:solidFill>
            <a:prstDash val="solid"/>
          </a:ln>
        </p:spPr>
      </p:sp>
      <p:sp>
        <p:nvSpPr>
          <p:cNvPr id="46" name="3S Li-ion + E-stop circle"/>
          <p:cNvSpPr/>
          <p:nvPr/>
        </p:nvSpPr>
        <p:spPr>
          <a:xfrm>
            <a:off x="6931152" y="2990088"/>
            <a:ext cx="411480" cy="411480"/>
          </a:xfrm>
          <a:prstGeom prst="ellipse">
            <a:avLst/>
          </a:prstGeom>
          <a:solidFill>
            <a:srgbClr val="0B7D73"/>
          </a:solidFill>
          <a:ln/>
        </p:spPr>
      </p:sp>
      <p:pic>
        <p:nvPicPr>
          <p:cNvPr id="47" name="3S Li-ion + E-stop icon" descr="3S Li-ion + E-stop">    </p:cNvPr>
          <p:cNvPicPr>
            <a:picLocks noChangeAspect="1"/>
          </p:cNvPicPr>
          <p:nvPr/>
        </p:nvPicPr>
        <p:blipFill>
          <a:blip r:embed="rId8"/>
          <a:stretch>
            <a:fillRect/>
          </a:stretch>
        </p:blipFill>
        <p:spPr>
          <a:xfrm>
            <a:off x="7029907" y="3088843"/>
            <a:ext cx="213970" cy="213970"/>
          </a:xfrm>
          <a:prstGeom prst="rect">
            <a:avLst/>
          </a:prstGeom>
        </p:spPr>
      </p:pic>
      <p:sp>
        <p:nvSpPr>
          <p:cNvPr id="48" name="Text 38"/>
          <p:cNvSpPr txBox="1"/>
          <p:nvPr/>
        </p:nvSpPr>
        <p:spPr>
          <a:xfrm>
            <a:off x="7434072" y="3035808"/>
            <a:ext cx="1106424" cy="320040"/>
          </a:xfrm>
          <a:prstGeom prst="rect">
            <a:avLst/>
          </a:prstGeom>
          <a:noFill/>
          <a:ln/>
        </p:spPr>
        <p:txBody>
          <a:bodyPr wrap="square" lIns="0" tIns="0" rIns="0" bIns="0" rtlCol="0" anchor="ctr"/>
          <a:lstStyle/>
          <a:p>
            <a:pPr algn="r" indent="0" marL="0">
              <a:buNone/>
            </a:pPr>
            <a:r>
              <a:rPr lang="en-US" sz="1300" b="1" dirty="0">
                <a:solidFill>
                  <a:schemeClr val="accent1"/>
                </a:solidFill>
              </a:rPr>
              <a:t>₹2,250</a:t>
            </a:r>
            <a:endParaRPr lang="en-US" sz="1300" dirty="0"/>
          </a:p>
        </p:txBody>
      </p:sp>
      <p:sp>
        <p:nvSpPr>
          <p:cNvPr id="49" name="Text 39"/>
          <p:cNvSpPr txBox="1"/>
          <p:nvPr/>
        </p:nvSpPr>
        <p:spPr>
          <a:xfrm>
            <a:off x="6931152" y="3493008"/>
            <a:ext cx="1609344" cy="292608"/>
          </a:xfrm>
          <a:prstGeom prst="rect">
            <a:avLst/>
          </a:prstGeom>
          <a:noFill/>
          <a:ln/>
        </p:spPr>
        <p:txBody>
          <a:bodyPr wrap="square" lIns="0" tIns="0" rIns="0" bIns="0" rtlCol="0" anchor="t"/>
          <a:lstStyle/>
          <a:p>
            <a:pPr indent="0" marL="0">
              <a:buNone/>
            </a:pPr>
            <a:r>
              <a:rPr lang="en-US" sz="1300" b="1" dirty="0">
                <a:solidFill>
                  <a:schemeClr val="tx1"/>
                </a:solidFill>
              </a:rPr>
              <a:t>3S Li-ion + E-stop</a:t>
            </a:r>
            <a:endParaRPr lang="en-US" sz="1300" dirty="0"/>
          </a:p>
        </p:txBody>
      </p:sp>
      <p:sp>
        <p:nvSpPr>
          <p:cNvPr id="50" name="Text 40"/>
          <p:cNvSpPr txBox="1"/>
          <p:nvPr/>
        </p:nvSpPr>
        <p:spPr>
          <a:xfrm>
            <a:off x="6931152" y="3803904"/>
            <a:ext cx="1609344" cy="548640"/>
          </a:xfrm>
          <a:prstGeom prst="rect">
            <a:avLst/>
          </a:prstGeom>
          <a:noFill/>
          <a:ln/>
        </p:spPr>
        <p:txBody>
          <a:bodyPr wrap="square" lIns="0" tIns="0" rIns="0" bIns="0" rtlCol="0" anchor="t"/>
          <a:lstStyle/>
          <a:p>
            <a:pPr indent="0" marL="0">
              <a:buNone/>
            </a:pPr>
            <a:r>
              <a:rPr lang="en-US" sz="1100" dirty="0">
                <a:solidFill>
                  <a:schemeClr val="accent5"/>
                </a:solidFill>
              </a:rPr>
              <a:t>29 Wh for the motors; hardware power cut</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How the circuit works</a:t>
            </a:r>
            <a:endParaRPr lang="en-US" sz="3000" dirty="0"/>
          </a:p>
        </p:txBody>
      </p:sp>
      <p:pic>
        <p:nvPicPr>
          <p:cNvPr id="3" name="How the circuit works" descr="Sense, think, act: ultrasonic sensors, encoders, IMU, E-stop and battery feed the Arduino Mega; the laptop sends speed commands; the Arduino applies safety rules and drives the motors, buzzer and status LED. Power: battery, fuse, switch, E-stop, motor driver.">    </p:cNvPr>
          <p:cNvPicPr>
            <a:picLocks noChangeAspect="1"/>
          </p:cNvPicPr>
          <p:nvPr/>
        </p:nvPicPr>
        <p:blipFill>
          <a:blip r:embed="rId1"/>
          <a:stretch>
            <a:fillRect/>
          </a:stretch>
        </p:blipFill>
        <p:spPr>
          <a:xfrm>
            <a:off x="457200" y="1024128"/>
            <a:ext cx="8229600" cy="3602736"/>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Wiring: every pin</a:t>
            </a:r>
            <a:endParaRPr lang="en-US" sz="3000" dirty="0"/>
          </a:p>
        </p:txBody>
      </p:sp>
      <p:pic>
        <p:nvPicPr>
          <p:cNvPr id="3" name="Circuit diagram" descr="Arduino Mega 2560 wiring: motor driver on D5-D8, encoders on D2/D24 and D3/D25, six HC-SR04 sensors on D30-D41, MPU6050 on D20/D21, battery on A0, E-stop on D26, buzzer on D28, status LED on D13, laptop over USB">    </p:cNvPr>
          <p:cNvPicPr>
            <a:picLocks noChangeAspect="1"/>
          </p:cNvPicPr>
          <p:nvPr/>
        </p:nvPicPr>
        <p:blipFill>
          <a:blip r:embed="rId1"/>
          <a:stretch>
            <a:fillRect/>
          </a:stretch>
        </p:blipFill>
        <p:spPr>
          <a:xfrm>
            <a:off x="841248" y="1051560"/>
            <a:ext cx="7461504" cy="3566160"/>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Running in the Wokwi simulator</a:t>
            </a:r>
            <a:endParaRPr lang="en-US" sz="3000" dirty="0"/>
          </a:p>
        </p:txBody>
      </p:sp>
      <p:pic>
        <p:nvPicPr>
          <p:cNvPr id="3" name="Wokwi screenshot" descr="Wokwi simulation of the Arduino Mega with six HC-SR04 sensors, MPU6050, E-stop button, buzzer, battery potentiometer and motor LEDs">    </p:cNvPr>
          <p:cNvPicPr>
            <a:picLocks noChangeAspect="1"/>
          </p:cNvPicPr>
          <p:nvPr/>
        </p:nvPicPr>
        <p:blipFill>
          <a:blip r:embed="rId1"/>
          <a:stretch>
            <a:fillRect/>
          </a:stretch>
        </p:blipFill>
        <p:spPr>
          <a:xfrm>
            <a:off x="457200" y="1097280"/>
            <a:ext cx="4837176" cy="3383280"/>
          </a:xfrm>
          <a:prstGeom prst="rect">
            <a:avLst/>
          </a:prstGeom>
        </p:spPr>
      </p:pic>
      <p:sp>
        <p:nvSpPr>
          <p:cNvPr id="4" name="Screenshot frame"/>
          <p:cNvSpPr/>
          <p:nvPr/>
        </p:nvSpPr>
        <p:spPr>
          <a:xfrm>
            <a:off x="457200" y="1097280"/>
            <a:ext cx="4837176" cy="3383280"/>
          </a:xfrm>
          <a:prstGeom prst="rect">
            <a:avLst/>
          </a:prstGeom>
          <a:ln w="12700">
            <a:solidFill>
              <a:srgbClr val="DFE4E9"/>
            </a:solidFill>
            <a:prstDash val="solid"/>
          </a:ln>
        </p:spPr>
      </p:sp>
      <p:sp>
        <p:nvSpPr>
          <p:cNvPr id="5" name="Text 2"/>
          <p:cNvSpPr txBox="1"/>
          <p:nvPr/>
        </p:nvSpPr>
        <p:spPr>
          <a:xfrm>
            <a:off x="5669280" y="1097280"/>
            <a:ext cx="3017520" cy="365760"/>
          </a:xfrm>
          <a:prstGeom prst="rect">
            <a:avLst/>
          </a:prstGeom>
          <a:noFill/>
          <a:ln/>
        </p:spPr>
        <p:txBody>
          <a:bodyPr wrap="square" lIns="0" tIns="0" rIns="0" bIns="0" rtlCol="0" anchor="t"/>
          <a:lstStyle/>
          <a:p>
            <a:pPr indent="0" marL="0">
              <a:buNone/>
            </a:pPr>
            <a:r>
              <a:rPr lang="en-US" sz="1600" b="1" dirty="0">
                <a:solidFill>
                  <a:schemeClr val="tx1"/>
                </a:solidFill>
              </a:rPr>
              <a:t>Try it</a:t>
            </a:r>
            <a:endParaRPr lang="en-US" sz="1600" dirty="0"/>
          </a:p>
        </p:txBody>
      </p:sp>
      <p:sp>
        <p:nvSpPr>
          <p:cNvPr id="6" name="Step 1"/>
          <p:cNvSpPr/>
          <p:nvPr/>
        </p:nvSpPr>
        <p:spPr>
          <a:xfrm>
            <a:off x="5760720" y="1591056"/>
            <a:ext cx="310896" cy="310896"/>
          </a:xfrm>
          <a:prstGeom prst="ellipse">
            <a:avLst/>
          </a:prstGeom>
          <a:solidFill>
            <a:srgbClr val="0B7D73"/>
          </a:solidFill>
          <a:ln/>
        </p:spPr>
      </p:sp>
      <p:sp>
        <p:nvSpPr>
          <p:cNvPr id="7" name="Text 4"/>
          <p:cNvSpPr txBox="1"/>
          <p:nvPr/>
        </p:nvSpPr>
        <p:spPr>
          <a:xfrm>
            <a:off x="5760720" y="1591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17920" y="1554480"/>
            <a:ext cx="2468880" cy="237744"/>
          </a:xfrm>
          <a:prstGeom prst="rect">
            <a:avLst/>
          </a:prstGeom>
          <a:noFill/>
          <a:ln/>
        </p:spPr>
        <p:txBody>
          <a:bodyPr wrap="square" lIns="0" tIns="0" rIns="0" bIns="0" rtlCol="0" anchor="t"/>
          <a:lstStyle/>
          <a:p>
            <a:pPr indent="0" marL="0">
              <a:buNone/>
            </a:pPr>
            <a:r>
              <a:rPr lang="en-US" sz="1300" b="1" dirty="0">
                <a:solidFill>
                  <a:schemeClr val="tx1"/>
                </a:solidFill>
              </a:rPr>
              <a:t>Type D</a:t>
            </a:r>
            <a:endParaRPr lang="en-US" sz="1300" dirty="0"/>
          </a:p>
        </p:txBody>
      </p:sp>
      <p:sp>
        <p:nvSpPr>
          <p:cNvPr id="9" name="Text 6"/>
          <p:cNvSpPr txBox="1"/>
          <p:nvPr/>
        </p:nvSpPr>
        <p:spPr>
          <a:xfrm>
            <a:off x="6217920" y="1801368"/>
            <a:ext cx="2468880" cy="237744"/>
          </a:xfrm>
          <a:prstGeom prst="rect">
            <a:avLst/>
          </a:prstGeom>
          <a:noFill/>
          <a:ln/>
        </p:spPr>
        <p:txBody>
          <a:bodyPr wrap="square" lIns="0" tIns="0" rIns="0" bIns="0" rtlCol="0" anchor="t"/>
          <a:lstStyle/>
          <a:p>
            <a:pPr indent="0" marL="0">
              <a:buNone/>
            </a:pPr>
            <a:r>
              <a:rPr lang="en-US" sz="1200" dirty="0">
                <a:solidFill>
                  <a:schemeClr val="accent5"/>
                </a:solidFill>
              </a:rPr>
              <a:t>motor LEDs light up</a:t>
            </a:r>
            <a:endParaRPr lang="en-US" sz="1200" dirty="0"/>
          </a:p>
        </p:txBody>
      </p:sp>
      <p:sp>
        <p:nvSpPr>
          <p:cNvPr id="10" name="Step 2"/>
          <p:cNvSpPr/>
          <p:nvPr/>
        </p:nvSpPr>
        <p:spPr>
          <a:xfrm>
            <a:off x="5760720" y="2157984"/>
            <a:ext cx="310896" cy="310896"/>
          </a:xfrm>
          <a:prstGeom prst="ellipse">
            <a:avLst/>
          </a:prstGeom>
          <a:solidFill>
            <a:srgbClr val="0B7D73"/>
          </a:solidFill>
          <a:ln/>
        </p:spPr>
      </p:sp>
      <p:sp>
        <p:nvSpPr>
          <p:cNvPr id="11" name="Text 8"/>
          <p:cNvSpPr txBox="1"/>
          <p:nvPr/>
        </p:nvSpPr>
        <p:spPr>
          <a:xfrm>
            <a:off x="5760720" y="215798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17920" y="2121408"/>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60 cm</a:t>
            </a:r>
            <a:endParaRPr lang="en-US" sz="1300" dirty="0"/>
          </a:p>
        </p:txBody>
      </p:sp>
      <p:sp>
        <p:nvSpPr>
          <p:cNvPr id="13" name="Text 10"/>
          <p:cNvSpPr txBox="1"/>
          <p:nvPr/>
        </p:nvSpPr>
        <p:spPr>
          <a:xfrm>
            <a:off x="6217920" y="2368296"/>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slows</a:t>
            </a:r>
            <a:endParaRPr lang="en-US" sz="1200" dirty="0"/>
          </a:p>
        </p:txBody>
      </p:sp>
      <p:sp>
        <p:nvSpPr>
          <p:cNvPr id="14" name="Step 3"/>
          <p:cNvSpPr/>
          <p:nvPr/>
        </p:nvSpPr>
        <p:spPr>
          <a:xfrm>
            <a:off x="5760720" y="2724912"/>
            <a:ext cx="310896" cy="310896"/>
          </a:xfrm>
          <a:prstGeom prst="ellipse">
            <a:avLst/>
          </a:prstGeom>
          <a:solidFill>
            <a:srgbClr val="0B7D73"/>
          </a:solidFill>
          <a:ln/>
        </p:spPr>
      </p:sp>
      <p:sp>
        <p:nvSpPr>
          <p:cNvPr id="15" name="Text 12"/>
          <p:cNvSpPr txBox="1"/>
          <p:nvPr/>
        </p:nvSpPr>
        <p:spPr>
          <a:xfrm>
            <a:off x="5760720" y="2724912"/>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17920" y="2688336"/>
            <a:ext cx="2468880" cy="237744"/>
          </a:xfrm>
          <a:prstGeom prst="rect">
            <a:avLst/>
          </a:prstGeom>
          <a:noFill/>
          <a:ln/>
        </p:spPr>
        <p:txBody>
          <a:bodyPr wrap="square" lIns="0" tIns="0" rIns="0" bIns="0" rtlCol="0" anchor="t"/>
          <a:lstStyle/>
          <a:p>
            <a:pPr indent="0" marL="0">
              <a:buNone/>
            </a:pPr>
            <a:r>
              <a:rPr lang="en-US" sz="1300" b="1" dirty="0">
                <a:solidFill>
                  <a:schemeClr val="tx1"/>
                </a:solidFill>
              </a:rPr>
              <a:t>Front sensor to 20 cm</a:t>
            </a:r>
            <a:endParaRPr lang="en-US" sz="1300" dirty="0"/>
          </a:p>
        </p:txBody>
      </p:sp>
      <p:sp>
        <p:nvSpPr>
          <p:cNvPr id="17" name="Text 14"/>
          <p:cNvSpPr txBox="1"/>
          <p:nvPr/>
        </p:nvSpPr>
        <p:spPr>
          <a:xfrm>
            <a:off x="6217920" y="2935224"/>
            <a:ext cx="2468880" cy="237744"/>
          </a:xfrm>
          <a:prstGeom prst="rect">
            <a:avLst/>
          </a:prstGeom>
          <a:noFill/>
          <a:ln/>
        </p:spPr>
        <p:txBody>
          <a:bodyPr wrap="square" lIns="0" tIns="0" rIns="0" bIns="0" rtlCol="0" anchor="t"/>
          <a:lstStyle/>
          <a:p>
            <a:pPr indent="0" marL="0">
              <a:buNone/>
            </a:pPr>
            <a:r>
              <a:rPr lang="en-US" sz="1200" dirty="0">
                <a:solidFill>
                  <a:schemeClr val="accent5"/>
                </a:solidFill>
              </a:rPr>
              <a:t>robot stops, buzzer</a:t>
            </a:r>
            <a:endParaRPr lang="en-US" sz="1200" dirty="0"/>
          </a:p>
        </p:txBody>
      </p:sp>
      <p:sp>
        <p:nvSpPr>
          <p:cNvPr id="18" name="Step 4"/>
          <p:cNvSpPr/>
          <p:nvPr/>
        </p:nvSpPr>
        <p:spPr>
          <a:xfrm>
            <a:off x="5760720" y="3291840"/>
            <a:ext cx="310896" cy="310896"/>
          </a:xfrm>
          <a:prstGeom prst="ellipse">
            <a:avLst/>
          </a:prstGeom>
          <a:solidFill>
            <a:srgbClr val="0B7D73"/>
          </a:solidFill>
          <a:ln/>
        </p:spPr>
      </p:sp>
      <p:sp>
        <p:nvSpPr>
          <p:cNvPr id="19" name="Text 16"/>
          <p:cNvSpPr txBox="1"/>
          <p:nvPr/>
        </p:nvSpPr>
        <p:spPr>
          <a:xfrm>
            <a:off x="5760720" y="329184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17920" y="3255264"/>
            <a:ext cx="2468880" cy="237744"/>
          </a:xfrm>
          <a:prstGeom prst="rect">
            <a:avLst/>
          </a:prstGeom>
          <a:noFill/>
          <a:ln/>
        </p:spPr>
        <p:txBody>
          <a:bodyPr wrap="square" lIns="0" tIns="0" rIns="0" bIns="0" rtlCol="0" anchor="t"/>
          <a:lstStyle/>
          <a:p>
            <a:pPr indent="0" marL="0">
              <a:buNone/>
            </a:pPr>
            <a:r>
              <a:rPr lang="en-US" sz="1300" b="1" dirty="0">
                <a:solidFill>
                  <a:schemeClr val="tx1"/>
                </a:solidFill>
              </a:rPr>
              <a:t>Press E-STOP</a:t>
            </a:r>
            <a:endParaRPr lang="en-US" sz="1300" dirty="0"/>
          </a:p>
        </p:txBody>
      </p:sp>
      <p:sp>
        <p:nvSpPr>
          <p:cNvPr id="21" name="Text 18"/>
          <p:cNvSpPr txBox="1"/>
          <p:nvPr/>
        </p:nvSpPr>
        <p:spPr>
          <a:xfrm>
            <a:off x="6217920" y="3502152"/>
            <a:ext cx="2468880" cy="237744"/>
          </a:xfrm>
          <a:prstGeom prst="rect">
            <a:avLst/>
          </a:prstGeom>
          <a:noFill/>
          <a:ln/>
        </p:spPr>
        <p:txBody>
          <a:bodyPr wrap="square" lIns="0" tIns="0" rIns="0" bIns="0" rtlCol="0" anchor="t"/>
          <a:lstStyle/>
          <a:p>
            <a:pPr indent="0" marL="0">
              <a:buNone/>
            </a:pPr>
            <a:r>
              <a:rPr lang="en-US" sz="1200" dirty="0">
                <a:solidFill>
                  <a:schemeClr val="accent5"/>
                </a:solidFill>
              </a:rPr>
              <a:t>instant stop, stays latched</a:t>
            </a:r>
            <a:endParaRPr lang="en-US" sz="1200" dirty="0"/>
          </a:p>
        </p:txBody>
      </p:sp>
      <p:sp>
        <p:nvSpPr>
          <p:cNvPr id="22" name="Step 5"/>
          <p:cNvSpPr/>
          <p:nvPr/>
        </p:nvSpPr>
        <p:spPr>
          <a:xfrm>
            <a:off x="5760720" y="3858768"/>
            <a:ext cx="310896" cy="310896"/>
          </a:xfrm>
          <a:prstGeom prst="ellipse">
            <a:avLst/>
          </a:prstGeom>
          <a:solidFill>
            <a:srgbClr val="0B7D73"/>
          </a:solidFill>
          <a:ln/>
        </p:spPr>
      </p:sp>
      <p:sp>
        <p:nvSpPr>
          <p:cNvPr id="23" name="Text 20"/>
          <p:cNvSpPr txBox="1"/>
          <p:nvPr/>
        </p:nvSpPr>
        <p:spPr>
          <a:xfrm>
            <a:off x="5760720" y="385876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4" name="Text 21"/>
          <p:cNvSpPr txBox="1"/>
          <p:nvPr/>
        </p:nvSpPr>
        <p:spPr>
          <a:xfrm>
            <a:off x="6217920" y="3822192"/>
            <a:ext cx="2468880" cy="237744"/>
          </a:xfrm>
          <a:prstGeom prst="rect">
            <a:avLst/>
          </a:prstGeom>
          <a:noFill/>
          <a:ln/>
        </p:spPr>
        <p:txBody>
          <a:bodyPr wrap="square" lIns="0" tIns="0" rIns="0" bIns="0" rtlCol="0" anchor="t"/>
          <a:lstStyle/>
          <a:p>
            <a:pPr indent="0" marL="0">
              <a:buNone/>
            </a:pPr>
            <a:r>
              <a:rPr lang="en-US" sz="1300" b="1" dirty="0">
                <a:solidFill>
                  <a:schemeClr val="tx1"/>
                </a:solidFill>
              </a:rPr>
              <a:t>Turn battery knob</a:t>
            </a:r>
            <a:endParaRPr lang="en-US" sz="1300" dirty="0"/>
          </a:p>
        </p:txBody>
      </p:sp>
      <p:sp>
        <p:nvSpPr>
          <p:cNvPr id="25" name="Text 22"/>
          <p:cNvSpPr txBox="1"/>
          <p:nvPr/>
        </p:nvSpPr>
        <p:spPr>
          <a:xfrm>
            <a:off x="6217920" y="4069080"/>
            <a:ext cx="2468880" cy="237744"/>
          </a:xfrm>
          <a:prstGeom prst="rect">
            <a:avLst/>
          </a:prstGeom>
          <a:noFill/>
          <a:ln/>
        </p:spPr>
        <p:txBody>
          <a:bodyPr wrap="square" lIns="0" tIns="0" rIns="0" bIns="0" rtlCol="0" anchor="t"/>
          <a:lstStyle/>
          <a:p>
            <a:pPr indent="0" marL="0">
              <a:buNone/>
            </a:pPr>
            <a:r>
              <a:rPr lang="en-US" sz="1200" dirty="0">
                <a:solidFill>
                  <a:schemeClr val="accent5"/>
                </a:solidFill>
              </a:rPr>
              <a:t>half speed, then stop</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Cost and power</a:t>
            </a:r>
            <a:endParaRPr lang="en-US" sz="3000" dirty="0"/>
          </a:p>
        </p:txBody>
      </p:sp>
      <p:graphicFrame>
        <p:nvGraphicFramePr>
          <p:cNvPr id="3" name="Chart 0" descr=""/>
          <p:cNvGraphicFramePr/>
          <p:nvPr/>
        </p:nvGraphicFramePr>
        <p:xfrm>
          <a:off x="365760" y="1051560"/>
          <a:ext cx="438912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120640" y="118872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₹21,000</a:t>
            </a:r>
            <a:endParaRPr lang="en-US" sz="3000" dirty="0"/>
          </a:p>
        </p:txBody>
      </p:sp>
      <p:sp>
        <p:nvSpPr>
          <p:cNvPr id="5" name="Text 2"/>
          <p:cNvSpPr txBox="1"/>
          <p:nvPr/>
        </p:nvSpPr>
        <p:spPr>
          <a:xfrm>
            <a:off x="7086600" y="1261872"/>
            <a:ext cx="1600200" cy="292608"/>
          </a:xfrm>
          <a:prstGeom prst="rect">
            <a:avLst/>
          </a:prstGeom>
          <a:noFill/>
          <a:ln/>
        </p:spPr>
        <p:txBody>
          <a:bodyPr wrap="square" lIns="0" tIns="0" rIns="0" bIns="0" rtlCol="0" anchor="t"/>
          <a:lstStyle/>
          <a:p>
            <a:pPr indent="0" marL="0">
              <a:buNone/>
            </a:pPr>
            <a:r>
              <a:rPr lang="en-US" sz="1300" b="1" dirty="0">
                <a:solidFill>
                  <a:schemeClr val="tx1"/>
                </a:solidFill>
              </a:rPr>
              <a:t>full build</a:t>
            </a:r>
            <a:endParaRPr lang="en-US" sz="1300" dirty="0"/>
          </a:p>
        </p:txBody>
      </p:sp>
      <p:sp>
        <p:nvSpPr>
          <p:cNvPr id="6" name="Text 3"/>
          <p:cNvSpPr txBox="1"/>
          <p:nvPr/>
        </p:nvSpPr>
        <p:spPr>
          <a:xfrm>
            <a:off x="7086600" y="155448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plus the laptop we already own</a:t>
            </a:r>
            <a:endParaRPr lang="en-US" sz="1100" dirty="0"/>
          </a:p>
        </p:txBody>
      </p:sp>
      <p:sp>
        <p:nvSpPr>
          <p:cNvPr id="7" name="Text 4"/>
          <p:cNvSpPr txBox="1"/>
          <p:nvPr/>
        </p:nvSpPr>
        <p:spPr>
          <a:xfrm>
            <a:off x="5120640" y="22402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+₹14,400</a:t>
            </a:r>
            <a:endParaRPr lang="en-US" sz="3000" dirty="0"/>
          </a:p>
        </p:txBody>
      </p:sp>
      <p:sp>
        <p:nvSpPr>
          <p:cNvPr id="8" name="Text 5"/>
          <p:cNvSpPr txBox="1"/>
          <p:nvPr/>
        </p:nvSpPr>
        <p:spPr>
          <a:xfrm>
            <a:off x="7086600" y="2313432"/>
            <a:ext cx="1600200" cy="292608"/>
          </a:xfrm>
          <a:prstGeom prst="rect">
            <a:avLst/>
          </a:prstGeom>
          <a:noFill/>
          <a:ln/>
        </p:spPr>
        <p:txBody>
          <a:bodyPr wrap="square" lIns="0" tIns="0" rIns="0" bIns="0" rtlCol="0" anchor="t"/>
          <a:lstStyle/>
          <a:p>
            <a:pPr indent="0" marL="0">
              <a:buNone/>
            </a:pPr>
            <a:r>
              <a:rPr lang="en-US" sz="1300" b="1" dirty="0">
                <a:solidFill>
                  <a:schemeClr val="tx1"/>
                </a:solidFill>
              </a:rPr>
              <a:t>optional upgrade</a:t>
            </a:r>
            <a:endParaRPr lang="en-US" sz="1300" dirty="0"/>
          </a:p>
        </p:txBody>
      </p:sp>
      <p:sp>
        <p:nvSpPr>
          <p:cNvPr id="9" name="Text 6"/>
          <p:cNvSpPr txBox="1"/>
          <p:nvPr/>
        </p:nvSpPr>
        <p:spPr>
          <a:xfrm>
            <a:off x="7086600" y="260604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OAK-D Lite depth camera</a:t>
            </a:r>
            <a:endParaRPr lang="en-US" sz="1100" dirty="0"/>
          </a:p>
        </p:txBody>
      </p:sp>
      <p:sp>
        <p:nvSpPr>
          <p:cNvPr id="10" name="Text 7"/>
          <p:cNvSpPr txBox="1"/>
          <p:nvPr/>
        </p:nvSpPr>
        <p:spPr>
          <a:xfrm>
            <a:off x="5120640" y="329184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 2 h</a:t>
            </a:r>
            <a:endParaRPr lang="en-US" sz="3000" dirty="0"/>
          </a:p>
        </p:txBody>
      </p:sp>
      <p:sp>
        <p:nvSpPr>
          <p:cNvPr id="11" name="Text 8"/>
          <p:cNvSpPr txBox="1"/>
          <p:nvPr/>
        </p:nvSpPr>
        <p:spPr>
          <a:xfrm>
            <a:off x="7086600" y="3364992"/>
            <a:ext cx="1600200" cy="292608"/>
          </a:xfrm>
          <a:prstGeom prst="rect">
            <a:avLst/>
          </a:prstGeom>
          <a:noFill/>
          <a:ln/>
        </p:spPr>
        <p:txBody>
          <a:bodyPr wrap="square" lIns="0" tIns="0" rIns="0" bIns="0" rtlCol="0" anchor="t"/>
          <a:lstStyle/>
          <a:p>
            <a:pPr indent="0" marL="0">
              <a:buNone/>
            </a:pPr>
            <a:r>
              <a:rPr lang="en-US" sz="1300" b="1" dirty="0">
                <a:solidFill>
                  <a:schemeClr val="tx1"/>
                </a:solidFill>
              </a:rPr>
              <a:t>runtime</a:t>
            </a:r>
            <a:endParaRPr lang="en-US" sz="1300" dirty="0"/>
          </a:p>
        </p:txBody>
      </p:sp>
      <p:sp>
        <p:nvSpPr>
          <p:cNvPr id="12" name="Text 9"/>
          <p:cNvSpPr txBox="1"/>
          <p:nvPr/>
        </p:nvSpPr>
        <p:spPr>
          <a:xfrm>
            <a:off x="7086600" y="3657600"/>
            <a:ext cx="1600200" cy="274320"/>
          </a:xfrm>
          <a:prstGeom prst="rect">
            <a:avLst/>
          </a:prstGeom>
          <a:noFill/>
          <a:ln/>
        </p:spPr>
        <p:txBody>
          <a:bodyPr wrap="square" lIns="0" tIns="0" rIns="0" bIns="0" rtlCol="0" anchor="t"/>
          <a:lstStyle/>
          <a:p>
            <a:pPr indent="0" marL="0">
              <a:buNone/>
            </a:pPr>
            <a:r>
              <a:rPr lang="en-US" sz="1100" dirty="0">
                <a:solidFill>
                  <a:schemeClr val="accent5"/>
                </a:solidFill>
              </a:rPr>
              <a:t>limited by the laptop battery</a:t>
            </a:r>
            <a:endParaRPr lang="en-US" sz="1100" dirty="0"/>
          </a:p>
        </p:txBody>
      </p:sp>
      <p:sp>
        <p:nvSpPr>
          <p:cNvPr id="13" name="Text 10"/>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000" i="1" dirty="0">
                <a:solidFill>
                  <a:schemeClr val="accent5"/>
                </a:solidFill>
              </a:rPr>
              <a:t>Approximate Indian retail prices, October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From simulation to a real robot</a:t>
            </a:r>
            <a:endParaRPr lang="en-US" sz="3000" dirty="0"/>
          </a:p>
        </p:txBody>
      </p:sp>
      <p:sp>
        <p:nvSpPr>
          <p:cNvPr id="3" name="Shape 1"/>
          <p:cNvSpPr/>
          <p:nvPr/>
        </p:nvSpPr>
        <p:spPr>
          <a:xfrm>
            <a:off x="1088136" y="1691640"/>
            <a:ext cx="6967728" cy="0"/>
          </a:xfrm>
          <a:prstGeom prst="line">
            <a:avLst/>
          </a:prstGeom>
          <a:noFill/>
          <a:ln w="38100">
            <a:solidFill>
              <a:srgbClr val="DFE4E9"/>
            </a:solidFill>
            <a:prstDash val="solid"/>
          </a:ln>
        </p:spPr>
      </p:sp>
      <p:sp>
        <p:nvSpPr>
          <p:cNvPr id="4" name="Bench electronics marker"/>
          <p:cNvSpPr/>
          <p:nvPr/>
        </p:nvSpPr>
        <p:spPr>
          <a:xfrm>
            <a:off x="832104" y="1435608"/>
            <a:ext cx="512064" cy="512064"/>
          </a:xfrm>
          <a:prstGeom prst="ellipse">
            <a:avLst/>
          </a:prstGeom>
          <a:solidFill>
            <a:srgbClr val="D9A441"/>
          </a:solidFill>
          <a:ln w="25400">
            <a:solidFill>
              <a:srgbClr val="FFFFFF"/>
            </a:solidFill>
            <a:prstDash val="solid"/>
          </a:ln>
        </p:spPr>
      </p:sp>
      <p:sp>
        <p:nvSpPr>
          <p:cNvPr id="5" name="Text 3"/>
          <p:cNvSpPr txBox="1"/>
          <p:nvPr/>
        </p:nvSpPr>
        <p:spPr>
          <a:xfrm>
            <a:off x="832104"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457200"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1</a:t>
            </a:r>
            <a:endParaRPr lang="en-US" sz="1100" dirty="0"/>
          </a:p>
        </p:txBody>
      </p:sp>
      <p:sp>
        <p:nvSpPr>
          <p:cNvPr id="7" name="Bench electronics card"/>
          <p:cNvSpPr/>
          <p:nvPr/>
        </p:nvSpPr>
        <p:spPr>
          <a:xfrm>
            <a:off x="457200" y="2194560"/>
            <a:ext cx="1261872" cy="1828800"/>
          </a:xfrm>
          <a:prstGeom prst="roundRect">
            <a:avLst>
              <a:gd name="adj" fmla="val 5797"/>
            </a:avLst>
          </a:prstGeom>
          <a:solidFill>
            <a:srgbClr val="F3F5F7"/>
          </a:solidFill>
          <a:ln w="9525">
            <a:solidFill>
              <a:srgbClr val="DFE4E9"/>
            </a:solidFill>
            <a:prstDash val="solid"/>
          </a:ln>
        </p:spPr>
      </p:sp>
      <p:sp>
        <p:nvSpPr>
          <p:cNvPr id="8" name="Text 6"/>
          <p:cNvSpPr txBox="1"/>
          <p:nvPr/>
        </p:nvSpPr>
        <p:spPr>
          <a:xfrm>
            <a:off x="566928"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Bench electronics</a:t>
            </a:r>
            <a:endParaRPr lang="en-US" sz="1400" dirty="0"/>
          </a:p>
        </p:txBody>
      </p:sp>
      <p:sp>
        <p:nvSpPr>
          <p:cNvPr id="9" name="Text 7"/>
          <p:cNvSpPr txBox="1"/>
          <p:nvPr/>
        </p:nvSpPr>
        <p:spPr>
          <a:xfrm>
            <a:off x="566928"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Arduino + sensors pass the same tests as Wokwi</a:t>
            </a:r>
            <a:endParaRPr lang="en-US" sz="1200" dirty="0"/>
          </a:p>
        </p:txBody>
      </p:sp>
      <p:sp>
        <p:nvSpPr>
          <p:cNvPr id="10" name="Drive base marker"/>
          <p:cNvSpPr/>
          <p:nvPr/>
        </p:nvSpPr>
        <p:spPr>
          <a:xfrm>
            <a:off x="2225650" y="1435608"/>
            <a:ext cx="512064" cy="512064"/>
          </a:xfrm>
          <a:prstGeom prst="ellipse">
            <a:avLst/>
          </a:prstGeom>
          <a:solidFill>
            <a:srgbClr val="0B7D73"/>
          </a:solidFill>
          <a:ln w="25400">
            <a:solidFill>
              <a:srgbClr val="FFFFFF"/>
            </a:solidFill>
            <a:prstDash val="solid"/>
          </a:ln>
        </p:spPr>
      </p:sp>
      <p:sp>
        <p:nvSpPr>
          <p:cNvPr id="11" name="Text 9"/>
          <p:cNvSpPr txBox="1"/>
          <p:nvPr/>
        </p:nvSpPr>
        <p:spPr>
          <a:xfrm>
            <a:off x="2225650"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1850746"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2–3</a:t>
            </a:r>
            <a:endParaRPr lang="en-US" sz="1100" dirty="0"/>
          </a:p>
        </p:txBody>
      </p:sp>
      <p:sp>
        <p:nvSpPr>
          <p:cNvPr id="13" name="Drive base card"/>
          <p:cNvSpPr/>
          <p:nvPr/>
        </p:nvSpPr>
        <p:spPr>
          <a:xfrm>
            <a:off x="1850746" y="2194560"/>
            <a:ext cx="1261872" cy="1828800"/>
          </a:xfrm>
          <a:prstGeom prst="roundRect">
            <a:avLst>
              <a:gd name="adj" fmla="val 5797"/>
            </a:avLst>
          </a:prstGeom>
          <a:solidFill>
            <a:srgbClr val="F3F5F7"/>
          </a:solidFill>
          <a:ln w="9525">
            <a:solidFill>
              <a:srgbClr val="DFE4E9"/>
            </a:solidFill>
            <a:prstDash val="solid"/>
          </a:ln>
        </p:spPr>
      </p:sp>
      <p:sp>
        <p:nvSpPr>
          <p:cNvPr id="14" name="Text 12"/>
          <p:cNvSpPr txBox="1"/>
          <p:nvPr/>
        </p:nvSpPr>
        <p:spPr>
          <a:xfrm>
            <a:off x="1960474"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Drive base</a:t>
            </a:r>
            <a:endParaRPr lang="en-US" sz="1400" dirty="0"/>
          </a:p>
        </p:txBody>
      </p:sp>
      <p:sp>
        <p:nvSpPr>
          <p:cNvPr id="15" name="Text 13"/>
          <p:cNvSpPr txBox="1"/>
          <p:nvPr/>
        </p:nvSpPr>
        <p:spPr>
          <a:xfrm>
            <a:off x="1960474"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Chassis, motors, E-stop; tune wheel control</a:t>
            </a:r>
            <a:endParaRPr lang="en-US" sz="1200" dirty="0"/>
          </a:p>
        </p:txBody>
      </p:sp>
      <p:sp>
        <p:nvSpPr>
          <p:cNvPr id="16" name="Laptop integration marker"/>
          <p:cNvSpPr/>
          <p:nvPr/>
        </p:nvSpPr>
        <p:spPr>
          <a:xfrm>
            <a:off x="3619195" y="1435608"/>
            <a:ext cx="512064" cy="512064"/>
          </a:xfrm>
          <a:prstGeom prst="ellipse">
            <a:avLst/>
          </a:prstGeom>
          <a:solidFill>
            <a:srgbClr val="0B7D73"/>
          </a:solidFill>
          <a:ln w="25400">
            <a:solidFill>
              <a:srgbClr val="FFFFFF"/>
            </a:solidFill>
            <a:prstDash val="solid"/>
          </a:ln>
        </p:spPr>
      </p:sp>
      <p:sp>
        <p:nvSpPr>
          <p:cNvPr id="17" name="Text 15"/>
          <p:cNvSpPr txBox="1"/>
          <p:nvPr/>
        </p:nvSpPr>
        <p:spPr>
          <a:xfrm>
            <a:off x="3619195"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3244291"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4</a:t>
            </a:r>
            <a:endParaRPr lang="en-US" sz="1100" dirty="0"/>
          </a:p>
        </p:txBody>
      </p:sp>
      <p:sp>
        <p:nvSpPr>
          <p:cNvPr id="19" name="Laptop integration card"/>
          <p:cNvSpPr/>
          <p:nvPr/>
        </p:nvSpPr>
        <p:spPr>
          <a:xfrm>
            <a:off x="3244291" y="2194560"/>
            <a:ext cx="1261872" cy="1828800"/>
          </a:xfrm>
          <a:prstGeom prst="roundRect">
            <a:avLst>
              <a:gd name="adj" fmla="val 5797"/>
            </a:avLst>
          </a:prstGeom>
          <a:solidFill>
            <a:srgbClr val="F3F5F7"/>
          </a:solidFill>
          <a:ln w="9525">
            <a:solidFill>
              <a:srgbClr val="DFE4E9"/>
            </a:solidFill>
            <a:prstDash val="solid"/>
          </a:ln>
        </p:spPr>
      </p:sp>
      <p:sp>
        <p:nvSpPr>
          <p:cNvPr id="20" name="Text 18"/>
          <p:cNvSpPr txBox="1"/>
          <p:nvPr/>
        </p:nvSpPr>
        <p:spPr>
          <a:xfrm>
            <a:off x="3354019"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Laptop integration</a:t>
            </a:r>
            <a:endParaRPr lang="en-US" sz="1400" dirty="0"/>
          </a:p>
        </p:txBody>
      </p:sp>
      <p:sp>
        <p:nvSpPr>
          <p:cNvPr id="21" name="Text 19"/>
          <p:cNvSpPr txBox="1"/>
          <p:nvPr/>
        </p:nvSpPr>
        <p:spPr>
          <a:xfrm>
            <a:off x="3354019"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Serial bridge; real sensors on the dashboard</a:t>
            </a:r>
            <a:endParaRPr lang="en-US" sz="1200" dirty="0"/>
          </a:p>
        </p:txBody>
      </p:sp>
      <p:sp>
        <p:nvSpPr>
          <p:cNvPr id="22" name="Mapping marker"/>
          <p:cNvSpPr/>
          <p:nvPr/>
        </p:nvSpPr>
        <p:spPr>
          <a:xfrm>
            <a:off x="5012741" y="1435608"/>
            <a:ext cx="512064" cy="512064"/>
          </a:xfrm>
          <a:prstGeom prst="ellipse">
            <a:avLst/>
          </a:prstGeom>
          <a:solidFill>
            <a:srgbClr val="0B7D73"/>
          </a:solidFill>
          <a:ln w="25400">
            <a:solidFill>
              <a:srgbClr val="FFFFFF"/>
            </a:solidFill>
            <a:prstDash val="solid"/>
          </a:ln>
        </p:spPr>
      </p:sp>
      <p:sp>
        <p:nvSpPr>
          <p:cNvPr id="23" name="Text 21"/>
          <p:cNvSpPr txBox="1"/>
          <p:nvPr/>
        </p:nvSpPr>
        <p:spPr>
          <a:xfrm>
            <a:off x="5012741"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4637837"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5–6</a:t>
            </a:r>
            <a:endParaRPr lang="en-US" sz="1100" dirty="0"/>
          </a:p>
        </p:txBody>
      </p:sp>
      <p:sp>
        <p:nvSpPr>
          <p:cNvPr id="25" name="Mapping card"/>
          <p:cNvSpPr/>
          <p:nvPr/>
        </p:nvSpPr>
        <p:spPr>
          <a:xfrm>
            <a:off x="4637837" y="2194560"/>
            <a:ext cx="1261872" cy="1828800"/>
          </a:xfrm>
          <a:prstGeom prst="roundRect">
            <a:avLst>
              <a:gd name="adj" fmla="val 5797"/>
            </a:avLst>
          </a:prstGeom>
          <a:solidFill>
            <a:srgbClr val="F3F5F7"/>
          </a:solidFill>
          <a:ln w="9525">
            <a:solidFill>
              <a:srgbClr val="DFE4E9"/>
            </a:solidFill>
            <a:prstDash val="solid"/>
          </a:ln>
        </p:spPr>
      </p:sp>
      <p:sp>
        <p:nvSpPr>
          <p:cNvPr id="26" name="Text 24"/>
          <p:cNvSpPr txBox="1"/>
          <p:nvPr/>
        </p:nvSpPr>
        <p:spPr>
          <a:xfrm>
            <a:off x="4747565"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Mapping</a:t>
            </a:r>
            <a:endParaRPr lang="en-US" sz="1400" dirty="0"/>
          </a:p>
        </p:txBody>
      </p:sp>
      <p:sp>
        <p:nvSpPr>
          <p:cNvPr id="27" name="Text 25"/>
          <p:cNvSpPr txBox="1"/>
          <p:nvPr/>
        </p:nvSpPr>
        <p:spPr>
          <a:xfrm>
            <a:off x="4747565"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Real LiDAR SLAM; 10/10 goals reached</a:t>
            </a:r>
            <a:endParaRPr lang="en-US" sz="1200" dirty="0"/>
          </a:p>
        </p:txBody>
      </p:sp>
      <p:sp>
        <p:nvSpPr>
          <p:cNvPr id="28" name="Prediction marker"/>
          <p:cNvSpPr/>
          <p:nvPr/>
        </p:nvSpPr>
        <p:spPr>
          <a:xfrm>
            <a:off x="6406286" y="1435608"/>
            <a:ext cx="512064" cy="512064"/>
          </a:xfrm>
          <a:prstGeom prst="ellipse">
            <a:avLst/>
          </a:prstGeom>
          <a:solidFill>
            <a:srgbClr val="0B7D73"/>
          </a:solidFill>
          <a:ln w="25400">
            <a:solidFill>
              <a:srgbClr val="FFFFFF"/>
            </a:solidFill>
            <a:prstDash val="solid"/>
          </a:ln>
        </p:spPr>
      </p:sp>
      <p:sp>
        <p:nvSpPr>
          <p:cNvPr id="29" name="Text 27"/>
          <p:cNvSpPr txBox="1"/>
          <p:nvPr/>
        </p:nvSpPr>
        <p:spPr>
          <a:xfrm>
            <a:off x="6406286"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6031382"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7–8</a:t>
            </a:r>
            <a:endParaRPr lang="en-US" sz="1100" dirty="0"/>
          </a:p>
        </p:txBody>
      </p:sp>
      <p:sp>
        <p:nvSpPr>
          <p:cNvPr id="31" name="Prediction card"/>
          <p:cNvSpPr/>
          <p:nvPr/>
        </p:nvSpPr>
        <p:spPr>
          <a:xfrm>
            <a:off x="6031382" y="2194560"/>
            <a:ext cx="1261872" cy="1828800"/>
          </a:xfrm>
          <a:prstGeom prst="roundRect">
            <a:avLst>
              <a:gd name="adj" fmla="val 5797"/>
            </a:avLst>
          </a:prstGeom>
          <a:solidFill>
            <a:srgbClr val="F3F5F7"/>
          </a:solidFill>
          <a:ln w="9525">
            <a:solidFill>
              <a:srgbClr val="DFE4E9"/>
            </a:solidFill>
            <a:prstDash val="solid"/>
          </a:ln>
        </p:spPr>
      </p:sp>
      <p:sp>
        <p:nvSpPr>
          <p:cNvPr id="32" name="Text 30"/>
          <p:cNvSpPr txBox="1"/>
          <p:nvPr/>
        </p:nvSpPr>
        <p:spPr>
          <a:xfrm>
            <a:off x="6141110"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Prediction</a:t>
            </a:r>
            <a:endParaRPr lang="en-US" sz="1400" dirty="0"/>
          </a:p>
        </p:txBody>
      </p:sp>
      <p:sp>
        <p:nvSpPr>
          <p:cNvPr id="33" name="Text 31"/>
          <p:cNvSpPr txBox="1"/>
          <p:nvPr/>
        </p:nvSpPr>
        <p:spPr>
          <a:xfrm>
            <a:off x="6141110"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Crossing test with a real person</a:t>
            </a:r>
            <a:endParaRPr lang="en-US" sz="1200" dirty="0"/>
          </a:p>
        </p:txBody>
      </p:sp>
      <p:sp>
        <p:nvSpPr>
          <p:cNvPr id="34" name="Field trial marker"/>
          <p:cNvSpPr/>
          <p:nvPr/>
        </p:nvSpPr>
        <p:spPr>
          <a:xfrm>
            <a:off x="7799832" y="1435608"/>
            <a:ext cx="512064" cy="512064"/>
          </a:xfrm>
          <a:prstGeom prst="ellipse">
            <a:avLst/>
          </a:prstGeom>
          <a:solidFill>
            <a:srgbClr val="0B7D73"/>
          </a:solidFill>
          <a:ln w="25400">
            <a:solidFill>
              <a:srgbClr val="FFFFFF"/>
            </a:solidFill>
            <a:prstDash val="solid"/>
          </a:ln>
        </p:spPr>
      </p:sp>
      <p:sp>
        <p:nvSpPr>
          <p:cNvPr id="35" name="Text 33"/>
          <p:cNvSpPr txBox="1"/>
          <p:nvPr/>
        </p:nvSpPr>
        <p:spPr>
          <a:xfrm>
            <a:off x="7799832" y="1435608"/>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6" name="Text 34"/>
          <p:cNvSpPr txBox="1"/>
          <p:nvPr/>
        </p:nvSpPr>
        <p:spPr>
          <a:xfrm>
            <a:off x="7424928" y="1143000"/>
            <a:ext cx="1261872" cy="256032"/>
          </a:xfrm>
          <a:prstGeom prst="rect">
            <a:avLst/>
          </a:prstGeom>
          <a:noFill/>
          <a:ln/>
        </p:spPr>
        <p:txBody>
          <a:bodyPr wrap="square" lIns="0" tIns="0" rIns="0" bIns="0" rtlCol="0" anchor="t"/>
          <a:lstStyle/>
          <a:p>
            <a:pPr algn="ctr" indent="0" marL="0">
              <a:buNone/>
            </a:pPr>
            <a:r>
              <a:rPr lang="en-US" sz="1100" b="1" dirty="0">
                <a:solidFill>
                  <a:schemeClr val="accent5"/>
                </a:solidFill>
              </a:rPr>
              <a:t>Wk 9–10</a:t>
            </a:r>
            <a:endParaRPr lang="en-US" sz="1100" dirty="0"/>
          </a:p>
        </p:txBody>
      </p:sp>
      <p:sp>
        <p:nvSpPr>
          <p:cNvPr id="37" name="Field trial card"/>
          <p:cNvSpPr/>
          <p:nvPr/>
        </p:nvSpPr>
        <p:spPr>
          <a:xfrm>
            <a:off x="7424928" y="2194560"/>
            <a:ext cx="1261872" cy="1828800"/>
          </a:xfrm>
          <a:prstGeom prst="roundRect">
            <a:avLst>
              <a:gd name="adj" fmla="val 5797"/>
            </a:avLst>
          </a:prstGeom>
          <a:solidFill>
            <a:srgbClr val="F3F5F7"/>
          </a:solidFill>
          <a:ln w="9525">
            <a:solidFill>
              <a:srgbClr val="DFE4E9"/>
            </a:solidFill>
            <a:prstDash val="solid"/>
          </a:ln>
        </p:spPr>
      </p:sp>
      <p:sp>
        <p:nvSpPr>
          <p:cNvPr id="38" name="Text 36"/>
          <p:cNvSpPr txBox="1"/>
          <p:nvPr/>
        </p:nvSpPr>
        <p:spPr>
          <a:xfrm>
            <a:off x="7534656" y="2331720"/>
            <a:ext cx="1042416" cy="502920"/>
          </a:xfrm>
          <a:prstGeom prst="rect">
            <a:avLst/>
          </a:prstGeom>
          <a:noFill/>
          <a:ln/>
        </p:spPr>
        <p:txBody>
          <a:bodyPr wrap="square" lIns="0" tIns="0" rIns="0" bIns="0" rtlCol="0" anchor="t"/>
          <a:lstStyle/>
          <a:p>
            <a:pPr indent="0" marL="0">
              <a:buNone/>
            </a:pPr>
            <a:r>
              <a:rPr lang="en-US" sz="1400" b="1" dirty="0">
                <a:solidFill>
                  <a:schemeClr val="tx1"/>
                </a:solidFill>
              </a:rPr>
              <a:t>Field trial</a:t>
            </a:r>
            <a:endParaRPr lang="en-US" sz="1400" dirty="0"/>
          </a:p>
        </p:txBody>
      </p:sp>
      <p:sp>
        <p:nvSpPr>
          <p:cNvPr id="39" name="Text 37"/>
          <p:cNvSpPr txBox="1"/>
          <p:nvPr/>
        </p:nvSpPr>
        <p:spPr>
          <a:xfrm>
            <a:off x="7534656" y="2880360"/>
            <a:ext cx="1042416" cy="1051560"/>
          </a:xfrm>
          <a:prstGeom prst="rect">
            <a:avLst/>
          </a:prstGeom>
          <a:noFill/>
          <a:ln/>
        </p:spPr>
        <p:txBody>
          <a:bodyPr wrap="square" lIns="0" tIns="0" rIns="0" bIns="0" rtlCol="0" anchor="t"/>
          <a:lstStyle/>
          <a:p>
            <a:pPr indent="0" marL="0">
              <a:buNone/>
            </a:pPr>
            <a:r>
              <a:rPr lang="en-US" sz="1200" dirty="0">
                <a:solidFill>
                  <a:schemeClr val="accent5"/>
                </a:solidFill>
              </a:rPr>
              <a:t>Supervised runs in a real corridor</a:t>
            </a:r>
            <a:endParaRPr lang="en-US" sz="1200" dirty="0"/>
          </a:p>
        </p:txBody>
      </p:sp>
      <p:sp>
        <p:nvSpPr>
          <p:cNvPr id="40" name="Works today"/>
          <p:cNvSpPr/>
          <p:nvPr/>
        </p:nvSpPr>
        <p:spPr>
          <a:xfrm>
            <a:off x="457200" y="4160520"/>
            <a:ext cx="4023360" cy="411480"/>
          </a:xfrm>
          <a:prstGeom prst="roundRect">
            <a:avLst>
              <a:gd name="adj" fmla="val 17778"/>
            </a:avLst>
          </a:prstGeom>
          <a:solidFill>
            <a:srgbClr val="E2F2F0"/>
          </a:solidFill>
          <a:ln/>
        </p:spPr>
      </p:sp>
      <p:sp>
        <p:nvSpPr>
          <p:cNvPr id="41" name="Text 39"/>
          <p:cNvSpPr txBox="1"/>
          <p:nvPr/>
        </p:nvSpPr>
        <p:spPr>
          <a:xfrm>
            <a:off x="594360" y="4160520"/>
            <a:ext cx="3840480" cy="411480"/>
          </a:xfrm>
          <a:prstGeom prst="rect">
            <a:avLst/>
          </a:prstGeom>
          <a:noFill/>
          <a:ln/>
        </p:spPr>
        <p:txBody>
          <a:bodyPr wrap="square" lIns="0" tIns="0" rIns="0" bIns="0" rtlCol="0" anchor="ctr"/>
          <a:lstStyle/>
          <a:p>
            <a:pPr indent="0" marL="0">
              <a:buNone/>
            </a:pPr>
            <a:r>
              <a:rPr lang="en-US" sz="1200" b="1" dirty="0">
                <a:solidFill>
                  <a:schemeClr val="accent1"/>
                </a:solidFill>
              </a:rPr>
              <a:t>Works today:  </a:t>
            </a:r>
            <a:pPr indent="0" marL="0">
              <a:buNone/>
            </a:pPr>
            <a:r>
              <a:rPr lang="en-US" sz="1200" dirty="0">
                <a:solidFill>
                  <a:schemeClr val="tx1"/>
                </a:solidFill>
              </a:rPr>
              <a:t>software, evaluation, Wokwi firmware</a:t>
            </a:r>
            <a:endParaRPr lang="en-US" sz="1200" dirty="0"/>
          </a:p>
        </p:txBody>
      </p:sp>
      <p:sp>
        <p:nvSpPr>
          <p:cNvPr id="42" name="Needs hardware"/>
          <p:cNvSpPr/>
          <p:nvPr/>
        </p:nvSpPr>
        <p:spPr>
          <a:xfrm>
            <a:off x="4663440" y="4160520"/>
            <a:ext cx="4023360" cy="411480"/>
          </a:xfrm>
          <a:prstGeom prst="roundRect">
            <a:avLst>
              <a:gd name="adj" fmla="val 17778"/>
            </a:avLst>
          </a:prstGeom>
          <a:solidFill>
            <a:srgbClr val="FDF1DC"/>
          </a:solidFill>
          <a:ln/>
        </p:spPr>
      </p:sp>
      <p:sp>
        <p:nvSpPr>
          <p:cNvPr id="43" name="Text 41"/>
          <p:cNvSpPr txBox="1"/>
          <p:nvPr/>
        </p:nvSpPr>
        <p:spPr>
          <a:xfrm>
            <a:off x="4800600" y="4160520"/>
            <a:ext cx="3840480" cy="411480"/>
          </a:xfrm>
          <a:prstGeom prst="rect">
            <a:avLst/>
          </a:prstGeom>
          <a:noFill/>
          <a:ln/>
        </p:spPr>
        <p:txBody>
          <a:bodyPr wrap="square" lIns="0" tIns="0" rIns="0" bIns="0" rtlCol="0" anchor="ctr"/>
          <a:lstStyle/>
          <a:p>
            <a:pPr indent="0" marL="0">
              <a:buNone/>
            </a:pPr>
            <a:r>
              <a:rPr lang="en-US" sz="1200" b="1" dirty="0">
                <a:solidFill>
                  <a:srgbClr val="9A5A00"/>
                </a:solidFill>
              </a:rPr>
              <a:t>Next:  </a:t>
            </a:r>
            <a:pPr indent="0" marL="0">
              <a:buNone/>
            </a:pPr>
            <a:r>
              <a:rPr lang="en-US" sz="1200" dirty="0">
                <a:solidFill>
                  <a:schemeClr val="tx1"/>
                </a:solidFill>
              </a:rPr>
              <a:t>real motors, real sensor noise, field trial</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822960"/>
            <a:ext cx="73152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VISTARA-X  ·  TEAM HACK01  ·  HACK IN HILLS '26</a:t>
            </a:r>
            <a:endParaRPr lang="en-US" sz="1400" dirty="0"/>
          </a:p>
        </p:txBody>
      </p:sp>
      <p:sp>
        <p:nvSpPr>
          <p:cNvPr id="3" name="Text 0"/>
          <p:cNvSpPr/>
          <p:nvPr>
            <p:ph idx="100" type="title" hasCustomPrompt="1"/>
          </p:nvPr>
        </p:nvSpPr>
        <p:spPr>
          <a:xfrm>
            <a:off x="548640" y="1417320"/>
            <a:ext cx="8046720" cy="1005840"/>
          </a:xfrm>
          <a:prstGeom prst="rect">
            <a:avLst/>
          </a:prstGeom>
          <a:noFill/>
          <a:ln/>
        </p:spPr>
        <p:txBody>
          <a:bodyPr wrap="square" lIns="0" tIns="0" rIns="0" bIns="0" rtlCol="0" anchor="ctr"/>
          <a:lstStyle/>
          <a:p>
            <a:pPr algn="l" indent="0" marL="0">
              <a:buNone/>
            </a:pPr>
            <a:r>
              <a:rPr lang="en-US" sz="4400" b="1" dirty="0">
                <a:solidFill>
                  <a:schemeClr val="bg1"/>
                </a:solidFill>
                <a:latin typeface="Arial" pitchFamily="34" charset="0"/>
                <a:ea typeface="Arial" pitchFamily="34" charset="-122"/>
                <a:cs typeface="Arial" pitchFamily="34" charset="-120"/>
              </a:rPr>
              <a:t>Thank you</a:t>
            </a:r>
            <a:endParaRPr lang="en-US" sz="4400" dirty="0"/>
          </a:p>
        </p:txBody>
      </p:sp>
      <p:sp>
        <p:nvSpPr>
          <p:cNvPr id="4" name="Text 0"/>
          <p:cNvSpPr/>
          <p:nvPr>
            <p:ph idx="101" type="body" hasCustomPrompt="1"/>
          </p:nvPr>
        </p:nvSpPr>
        <p:spPr>
          <a:xfrm>
            <a:off x="548640" y="2468880"/>
            <a:ext cx="8046720" cy="548640"/>
          </a:xfrm>
          <a:prstGeom prst="rect">
            <a:avLst/>
          </a:prstGeom>
          <a:noFill/>
          <a:ln/>
        </p:spPr>
        <p:txBody>
          <a:bodyPr wrap="square" lIns="0" tIns="0" rIns="0" bIns="0" rtlCol="0" anchor="t"/>
          <a:lstStyle/>
          <a:p>
            <a:pPr algn="l" indent="0" marL="0">
              <a:buNone/>
            </a:pPr>
            <a:r>
              <a:rPr lang="en-US" sz="2000" dirty="0">
                <a:solidFill>
                  <a:schemeClr val="accent6"/>
                </a:solidFill>
              </a:rPr>
              <a:t>Beyond seeing. Into understanding.</a:t>
            </a:r>
            <a:endParaRPr lang="en-US" sz="2000" dirty="0"/>
          </a:p>
        </p:txBody>
      </p:sp>
      <p:sp>
        <p:nvSpPr>
          <p:cNvPr id="5" name="GitHub circle"/>
          <p:cNvSpPr/>
          <p:nvPr/>
        </p:nvSpPr>
        <p:spPr>
          <a:xfrm>
            <a:off x="548640" y="3246120"/>
            <a:ext cx="502920" cy="502920"/>
          </a:xfrm>
          <a:prstGeom prst="ellipse">
            <a:avLst/>
          </a:prstGeom>
          <a:solidFill>
            <a:srgbClr val="0B7D73"/>
          </a:solidFill>
          <a:ln/>
        </p:spPr>
      </p:sp>
      <p:pic>
        <p:nvPicPr>
          <p:cNvPr id="6" name="GitHub icon" descr="GitHub">    </p:cNvPr>
          <p:cNvPicPr>
            <a:picLocks noChangeAspect="1"/>
          </p:cNvPicPr>
          <p:nvPr/>
        </p:nvPicPr>
        <p:blipFill>
          <a:blip r:embed="rId1"/>
          <a:stretch>
            <a:fillRect/>
          </a:stretch>
        </p:blipFill>
        <p:spPr>
          <a:xfrm>
            <a:off x="669341" y="3366821"/>
            <a:ext cx="261518" cy="261518"/>
          </a:xfrm>
          <a:prstGeom prst="rect">
            <a:avLst/>
          </a:prstGeom>
        </p:spPr>
      </p:pic>
      <p:sp>
        <p:nvSpPr>
          <p:cNvPr id="7" name="Text 4"/>
          <p:cNvSpPr txBox="1"/>
          <p:nvPr/>
        </p:nvSpPr>
        <p:spPr>
          <a:xfrm>
            <a:off x="1188720" y="3246120"/>
            <a:ext cx="5486400" cy="502920"/>
          </a:xfrm>
          <a:prstGeom prst="rect">
            <a:avLst/>
          </a:prstGeom>
          <a:noFill/>
          <a:ln/>
        </p:spPr>
        <p:txBody>
          <a:bodyPr wrap="square" lIns="0" tIns="0" rIns="0" bIns="0" rtlCol="0" anchor="ctr"/>
          <a:lstStyle/>
          <a:p>
            <a:pPr indent="0" marL="0">
              <a:buNone/>
            </a:pPr>
            <a:r>
              <a:rPr lang="en-US" sz="1600" b="1"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github.com/RiteshKumar2e/VISTARA-X</a:t>
            </a:r>
            <a:endParaRPr lang="en-US" sz="1600" dirty="0"/>
          </a:p>
        </p:txBody>
      </p:sp>
      <p:sp>
        <p:nvSpPr>
          <p:cNvPr id="8" name="Text 5"/>
          <p:cNvSpPr txBox="1"/>
          <p:nvPr/>
        </p:nvSpPr>
        <p:spPr>
          <a:xfrm>
            <a:off x="1188720" y="3749040"/>
            <a:ext cx="6400800" cy="320040"/>
          </a:xfrm>
          <a:prstGeom prst="rect">
            <a:avLst/>
          </a:prstGeom>
          <a:noFill/>
          <a:ln/>
        </p:spPr>
        <p:txBody>
          <a:bodyPr wrap="square" lIns="0" tIns="0" rIns="0" bIns="0" rtlCol="0" anchor="t"/>
          <a:lstStyle/>
          <a:p>
            <a:pPr indent="0" marL="0">
              <a:buNone/>
            </a:pPr>
            <a:r>
              <a:rPr lang="en-US" sz="1300" dirty="0">
                <a:solidFill>
                  <a:schemeClr val="bg2"/>
                </a:solidFill>
              </a:rPr>
              <a:t>Code, evaluation results, hardware design, circuit and Wokwi simulation</a:t>
            </a:r>
            <a:endParaRPr lang="en-US" sz="1300" dirty="0"/>
          </a:p>
        </p:txBody>
      </p:sp>
    </p:spTree>
  </p:cSld>
  <p:clrMapOvr>
    <a:masterClrMapping/>
  </p:clrMapOvr>
</p:sld>
</file>

<file path=ppt/theme/theme1.xml><?xml version="1.0" encoding="utf-8"?>
<a:theme xmlns:a="http://schemas.openxmlformats.org/drawingml/2006/main" name="VISTARA-X">
  <a:themeElements>
    <a:clrScheme name="VISTARA-X">
      <a:dk1>
        <a:srgbClr val="101820"/>
      </a:dk1>
      <a:lt1>
        <a:srgbClr val="FFFFFF"/>
      </a:lt1>
      <a:dk2>
        <a:srgbClr val="0D1114"/>
      </a:dk2>
      <a:lt2>
        <a:srgbClr val="F3F5F7"/>
      </a:lt2>
      <a:accent1>
        <a:srgbClr val="0B7D73"/>
      </a:accent1>
      <a:accent2>
        <a:srgbClr val="D9A441"/>
      </a:accent2>
      <a:accent3>
        <a:srgbClr val="C0352A"/>
      </a:accent3>
      <a:accent4>
        <a:srgbClr val="7C5CE0"/>
      </a:accent4>
      <a:accent5>
        <a:srgbClr val="4B5866"/>
      </a:accent5>
      <a:accent6>
        <a:srgbClr val="2FD6C6"/>
      </a:accent6>
      <a:hlink>
        <a:srgbClr val="0B7D73"/>
      </a:hlink>
      <a:folHlink>
        <a:srgbClr val="7C5CE0"/>
      </a:folHlink>
    </a:clrScheme>
    <a:fontScheme name="VISTARA-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VISTARA-X: Predictive Autonomous Navigation</dc:title>
  <dc:subject>PptxGenJS Presentation</dc:subject>
  <dc:creator>Team Hack01</dc:creator>
  <cp:lastModifiedBy>Team Hack01</cp:lastModifiedBy>
  <cp:revision>1</cp:revision>
  <dcterms:created xsi:type="dcterms:W3CDTF">2026-10-24T05:03:41Z</dcterms:created>
  <dcterms:modified xsi:type="dcterms:W3CDTF">2026-10-24T05:03:41Z</dcterms:modified>
</cp:coreProperties>
</file>