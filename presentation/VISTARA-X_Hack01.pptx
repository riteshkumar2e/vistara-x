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7a20f3e-62e0-1753-52bb-bc238edadef4}">
          <p14:sldIdLst>
            <p14:sldId id="256"/>
            <p14:sldId id="257"/>
          </p14:sldIdLst>
        </p14:section>
        <p14:section name="Solution" id="{dfab33f6-a2c9-20e0-20c6-5b752aafabfe}">
          <p14:sldIdLst>
            <p14:sldId id="258"/>
            <p14:sldId id="259"/>
            <p14:sldId id="260"/>
            <p14:sldId id="261"/>
          </p14:sldIdLst>
        </p14:section>
        <p14:section name="Hardware" id="{36654b69-1180-e2fc-072e-2ece3a4e5fec}">
          <p14:sldIdLst>
            <p14:sldId id="262"/>
            <p14:sldId id="263"/>
            <p14:sldId id="264"/>
            <p14:sldId id="265"/>
            <p14:sldId id="266"/>
            <p14:sldId id="267"/>
            <p14:sldId id="268"/>
            <p14:sldId id="269"/>
          </p14:sldIdLst>
        </p14:section>
        <p14:section name="Close" id="{d953d218-c61c-681f-5b6c-3fa1b9b8bff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9 crossing runs per mode</a:t>
            </a:r>
          </a:p>
        </c:rich>
      </c:tx>
      <c:layout/>
      <c:overlay val="0"/>
    </c:title>
    <c:autoTitleDeleted val="0"/>
    <c:plotArea>
      <c:layout/>
      <c:barChart>
        <c:barDir val="col"/>
        <c:grouping val="clustered"/>
        <c:varyColors val="0"/>
        <c:ser>
          <c:idx val="0"/>
          <c:order val="0"/>
          <c:tx>
            <c:strRef>
              <c:f>Sheet1!$B$1</c:f>
              <c:strCache>
                <c:ptCount val="1"/>
                <c:pt idx="0">
                  <c:v>Predictive</c:v>
                </c:pt>
              </c:strCache>
            </c:strRef>
          </c:tx>
          <c:spPr>
            <a:solidFill>
              <a:srgbClr val="0F8F83"/>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Sheet1!$B$2:$B$4</c:f>
              <c:numCache>
                <c:formatCode>General</c:formatCode>
                <c:ptCount val="3"/>
                <c:pt idx="0">
                  <c:v>9</c:v>
                </c:pt>
                <c:pt idx="1">
                  <c:v>0</c:v>
                </c:pt>
                <c:pt idx="2">
                  <c:v>0</c:v>
                </c:pt>
              </c:numCache>
            </c:numRef>
          </c:val>
        </c:ser>
        <c:ser>
          <c:idx val="1"/>
          <c:order val="1"/>
          <c:tx>
            <c:strRef>
              <c:f>Sheet1!$C$1</c:f>
              <c:strCache>
                <c:ptCount val="1"/>
                <c:pt idx="0">
                  <c:v>Reactive baseline</c:v>
                </c:pt>
              </c:strCache>
            </c:strRef>
          </c:tx>
          <c:spPr>
            <a:solidFill>
              <a:srgbClr val="7C5CE0"/>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Sheet1!$C$2:$C$4</c:f>
              <c:numCache>
                <c:formatCode>General</c:formatCode>
                <c:ptCount val="3"/>
                <c:pt idx="0">
                  <c:v>7</c:v>
                </c:pt>
                <c:pt idx="1">
                  <c:v>2</c:v>
                </c:pt>
                <c:pt idx="2">
                  <c:v>3</c:v>
                </c:pt>
              </c:numCache>
            </c:numRef>
          </c:val>
        </c:ser>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866"/>
                </a:solidFill>
                <a:latin typeface="+mn-lt"/>
              </a:defRPr>
            </a:pPr>
            <a:endParaRPr lang="en-US"/>
          </a:p>
        </c:txPr>
        <c:crossAx val="2094734552"/>
        <c:crosses val="autoZero"/>
        <c:auto val="1"/>
        <c:lblAlgn val="ctr"/>
        <c:noMultiLvlLbl val="1"/>
      </c:catAx>
      <c:valAx>
        <c:axId val="2094734552"/>
        <c:scaling>
          <c:orientation val="minMax"/>
          <c:max val="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Cost by group (₹ thousand)</a:t>
            </a:r>
          </a:p>
        </c:rich>
      </c:tx>
      <c:layout/>
      <c:overlay val="0"/>
    </c:title>
    <c:autoTitleDeleted val="0"/>
    <c:plotArea>
      <c:layout/>
      <c:doughnutChart>
        <c:varyColors val="1"/>
        <c:ser>
          <c:idx val="0"/>
          <c:order val="0"/>
          <c:tx>
            <c:strRef>
              <c:f>Sheet1!$B$1</c:f>
              <c:strCache>
                <c:ptCount val="1"/>
                <c:pt idx="0">
                  <c:v>Cost (₹ thousand)</c:v>
                </c:pt>
              </c:strCache>
            </c:strRef>
          </c:tx>
          <c:spPr>
            <a:solidFill>
              <a:schemeClr val="accent1"/>
            </a:solidFill>
            <a:ln w="9525" cap="flat">
              <a:solidFill>
                <a:srgbClr val="F9F9F9"/>
              </a:solidFill>
              <a:prstDash val="solid"/>
              <a:round/>
            </a:ln>
            <a:effectLst/>
          </c:spPr>
          <c:dPt>
            <c:idx val="0"/>
            <c:bubble3D val="0"/>
            <c:spPr>
              <a:solidFill>
                <a:srgbClr val="0B7D73"/>
              </a:solidFill>
              <a:effectLst/>
            </c:spPr>
          </c:dPt>
          <c:dPt>
            <c:idx val="1"/>
            <c:bubble3D val="0"/>
            <c:spPr>
              <a:solidFill>
                <a:srgbClr val="0D1114"/>
              </a:solidFill>
              <a:effectLst/>
            </c:spPr>
          </c:dPt>
          <c:dPt>
            <c:idx val="2"/>
            <c:bubble3D val="0"/>
            <c:spPr>
              <a:solidFill>
                <a:srgbClr val="D9A441"/>
              </a:solidFill>
              <a:effectLst/>
            </c:spPr>
          </c:dPt>
          <c:dPt>
            <c:idx val="3"/>
            <c:bubble3D val="0"/>
            <c:spPr>
              <a:solidFill>
                <a:srgbClr val="7C5CE0"/>
              </a:solidFill>
              <a:effectLst/>
            </c:spPr>
          </c:dPt>
          <c:dPt>
            <c:idx val="4"/>
            <c:bubble3D val="0"/>
            <c:spPr>
              <a:solidFill>
                <a:srgbClr val="C0352A"/>
              </a:solidFill>
              <a:effectLst/>
            </c:spPr>
          </c:dPt>
          <c:dPt>
            <c:idx val="5"/>
            <c:bubble3D val="0"/>
            <c:spPr>
              <a:solidFill>
                <a:srgbClr val="8FA3B0"/>
              </a:solidFill>
              <a:effectLst/>
            </c:spPr>
          </c:dPt>
          <c:dLbls>
            <c:dLbl>
              <c:idx val="0"/>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1"/>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2"/>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3"/>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4"/>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5"/>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numFmt formatCode="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LiDAR</c:v>
                </c:pt>
                <c:pt idx="1">
                  <c:v>Drive + chassis</c:v>
                </c:pt>
                <c:pt idx="2">
                  <c:v>Power + safety</c:v>
                </c:pt>
                <c:pt idx="3">
                  <c:v>Arduino + sensors</c:v>
                </c:pt>
                <c:pt idx="4">
                  <c:v>Camera</c:v>
                </c:pt>
                <c:pt idx="5">
                  <c:v>Cables + USB hub</c:v>
                </c:pt>
              </c:strCache>
            </c:strRef>
          </c:cat>
          <c:val>
            <c:numRef>
              <c:f>Sheet1!$B$2:$B$7</c:f>
              <c:numCache>
                <c:ptCount val="6"/>
                <c:pt idx="0">
                  <c:v>8.5</c:v>
                </c:pt>
                <c:pt idx="1">
                  <c:v>5.3</c:v>
                </c:pt>
                <c:pt idx="2">
                  <c:v>2.5</c:v>
                </c:pt>
                <c:pt idx="3">
                  <c:v>1.8</c:v>
                </c:pt>
                <c:pt idx="4">
                  <c:v>1.6</c:v>
                </c:pt>
                <c:pt idx="5">
                  <c:v>1.3</c:v>
                </c:pt>
              </c:numCache>
            </c:numRef>
          </c:val>
        </c:ser>
        <c:firstSliceAng val="0"/>
        <c:holeSize val="55"/>
      </c:doughnutChart>
      <c:spPr>
        <a:noFill/>
        <a:ln>
          <a:noFill/>
        </a:ln>
        <a:effectLst/>
      </c:spPr>
    </c:plotArea>
    <c:legend>
      <c:legendPos val="r"/>
      <c:overlay val="0"/>
      <c:txPr>
        <a:bodyPr/>
        <a:lstStyle/>
        <a:p>
          <a:pPr>
            <a:defRPr sz="11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VISTARA-X is a vision-based autonomous navigation system. Its key idea: it does not just react to obstacles, it predicts conflicts with moving people and objects and acts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reactive robots only brake for what is directly in front of them. In real buildings people walk into the robot's path and don't give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observe, detect, track, predict, assess risk, decide, plan, move, monitor, replan. Tracking, prediction and risk assessment are what a normal reactive robot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Detect from LiDAR against the prior map, track with Kalman filters, predict 0.5 to 3 seconds ahead with uncertainty, and choose the fastest safe speed by rolling out the robot's own motion. Every decision has a human-readable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evaluation script runs the same 9 crossing variants with prediction on and off. Predictive: 9 of 9 goals, zero collisions, zero near misses. Reactive: 2 collisions and 3 near misses. The cost is about 1.5 seconds per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navigation: Hindi and Hinglish voice commands, SLAM mapping, a full delivery workflow, a 3D digital twin, accessibility, and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we designed for: a laptop on the robot runs our existing backend, a webcam and an RPLIDAR give vision and range, and an Arduino Mega handles motors, ultrasonic sensors, IMU and safety. No Raspberry Pi is needed: an Arduino has 8 KB of RAM and cannot run YOLO, SLAM or Whisper, so the laptop does that. Full specs, prices and wiring are in hardware/README.md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runs all the intelligence and sends one velocity command 20 times a second. The Arduino Mega executes it but enforces safety on its own: watchdog, ultrasonic slow and stop, battery cut-off. The emergency stop cuts motor power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have not built the robot yet, we simulate the hardware at two levels. The whole robot and its sensors in PyBullet, and the Arduino Mega electronics with the real pin map in Wokwi, where the firmware enforces the safety rules. You can press the E-stop or move an obstacle in Wokwi and watch the motors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Sense: six ultrasonic sensors, wheel encoders, the IMU, the E-stop and the battery level go into the Arduino. Think: the laptop is the AI brain and sends a speed command; the Arduino checks four safety rules every 20 milliseconds. Act: it drives the motors, beeps the buzzer and sets the status LED. The power path is separate, so the E-stop cuts only the wheels and the brain keeps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wiring of the Arduino Mega. Motor driver on pins 5 to 8, wheel encoders on interrupt pins 2 and 3, the six ultrasonic sensors on pins 30 to 41, the IMU on I2C, the battery on A0 and the emergency stop on pin 26. The laptop connects over USB, or Bluetooth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in the Wokwi simulator with the same pin map as the real robot. Motor LEDs show the PWM. Moving an ultrasonic sensor's distance slows or stops the robot, the E-stop cuts everything at once and stays latched, and the battery knob triggers the low-battery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laptop we already own does the computing, the robot costs about 21 thousand rupees. A depth camera is an optional upgrade. Runtime is about two hours, limited by the laptop battery, and the software already returns the robot to its dock at low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 a real robot takes about ten weeks. Phase one is already de-risked, because the same Arduino firmware runs in Wokwi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scope: everything on the left runs and is tested in simulation. The right column needs the physical robot, and our build plan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Everything is on GitHub: the code, the evaluation, the hardware design and the Wokwi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3" name="Text 0"/>
          <p:cNvSpPr/>
          <p:nvPr>
            <p:ph idx="101" type="body" hasCustomPrompt="1"/>
          </p:nvPr>
        </p:nvSpPr>
        <p:spPr>
          <a:xfrm>
            <a:off x="548640" y="2468880"/>
            <a:ext cx="8046720" cy="5486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1"/>
                </a:solidFill>
                <a:latin typeface="Arial" pitchFamily="34" charset="0"/>
                <a:ea typeface="Arial" pitchFamily="34" charset="-122"/>
                <a:cs typeface="Arial"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VISTARA-X  ·  Team Hack01  ·  Hack in Hills '26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RiteshKumar2e/VISTARA-X" TargetMode="External"/><Relationship Id="rId1"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54864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VISTARA-X</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Predictive autonomous navigation: beyond seeing, into understanding</a:t>
            </a:r>
            <a:endParaRPr lang="en-US" sz="2000" dirty="0"/>
          </a:p>
        </p:txBody>
      </p:sp>
      <p:sp>
        <p:nvSpPr>
          <p:cNvPr id="5" name="Text 3"/>
          <p:cNvSpPr txBox="1"/>
          <p:nvPr/>
        </p:nvSpPr>
        <p:spPr>
          <a:xfrm>
            <a:off x="548640" y="3154680"/>
            <a:ext cx="5852160" cy="822960"/>
          </a:xfrm>
          <a:prstGeom prst="rect">
            <a:avLst/>
          </a:prstGeom>
          <a:noFill/>
          <a:ln/>
        </p:spPr>
        <p:txBody>
          <a:bodyPr wrap="square" lIns="0" tIns="0" rIns="0" bIns="0" rtlCol="0" anchor="t"/>
          <a:lstStyle/>
          <a:p>
            <a:pPr indent="0" marL="0">
              <a:buNone/>
            </a:pPr>
            <a:r>
              <a:rPr lang="en-US" sz="1600" dirty="0">
                <a:solidFill>
                  <a:schemeClr val="bg2"/>
                </a:solidFill>
              </a:rPr>
              <a:t>A robot that tracks moving people and objects, predicts where they will be in the next 3 seconds, and slows, waits or re-routes before a conflict happens.</a:t>
            </a:r>
            <a:endParaRPr lang="en-US" sz="1600" dirty="0"/>
          </a:p>
        </p:txBody>
      </p:sp>
      <p:sp>
        <p:nvSpPr>
          <p:cNvPr id="6" name="Text 4"/>
          <p:cNvSpPr txBox="1"/>
          <p:nvPr/>
        </p:nvSpPr>
        <p:spPr>
          <a:xfrm>
            <a:off x="548640" y="4160520"/>
            <a:ext cx="4572000" cy="548640"/>
          </a:xfrm>
          <a:prstGeom prst="rect">
            <a:avLst/>
          </a:prstGeom>
          <a:noFill/>
          <a:ln/>
        </p:spPr>
        <p:txBody>
          <a:bodyPr wrap="square" lIns="0" tIns="0" rIns="0" bIns="0" rtlCol="0" anchor="t"/>
          <a:lstStyle/>
          <a:p>
            <a:pPr indent="0" marL="0">
              <a:buNone/>
            </a:pPr>
            <a:r>
              <a:rPr lang="en-US" sz="1400" dirty="0">
                <a:solidFill>
                  <a:schemeClr val="bg2"/>
                </a:solidFill>
              </a:rPr>
              <a:t>Ritesh Kumar  ·  Backend and AI/ML</a:t>
            </a:r>
            <a:endParaRPr lang="en-US" sz="1400" dirty="0"/>
          </a:p>
          <a:p>
            <a:pPr indent="0" marL="0">
              <a:buNone/>
            </a:pPr>
            <a:r>
              <a:rPr lang="en-US" sz="1400" dirty="0">
                <a:solidFill>
                  <a:schemeClr val="bg2"/>
                </a:solidFill>
              </a:rPr>
              <a:t>Kainat Afrazi  ·  Frontend</a:t>
            </a:r>
            <a:endParaRPr lang="en-US" sz="1400" dirty="0"/>
          </a:p>
        </p:txBody>
      </p:sp>
      <p:sp>
        <p:nvSpPr>
          <p:cNvPr id="7" name="Robot circle"/>
          <p:cNvSpPr/>
          <p:nvPr/>
        </p:nvSpPr>
        <p:spPr>
          <a:xfrm>
            <a:off x="6903720" y="3063240"/>
            <a:ext cx="1554480" cy="1554480"/>
          </a:xfrm>
          <a:prstGeom prst="ellipse">
            <a:avLst/>
          </a:prstGeom>
          <a:solidFill>
            <a:srgbClr val="0B7D73"/>
          </a:solidFill>
          <a:ln/>
        </p:spPr>
      </p:sp>
      <p:pic>
        <p:nvPicPr>
          <p:cNvPr id="8" name="Robot icon" descr="Robot">    </p:cNvPr>
          <p:cNvPicPr>
            <a:picLocks noChangeAspect="1"/>
          </p:cNvPicPr>
          <p:nvPr/>
        </p:nvPicPr>
        <p:blipFill>
          <a:blip r:embed="rId1"/>
          <a:stretch>
            <a:fillRect/>
          </a:stretch>
        </p:blipFill>
        <p:spPr>
          <a:xfrm>
            <a:off x="7276795" y="3436315"/>
            <a:ext cx="808330" cy="80833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Robots react too late</a:t>
            </a:r>
            <a:endParaRPr lang="en-US" sz="3000" dirty="0"/>
          </a:p>
        </p:txBody>
      </p:sp>
      <p:sp>
        <p:nvSpPr>
          <p:cNvPr id="3" name="Text 1"/>
          <p:cNvSpPr txBox="1"/>
          <p:nvPr/>
        </p:nvSpPr>
        <p:spPr>
          <a:xfrm>
            <a:off x="457200" y="1143000"/>
            <a:ext cx="3931920" cy="731520"/>
          </a:xfrm>
          <a:prstGeom prst="rect">
            <a:avLst/>
          </a:prstGeom>
          <a:noFill/>
          <a:ln/>
        </p:spPr>
        <p:txBody>
          <a:bodyPr wrap="square" lIns="0" tIns="0" rIns="0" bIns="0" rtlCol="0" anchor="t"/>
          <a:lstStyle/>
          <a:p>
            <a:pPr indent="0" marL="0">
              <a:buNone/>
            </a:pPr>
            <a:r>
              <a:rPr lang="en-US" sz="1800" b="1" dirty="0">
                <a:solidFill>
                  <a:schemeClr val="tx1"/>
                </a:solidFill>
              </a:rPr>
              <a:t>Most indoor robots stop only when something is already in front of them.</a:t>
            </a:r>
            <a:endParaRPr lang="en-US" sz="1800" dirty="0"/>
          </a:p>
        </p:txBody>
      </p:sp>
      <p:sp>
        <p:nvSpPr>
          <p:cNvPr id="4" name="Text 2"/>
          <p:cNvSpPr txBox="1"/>
          <p:nvPr/>
        </p:nvSpPr>
        <p:spPr>
          <a:xfrm>
            <a:off x="457200" y="2011680"/>
            <a:ext cx="3931920" cy="23774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5"/>
                </a:solidFill>
              </a:rPr>
              <a:t>A stop does not stop a person who is walking into the robot.</a:t>
            </a:r>
            <a:endParaRPr lang="en-US" sz="1500" dirty="0"/>
          </a:p>
          <a:p>
            <a:pPr marL="342900" indent="-342900">
              <a:spcAft>
                <a:spcPts val="1000"/>
              </a:spcAft>
              <a:buSzPct val="100000"/>
              <a:buChar char="•"/>
            </a:pPr>
            <a:r>
              <a:rPr lang="en-US" sz="1500" dirty="0">
                <a:solidFill>
                  <a:schemeClr val="accent5"/>
                </a:solidFill>
              </a:rPr>
              <a:t>Hospitals, warehouses and campuses are full of people who do not give way.</a:t>
            </a:r>
            <a:endParaRPr lang="en-US" sz="1500" dirty="0"/>
          </a:p>
          <a:p>
            <a:pPr marL="342900" indent="-342900">
              <a:spcAft>
                <a:spcPts val="1000"/>
              </a:spcAft>
              <a:buSzPct val="100000"/>
              <a:buChar char="•"/>
            </a:pPr>
            <a:r>
              <a:rPr lang="en-US" sz="1500" dirty="0">
                <a:solidFill>
                  <a:schemeClr val="accent5"/>
                </a:solidFill>
              </a:rPr>
              <a:t>A robot must know where people are going, not only where they are.</a:t>
            </a:r>
            <a:endParaRPr lang="en-US" sz="1500" dirty="0"/>
          </a:p>
        </p:txBody>
      </p:sp>
      <p:sp>
        <p:nvSpPr>
          <p:cNvPr id="5" name="Hospital ward card"/>
          <p:cNvSpPr/>
          <p:nvPr/>
        </p:nvSpPr>
        <p:spPr>
          <a:xfrm>
            <a:off x="4754880" y="1188720"/>
            <a:ext cx="3931920" cy="960120"/>
          </a:xfrm>
          <a:prstGeom prst="roundRect">
            <a:avLst>
              <a:gd name="adj" fmla="val 7619"/>
            </a:avLst>
          </a:prstGeom>
          <a:solidFill>
            <a:srgbClr val="F3F5F7"/>
          </a:solidFill>
          <a:ln w="9525">
            <a:solidFill>
              <a:srgbClr val="DFE4E9"/>
            </a:solidFill>
            <a:prstDash val="solid"/>
          </a:ln>
        </p:spPr>
      </p:sp>
      <p:sp>
        <p:nvSpPr>
          <p:cNvPr id="6" name="Hospital ward circle"/>
          <p:cNvSpPr/>
          <p:nvPr/>
        </p:nvSpPr>
        <p:spPr>
          <a:xfrm>
            <a:off x="4937760" y="1371600"/>
            <a:ext cx="594360" cy="594360"/>
          </a:xfrm>
          <a:prstGeom prst="ellipse">
            <a:avLst/>
          </a:prstGeom>
          <a:solidFill>
            <a:srgbClr val="E2F2F0"/>
          </a:solidFill>
          <a:ln/>
        </p:spPr>
      </p:sp>
      <p:pic>
        <p:nvPicPr>
          <p:cNvPr id="7" name="Hospital ward icon" descr="Hospital ward">    </p:cNvPr>
          <p:cNvPicPr>
            <a:picLocks noChangeAspect="1"/>
          </p:cNvPicPr>
          <p:nvPr/>
        </p:nvPicPr>
        <p:blipFill>
          <a:blip r:embed="rId1"/>
          <a:stretch>
            <a:fillRect/>
          </a:stretch>
        </p:blipFill>
        <p:spPr>
          <a:xfrm>
            <a:off x="5080406" y="1514246"/>
            <a:ext cx="309067" cy="309067"/>
          </a:xfrm>
          <a:prstGeom prst="rect">
            <a:avLst/>
          </a:prstGeom>
        </p:spPr>
      </p:pic>
      <p:sp>
        <p:nvSpPr>
          <p:cNvPr id="8" name="Text 5"/>
          <p:cNvSpPr txBox="1"/>
          <p:nvPr/>
        </p:nvSpPr>
        <p:spPr>
          <a:xfrm>
            <a:off x="5715000" y="1344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Hospital ward</a:t>
            </a:r>
            <a:endParaRPr lang="en-US" sz="1500" dirty="0"/>
          </a:p>
        </p:txBody>
      </p:sp>
      <p:sp>
        <p:nvSpPr>
          <p:cNvPr id="9" name="Text 6"/>
          <p:cNvSpPr txBox="1"/>
          <p:nvPr/>
        </p:nvSpPr>
        <p:spPr>
          <a:xfrm>
            <a:off x="5715000" y="1645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Nurses, visitors and trolleys in narrow corridors</a:t>
            </a:r>
            <a:endParaRPr lang="en-US" sz="1200" dirty="0"/>
          </a:p>
        </p:txBody>
      </p:sp>
      <p:sp>
        <p:nvSpPr>
          <p:cNvPr id="10" name="Warehouse card"/>
          <p:cNvSpPr/>
          <p:nvPr/>
        </p:nvSpPr>
        <p:spPr>
          <a:xfrm>
            <a:off x="4754880" y="2331720"/>
            <a:ext cx="3931920" cy="960120"/>
          </a:xfrm>
          <a:prstGeom prst="roundRect">
            <a:avLst>
              <a:gd name="adj" fmla="val 7619"/>
            </a:avLst>
          </a:prstGeom>
          <a:solidFill>
            <a:srgbClr val="F3F5F7"/>
          </a:solidFill>
          <a:ln w="9525">
            <a:solidFill>
              <a:srgbClr val="DFE4E9"/>
            </a:solidFill>
            <a:prstDash val="solid"/>
          </a:ln>
        </p:spPr>
      </p:sp>
      <p:sp>
        <p:nvSpPr>
          <p:cNvPr id="11" name="Warehouse circle"/>
          <p:cNvSpPr/>
          <p:nvPr/>
        </p:nvSpPr>
        <p:spPr>
          <a:xfrm>
            <a:off x="4937760" y="2514600"/>
            <a:ext cx="594360" cy="594360"/>
          </a:xfrm>
          <a:prstGeom prst="ellipse">
            <a:avLst/>
          </a:prstGeom>
          <a:solidFill>
            <a:srgbClr val="E2F2F0"/>
          </a:solidFill>
          <a:ln/>
        </p:spPr>
      </p:sp>
      <p:pic>
        <p:nvPicPr>
          <p:cNvPr id="12" name="Warehouse icon" descr="Warehouse">    </p:cNvPr>
          <p:cNvPicPr>
            <a:picLocks noChangeAspect="1"/>
          </p:cNvPicPr>
          <p:nvPr/>
        </p:nvPicPr>
        <p:blipFill>
          <a:blip r:embed="rId2"/>
          <a:stretch>
            <a:fillRect/>
          </a:stretch>
        </p:blipFill>
        <p:spPr>
          <a:xfrm>
            <a:off x="5080406" y="2657246"/>
            <a:ext cx="309067" cy="309067"/>
          </a:xfrm>
          <a:prstGeom prst="rect">
            <a:avLst/>
          </a:prstGeom>
        </p:spPr>
      </p:pic>
      <p:sp>
        <p:nvSpPr>
          <p:cNvPr id="13" name="Text 9"/>
          <p:cNvSpPr txBox="1"/>
          <p:nvPr/>
        </p:nvSpPr>
        <p:spPr>
          <a:xfrm>
            <a:off x="5715000" y="2487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Warehouse</a:t>
            </a:r>
            <a:endParaRPr lang="en-US" sz="1500" dirty="0"/>
          </a:p>
        </p:txBody>
      </p:sp>
      <p:sp>
        <p:nvSpPr>
          <p:cNvPr id="14" name="Text 10"/>
          <p:cNvSpPr txBox="1"/>
          <p:nvPr/>
        </p:nvSpPr>
        <p:spPr>
          <a:xfrm>
            <a:off x="5715000" y="2788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Carts and workers crossing the aisles</a:t>
            </a:r>
            <a:endParaRPr lang="en-US" sz="1200" dirty="0"/>
          </a:p>
        </p:txBody>
      </p:sp>
      <p:sp>
        <p:nvSpPr>
          <p:cNvPr id="15" name="University campus card"/>
          <p:cNvSpPr/>
          <p:nvPr/>
        </p:nvSpPr>
        <p:spPr>
          <a:xfrm>
            <a:off x="4754880" y="3474720"/>
            <a:ext cx="3931920" cy="960120"/>
          </a:xfrm>
          <a:prstGeom prst="roundRect">
            <a:avLst>
              <a:gd name="adj" fmla="val 7619"/>
            </a:avLst>
          </a:prstGeom>
          <a:solidFill>
            <a:srgbClr val="F3F5F7"/>
          </a:solidFill>
          <a:ln w="9525">
            <a:solidFill>
              <a:srgbClr val="DFE4E9"/>
            </a:solidFill>
            <a:prstDash val="solid"/>
          </a:ln>
        </p:spPr>
      </p:sp>
      <p:sp>
        <p:nvSpPr>
          <p:cNvPr id="16" name="University campus circle"/>
          <p:cNvSpPr/>
          <p:nvPr/>
        </p:nvSpPr>
        <p:spPr>
          <a:xfrm>
            <a:off x="4937760" y="3657600"/>
            <a:ext cx="594360" cy="594360"/>
          </a:xfrm>
          <a:prstGeom prst="ellipse">
            <a:avLst/>
          </a:prstGeom>
          <a:solidFill>
            <a:srgbClr val="E2F2F0"/>
          </a:solidFill>
          <a:ln/>
        </p:spPr>
      </p:sp>
      <p:pic>
        <p:nvPicPr>
          <p:cNvPr id="17" name="University campus icon" descr="University campus">    </p:cNvPr>
          <p:cNvPicPr>
            <a:picLocks noChangeAspect="1"/>
          </p:cNvPicPr>
          <p:nvPr/>
        </p:nvPicPr>
        <p:blipFill>
          <a:blip r:embed="rId3"/>
          <a:stretch>
            <a:fillRect/>
          </a:stretch>
        </p:blipFill>
        <p:spPr>
          <a:xfrm>
            <a:off x="5080406" y="3800246"/>
            <a:ext cx="309067" cy="309067"/>
          </a:xfrm>
          <a:prstGeom prst="rect">
            <a:avLst/>
          </a:prstGeom>
        </p:spPr>
      </p:pic>
      <p:sp>
        <p:nvSpPr>
          <p:cNvPr id="18" name="Text 13"/>
          <p:cNvSpPr txBox="1"/>
          <p:nvPr/>
        </p:nvSpPr>
        <p:spPr>
          <a:xfrm>
            <a:off x="5715000" y="3630168"/>
            <a:ext cx="2834640" cy="292608"/>
          </a:xfrm>
          <a:prstGeom prst="rect">
            <a:avLst/>
          </a:prstGeom>
          <a:noFill/>
          <a:ln/>
        </p:spPr>
        <p:txBody>
          <a:bodyPr wrap="square" lIns="0" tIns="0" rIns="0" bIns="0" rtlCol="0" anchor="t"/>
          <a:lstStyle/>
          <a:p>
            <a:pPr indent="0" marL="0">
              <a:buNone/>
            </a:pPr>
            <a:r>
              <a:rPr lang="en-US" sz="1500" b="1" dirty="0">
                <a:solidFill>
                  <a:schemeClr val="tx1"/>
                </a:solidFill>
              </a:rPr>
              <a:t>University campus</a:t>
            </a:r>
            <a:endParaRPr lang="en-US" sz="1500" dirty="0"/>
          </a:p>
        </p:txBody>
      </p:sp>
      <p:sp>
        <p:nvSpPr>
          <p:cNvPr id="19" name="Text 14"/>
          <p:cNvSpPr txBox="1"/>
          <p:nvPr/>
        </p:nvSpPr>
        <p:spPr>
          <a:xfrm>
            <a:off x="5715000" y="3931920"/>
            <a:ext cx="2834640" cy="411480"/>
          </a:xfrm>
          <a:prstGeom prst="rect">
            <a:avLst/>
          </a:prstGeom>
          <a:noFill/>
          <a:ln/>
        </p:spPr>
        <p:txBody>
          <a:bodyPr wrap="square" lIns="0" tIns="0" rIns="0" bIns="0" rtlCol="0" anchor="t"/>
          <a:lstStyle/>
          <a:p>
            <a:pPr indent="0" marL="0">
              <a:buNone/>
            </a:pPr>
            <a:r>
              <a:rPr lang="en-US" sz="1200" dirty="0">
                <a:solidFill>
                  <a:schemeClr val="accent5"/>
                </a:solidFill>
              </a:rPr>
              <a:t>Students crossing open plazas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VISTARA-X predicts, then plans</a:t>
            </a:r>
            <a:endParaRPr lang="en-US" sz="3000" dirty="0"/>
          </a:p>
        </p:txBody>
      </p:sp>
      <p:sp>
        <p:nvSpPr>
          <p:cNvPr id="3" name="Text 1"/>
          <p:cNvSpPr txBox="1"/>
          <p:nvPr/>
        </p:nvSpPr>
        <p:spPr>
          <a:xfrm>
            <a:off x="457200" y="1051560"/>
            <a:ext cx="8229600" cy="365760"/>
          </a:xfrm>
          <a:prstGeom prst="rect">
            <a:avLst/>
          </a:prstGeom>
          <a:noFill/>
          <a:ln/>
        </p:spPr>
        <p:txBody>
          <a:bodyPr wrap="square" lIns="0" tIns="0" rIns="0" bIns="0" rtlCol="0" anchor="t"/>
          <a:lstStyle/>
          <a:p>
            <a:pPr indent="0" marL="0">
              <a:buNone/>
            </a:pPr>
            <a:r>
              <a:rPr lang="en-US" sz="1500" dirty="0">
                <a:solidFill>
                  <a:schemeClr val="accent5"/>
                </a:solidFill>
              </a:rPr>
              <a:t>One continuous loop, 20 times a second. The amber stages are what makes it predictive.</a:t>
            </a:r>
            <a:endParaRPr lang="en-US" sz="1500" dirty="0"/>
          </a:p>
        </p:txBody>
      </p:sp>
      <p:sp>
        <p:nvSpPr>
          <p:cNvPr id="4" name="Observe stage"/>
          <p:cNvSpPr/>
          <p:nvPr/>
        </p:nvSpPr>
        <p:spPr>
          <a:xfrm>
            <a:off x="457200" y="1645920"/>
            <a:ext cx="1325880" cy="548640"/>
          </a:xfrm>
          <a:prstGeom prst="roundRect">
            <a:avLst>
              <a:gd name="adj" fmla="val 50000"/>
            </a:avLst>
          </a:prstGeom>
          <a:solidFill>
            <a:srgbClr val="E2F2F0"/>
          </a:solidFill>
          <a:ln/>
        </p:spPr>
      </p:sp>
      <p:sp>
        <p:nvSpPr>
          <p:cNvPr id="5" name="Text 3"/>
          <p:cNvSpPr txBox="1"/>
          <p:nvPr/>
        </p:nvSpPr>
        <p:spPr>
          <a:xfrm>
            <a:off x="457200" y="16459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1  Observe</a:t>
            </a:r>
            <a:endParaRPr lang="en-US" sz="1400" dirty="0"/>
          </a:p>
        </p:txBody>
      </p:sp>
      <p:sp>
        <p:nvSpPr>
          <p:cNvPr id="6" name="Shape 4"/>
          <p:cNvSpPr/>
          <p:nvPr/>
        </p:nvSpPr>
        <p:spPr>
          <a:xfrm>
            <a:off x="1837944" y="1920240"/>
            <a:ext cx="292608" cy="0"/>
          </a:xfrm>
          <a:prstGeom prst="line">
            <a:avLst/>
          </a:prstGeom>
          <a:noFill/>
          <a:ln w="19050">
            <a:solidFill>
              <a:srgbClr val="4B5866"/>
            </a:solidFill>
            <a:prstDash val="solid"/>
            <a:tailEnd type="triangle"/>
          </a:ln>
        </p:spPr>
      </p:sp>
      <p:sp>
        <p:nvSpPr>
          <p:cNvPr id="7" name="Detect stage"/>
          <p:cNvSpPr/>
          <p:nvPr/>
        </p:nvSpPr>
        <p:spPr>
          <a:xfrm>
            <a:off x="2185416" y="1645920"/>
            <a:ext cx="1325880" cy="548640"/>
          </a:xfrm>
          <a:prstGeom prst="roundRect">
            <a:avLst>
              <a:gd name="adj" fmla="val 50000"/>
            </a:avLst>
          </a:prstGeom>
          <a:solidFill>
            <a:srgbClr val="E2F2F0"/>
          </a:solidFill>
          <a:ln/>
        </p:spPr>
      </p:sp>
      <p:sp>
        <p:nvSpPr>
          <p:cNvPr id="8" name="Text 6"/>
          <p:cNvSpPr txBox="1"/>
          <p:nvPr/>
        </p:nvSpPr>
        <p:spPr>
          <a:xfrm>
            <a:off x="2185416" y="16459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2  Detect</a:t>
            </a:r>
            <a:endParaRPr lang="en-US" sz="1400" dirty="0"/>
          </a:p>
        </p:txBody>
      </p:sp>
      <p:sp>
        <p:nvSpPr>
          <p:cNvPr id="9" name="Shape 7"/>
          <p:cNvSpPr/>
          <p:nvPr/>
        </p:nvSpPr>
        <p:spPr>
          <a:xfrm>
            <a:off x="3566160" y="1920240"/>
            <a:ext cx="292608" cy="0"/>
          </a:xfrm>
          <a:prstGeom prst="line">
            <a:avLst/>
          </a:prstGeom>
          <a:noFill/>
          <a:ln w="19050">
            <a:solidFill>
              <a:srgbClr val="4B5866"/>
            </a:solidFill>
            <a:prstDash val="solid"/>
            <a:tailEnd type="triangle"/>
          </a:ln>
        </p:spPr>
      </p:sp>
      <p:sp>
        <p:nvSpPr>
          <p:cNvPr id="10" name="Track stage"/>
          <p:cNvSpPr/>
          <p:nvPr/>
        </p:nvSpPr>
        <p:spPr>
          <a:xfrm>
            <a:off x="3913632" y="1645920"/>
            <a:ext cx="1325880" cy="548640"/>
          </a:xfrm>
          <a:prstGeom prst="roundRect">
            <a:avLst>
              <a:gd name="adj" fmla="val 50000"/>
            </a:avLst>
          </a:prstGeom>
          <a:solidFill>
            <a:srgbClr val="D9A441"/>
          </a:solidFill>
          <a:ln/>
        </p:spPr>
      </p:sp>
      <p:sp>
        <p:nvSpPr>
          <p:cNvPr id="11" name="Text 9"/>
          <p:cNvSpPr txBox="1"/>
          <p:nvPr/>
        </p:nvSpPr>
        <p:spPr>
          <a:xfrm>
            <a:off x="3913632"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3  Track</a:t>
            </a:r>
            <a:endParaRPr lang="en-US" sz="1400" dirty="0"/>
          </a:p>
        </p:txBody>
      </p:sp>
      <p:sp>
        <p:nvSpPr>
          <p:cNvPr id="12" name="Shape 10"/>
          <p:cNvSpPr/>
          <p:nvPr/>
        </p:nvSpPr>
        <p:spPr>
          <a:xfrm>
            <a:off x="5294376" y="1920240"/>
            <a:ext cx="292608" cy="0"/>
          </a:xfrm>
          <a:prstGeom prst="line">
            <a:avLst/>
          </a:prstGeom>
          <a:noFill/>
          <a:ln w="19050">
            <a:solidFill>
              <a:srgbClr val="4B5866"/>
            </a:solidFill>
            <a:prstDash val="solid"/>
            <a:tailEnd type="triangle"/>
          </a:ln>
        </p:spPr>
      </p:sp>
      <p:sp>
        <p:nvSpPr>
          <p:cNvPr id="13" name="Predict stage"/>
          <p:cNvSpPr/>
          <p:nvPr/>
        </p:nvSpPr>
        <p:spPr>
          <a:xfrm>
            <a:off x="5641848" y="1645920"/>
            <a:ext cx="1325880" cy="548640"/>
          </a:xfrm>
          <a:prstGeom prst="roundRect">
            <a:avLst>
              <a:gd name="adj" fmla="val 50000"/>
            </a:avLst>
          </a:prstGeom>
          <a:solidFill>
            <a:srgbClr val="D9A441"/>
          </a:solidFill>
          <a:ln/>
        </p:spPr>
      </p:sp>
      <p:sp>
        <p:nvSpPr>
          <p:cNvPr id="14" name="Text 12"/>
          <p:cNvSpPr txBox="1"/>
          <p:nvPr/>
        </p:nvSpPr>
        <p:spPr>
          <a:xfrm>
            <a:off x="5641848"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4  Predict</a:t>
            </a:r>
            <a:endParaRPr lang="en-US" sz="1400" dirty="0"/>
          </a:p>
        </p:txBody>
      </p:sp>
      <p:sp>
        <p:nvSpPr>
          <p:cNvPr id="15" name="Shape 13"/>
          <p:cNvSpPr/>
          <p:nvPr/>
        </p:nvSpPr>
        <p:spPr>
          <a:xfrm>
            <a:off x="7022592" y="1920240"/>
            <a:ext cx="292608" cy="0"/>
          </a:xfrm>
          <a:prstGeom prst="line">
            <a:avLst/>
          </a:prstGeom>
          <a:noFill/>
          <a:ln w="19050">
            <a:solidFill>
              <a:srgbClr val="4B5866"/>
            </a:solidFill>
            <a:prstDash val="solid"/>
            <a:tailEnd type="triangle"/>
          </a:ln>
        </p:spPr>
      </p:sp>
      <p:sp>
        <p:nvSpPr>
          <p:cNvPr id="16" name="Assess risk stage"/>
          <p:cNvSpPr/>
          <p:nvPr/>
        </p:nvSpPr>
        <p:spPr>
          <a:xfrm>
            <a:off x="7370064" y="1645920"/>
            <a:ext cx="1325880" cy="548640"/>
          </a:xfrm>
          <a:prstGeom prst="roundRect">
            <a:avLst>
              <a:gd name="adj" fmla="val 50000"/>
            </a:avLst>
          </a:prstGeom>
          <a:solidFill>
            <a:srgbClr val="D9A441"/>
          </a:solidFill>
          <a:ln/>
        </p:spPr>
      </p:sp>
      <p:sp>
        <p:nvSpPr>
          <p:cNvPr id="17" name="Text 15"/>
          <p:cNvSpPr txBox="1"/>
          <p:nvPr/>
        </p:nvSpPr>
        <p:spPr>
          <a:xfrm>
            <a:off x="7370064" y="16459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5  Assess risk</a:t>
            </a:r>
            <a:endParaRPr lang="en-US" sz="1400" dirty="0"/>
          </a:p>
        </p:txBody>
      </p:sp>
      <p:sp>
        <p:nvSpPr>
          <p:cNvPr id="18" name="Decide stage"/>
          <p:cNvSpPr/>
          <p:nvPr/>
        </p:nvSpPr>
        <p:spPr>
          <a:xfrm>
            <a:off x="7370064" y="2560320"/>
            <a:ext cx="1325880" cy="548640"/>
          </a:xfrm>
          <a:prstGeom prst="roundRect">
            <a:avLst>
              <a:gd name="adj" fmla="val 50000"/>
            </a:avLst>
          </a:prstGeom>
          <a:solidFill>
            <a:srgbClr val="D9A441"/>
          </a:solidFill>
          <a:ln/>
        </p:spPr>
      </p:sp>
      <p:sp>
        <p:nvSpPr>
          <p:cNvPr id="19" name="Text 17"/>
          <p:cNvSpPr txBox="1"/>
          <p:nvPr/>
        </p:nvSpPr>
        <p:spPr>
          <a:xfrm>
            <a:off x="7370064" y="2560320"/>
            <a:ext cx="1325880" cy="548640"/>
          </a:xfrm>
          <a:prstGeom prst="rect">
            <a:avLst/>
          </a:prstGeom>
          <a:noFill/>
          <a:ln/>
        </p:spPr>
        <p:txBody>
          <a:bodyPr wrap="square" lIns="0" tIns="0" rIns="0" bIns="0" rtlCol="0" anchor="ctr"/>
          <a:lstStyle/>
          <a:p>
            <a:pPr algn="ctr" indent="0" marL="0">
              <a:buNone/>
            </a:pPr>
            <a:r>
              <a:rPr lang="en-US" sz="1400" b="1" dirty="0">
                <a:solidFill>
                  <a:schemeClr val="tx1"/>
                </a:solidFill>
              </a:rPr>
              <a:t>6  Decide</a:t>
            </a:r>
            <a:endParaRPr lang="en-US" sz="1400" dirty="0"/>
          </a:p>
        </p:txBody>
      </p:sp>
      <p:sp>
        <p:nvSpPr>
          <p:cNvPr id="20" name="Shape 18"/>
          <p:cNvSpPr/>
          <p:nvPr/>
        </p:nvSpPr>
        <p:spPr>
          <a:xfrm flipH="1">
            <a:off x="7022592" y="2834640"/>
            <a:ext cx="292608" cy="0"/>
          </a:xfrm>
          <a:prstGeom prst="line">
            <a:avLst/>
          </a:prstGeom>
          <a:noFill/>
          <a:ln w="19050">
            <a:solidFill>
              <a:srgbClr val="4B5866"/>
            </a:solidFill>
            <a:prstDash val="solid"/>
            <a:tailEnd type="triangle"/>
          </a:ln>
        </p:spPr>
      </p:sp>
      <p:sp>
        <p:nvSpPr>
          <p:cNvPr id="21" name="Plan stage"/>
          <p:cNvSpPr/>
          <p:nvPr/>
        </p:nvSpPr>
        <p:spPr>
          <a:xfrm>
            <a:off x="5641848" y="2560320"/>
            <a:ext cx="1325880" cy="548640"/>
          </a:xfrm>
          <a:prstGeom prst="roundRect">
            <a:avLst>
              <a:gd name="adj" fmla="val 50000"/>
            </a:avLst>
          </a:prstGeom>
          <a:solidFill>
            <a:srgbClr val="E2F2F0"/>
          </a:solidFill>
          <a:ln/>
        </p:spPr>
      </p:sp>
      <p:sp>
        <p:nvSpPr>
          <p:cNvPr id="22" name="Text 20"/>
          <p:cNvSpPr txBox="1"/>
          <p:nvPr/>
        </p:nvSpPr>
        <p:spPr>
          <a:xfrm>
            <a:off x="5641848"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7  Plan</a:t>
            </a:r>
            <a:endParaRPr lang="en-US" sz="1400" dirty="0"/>
          </a:p>
        </p:txBody>
      </p:sp>
      <p:sp>
        <p:nvSpPr>
          <p:cNvPr id="23" name="Shape 21"/>
          <p:cNvSpPr/>
          <p:nvPr/>
        </p:nvSpPr>
        <p:spPr>
          <a:xfrm flipH="1">
            <a:off x="5294376" y="2834640"/>
            <a:ext cx="292608" cy="0"/>
          </a:xfrm>
          <a:prstGeom prst="line">
            <a:avLst/>
          </a:prstGeom>
          <a:noFill/>
          <a:ln w="19050">
            <a:solidFill>
              <a:srgbClr val="4B5866"/>
            </a:solidFill>
            <a:prstDash val="solid"/>
            <a:tailEnd type="triangle"/>
          </a:ln>
        </p:spPr>
      </p:sp>
      <p:sp>
        <p:nvSpPr>
          <p:cNvPr id="24" name="Move stage"/>
          <p:cNvSpPr/>
          <p:nvPr/>
        </p:nvSpPr>
        <p:spPr>
          <a:xfrm>
            <a:off x="3913632" y="2560320"/>
            <a:ext cx="1325880" cy="548640"/>
          </a:xfrm>
          <a:prstGeom prst="roundRect">
            <a:avLst>
              <a:gd name="adj" fmla="val 50000"/>
            </a:avLst>
          </a:prstGeom>
          <a:solidFill>
            <a:srgbClr val="E2F2F0"/>
          </a:solidFill>
          <a:ln/>
        </p:spPr>
      </p:sp>
      <p:sp>
        <p:nvSpPr>
          <p:cNvPr id="25" name="Text 23"/>
          <p:cNvSpPr txBox="1"/>
          <p:nvPr/>
        </p:nvSpPr>
        <p:spPr>
          <a:xfrm>
            <a:off x="3913632"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8  Move</a:t>
            </a:r>
            <a:endParaRPr lang="en-US" sz="1400" dirty="0"/>
          </a:p>
        </p:txBody>
      </p:sp>
      <p:sp>
        <p:nvSpPr>
          <p:cNvPr id="26" name="Shape 24"/>
          <p:cNvSpPr/>
          <p:nvPr/>
        </p:nvSpPr>
        <p:spPr>
          <a:xfrm flipH="1">
            <a:off x="3566160" y="2834640"/>
            <a:ext cx="292608" cy="0"/>
          </a:xfrm>
          <a:prstGeom prst="line">
            <a:avLst/>
          </a:prstGeom>
          <a:noFill/>
          <a:ln w="19050">
            <a:solidFill>
              <a:srgbClr val="4B5866"/>
            </a:solidFill>
            <a:prstDash val="solid"/>
            <a:tailEnd type="triangle"/>
          </a:ln>
        </p:spPr>
      </p:sp>
      <p:sp>
        <p:nvSpPr>
          <p:cNvPr id="27" name="Monitor stage"/>
          <p:cNvSpPr/>
          <p:nvPr/>
        </p:nvSpPr>
        <p:spPr>
          <a:xfrm>
            <a:off x="2185416" y="2560320"/>
            <a:ext cx="1325880" cy="548640"/>
          </a:xfrm>
          <a:prstGeom prst="roundRect">
            <a:avLst>
              <a:gd name="adj" fmla="val 50000"/>
            </a:avLst>
          </a:prstGeom>
          <a:solidFill>
            <a:srgbClr val="E2F2F0"/>
          </a:solidFill>
          <a:ln/>
        </p:spPr>
      </p:sp>
      <p:sp>
        <p:nvSpPr>
          <p:cNvPr id="28" name="Text 26"/>
          <p:cNvSpPr txBox="1"/>
          <p:nvPr/>
        </p:nvSpPr>
        <p:spPr>
          <a:xfrm>
            <a:off x="2185416"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9  Monitor</a:t>
            </a:r>
            <a:endParaRPr lang="en-US" sz="1400" dirty="0"/>
          </a:p>
        </p:txBody>
      </p:sp>
      <p:sp>
        <p:nvSpPr>
          <p:cNvPr id="29" name="Shape 27"/>
          <p:cNvSpPr/>
          <p:nvPr/>
        </p:nvSpPr>
        <p:spPr>
          <a:xfrm flipH="1">
            <a:off x="1837944" y="2834640"/>
            <a:ext cx="292608" cy="0"/>
          </a:xfrm>
          <a:prstGeom prst="line">
            <a:avLst/>
          </a:prstGeom>
          <a:noFill/>
          <a:ln w="19050">
            <a:solidFill>
              <a:srgbClr val="4B5866"/>
            </a:solidFill>
            <a:prstDash val="solid"/>
            <a:tailEnd type="triangle"/>
          </a:ln>
        </p:spPr>
      </p:sp>
      <p:sp>
        <p:nvSpPr>
          <p:cNvPr id="30" name="Replan stage"/>
          <p:cNvSpPr/>
          <p:nvPr/>
        </p:nvSpPr>
        <p:spPr>
          <a:xfrm>
            <a:off x="457200" y="2560320"/>
            <a:ext cx="1325880" cy="548640"/>
          </a:xfrm>
          <a:prstGeom prst="roundRect">
            <a:avLst>
              <a:gd name="adj" fmla="val 50000"/>
            </a:avLst>
          </a:prstGeom>
          <a:solidFill>
            <a:srgbClr val="E2F2F0"/>
          </a:solidFill>
          <a:ln/>
        </p:spPr>
      </p:sp>
      <p:sp>
        <p:nvSpPr>
          <p:cNvPr id="31" name="Text 29"/>
          <p:cNvSpPr txBox="1"/>
          <p:nvPr/>
        </p:nvSpPr>
        <p:spPr>
          <a:xfrm>
            <a:off x="457200" y="2560320"/>
            <a:ext cx="1325880" cy="548640"/>
          </a:xfrm>
          <a:prstGeom prst="rect">
            <a:avLst/>
          </a:prstGeom>
          <a:noFill/>
          <a:ln/>
        </p:spPr>
        <p:txBody>
          <a:bodyPr wrap="square" lIns="0" tIns="0" rIns="0" bIns="0" rtlCol="0" anchor="ctr"/>
          <a:lstStyle/>
          <a:p>
            <a:pPr algn="ctr" indent="0" marL="0">
              <a:buNone/>
            </a:pPr>
            <a:r>
              <a:rPr lang="en-US" sz="1400" b="1" dirty="0">
                <a:solidFill>
                  <a:schemeClr val="accent1"/>
                </a:solidFill>
              </a:rPr>
              <a:t>10  Replan</a:t>
            </a:r>
            <a:endParaRPr lang="en-US" sz="1400" dirty="0"/>
          </a:p>
        </p:txBody>
      </p:sp>
      <p:sp>
        <p:nvSpPr>
          <p:cNvPr id="32" name="Shape 30"/>
          <p:cNvSpPr/>
          <p:nvPr/>
        </p:nvSpPr>
        <p:spPr>
          <a:xfrm>
            <a:off x="8033004" y="2212848"/>
            <a:ext cx="0" cy="329184"/>
          </a:xfrm>
          <a:prstGeom prst="line">
            <a:avLst/>
          </a:prstGeom>
          <a:noFill/>
          <a:ln w="19050">
            <a:solidFill>
              <a:srgbClr val="4B5866"/>
            </a:solidFill>
            <a:prstDash val="solid"/>
            <a:tailEnd type="triangle"/>
          </a:ln>
        </p:spPr>
      </p:sp>
      <p:sp>
        <p:nvSpPr>
          <p:cNvPr id="33" name="Shape 31"/>
          <p:cNvSpPr/>
          <p:nvPr/>
        </p:nvSpPr>
        <p:spPr>
          <a:xfrm flipV="1">
            <a:off x="1120140" y="2212848"/>
            <a:ext cx="0" cy="329184"/>
          </a:xfrm>
          <a:prstGeom prst="line">
            <a:avLst/>
          </a:prstGeom>
          <a:noFill/>
          <a:ln w="19050">
            <a:solidFill>
              <a:srgbClr val="4B5866"/>
            </a:solidFill>
            <a:prstDash val="dash"/>
            <a:tailEnd type="triangle"/>
          </a:ln>
        </p:spPr>
      </p:sp>
      <p:sp>
        <p:nvSpPr>
          <p:cNvPr id="34" name="English · Hindi · Hinglish circle"/>
          <p:cNvSpPr/>
          <p:nvPr/>
        </p:nvSpPr>
        <p:spPr>
          <a:xfrm>
            <a:off x="457200" y="3520440"/>
            <a:ext cx="548640" cy="548640"/>
          </a:xfrm>
          <a:prstGeom prst="ellipse">
            <a:avLst/>
          </a:prstGeom>
          <a:solidFill>
            <a:srgbClr val="0B7D73"/>
          </a:solidFill>
          <a:ln/>
        </p:spPr>
      </p:sp>
      <p:pic>
        <p:nvPicPr>
          <p:cNvPr id="35" name="English · Hindi · Hinglish icon" descr="English · Hindi · Hinglish">    </p:cNvPr>
          <p:cNvPicPr>
            <a:picLocks noChangeAspect="1"/>
          </p:cNvPicPr>
          <p:nvPr/>
        </p:nvPicPr>
        <p:blipFill>
          <a:blip r:embed="rId1"/>
          <a:stretch>
            <a:fillRect/>
          </a:stretch>
        </p:blipFill>
        <p:spPr>
          <a:xfrm>
            <a:off x="588874" y="3652114"/>
            <a:ext cx="285293" cy="285293"/>
          </a:xfrm>
          <a:prstGeom prst="rect">
            <a:avLst/>
          </a:prstGeom>
        </p:spPr>
      </p:pic>
      <p:sp>
        <p:nvSpPr>
          <p:cNvPr id="36" name="Text 33"/>
          <p:cNvSpPr txBox="1"/>
          <p:nvPr/>
        </p:nvSpPr>
        <p:spPr>
          <a:xfrm>
            <a:off x="114300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English · Hindi · Hinglish</a:t>
            </a:r>
            <a:endParaRPr lang="en-US" sz="1500" dirty="0"/>
          </a:p>
        </p:txBody>
      </p:sp>
      <p:sp>
        <p:nvSpPr>
          <p:cNvPr id="37" name="Text 34"/>
          <p:cNvSpPr txBox="1"/>
          <p:nvPr/>
        </p:nvSpPr>
        <p:spPr>
          <a:xfrm>
            <a:off x="114300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voice and text commands</a:t>
            </a:r>
            <a:endParaRPr lang="en-US" sz="1200" dirty="0"/>
          </a:p>
        </p:txBody>
      </p:sp>
      <p:sp>
        <p:nvSpPr>
          <p:cNvPr id="38" name="6 scenarios circle"/>
          <p:cNvSpPr/>
          <p:nvPr/>
        </p:nvSpPr>
        <p:spPr>
          <a:xfrm>
            <a:off x="3246120" y="3520440"/>
            <a:ext cx="548640" cy="548640"/>
          </a:xfrm>
          <a:prstGeom prst="ellipse">
            <a:avLst/>
          </a:prstGeom>
          <a:solidFill>
            <a:srgbClr val="0B7D73"/>
          </a:solidFill>
          <a:ln/>
        </p:spPr>
      </p:sp>
      <p:pic>
        <p:nvPicPr>
          <p:cNvPr id="39" name="6 scenarios icon" descr="6 scenarios">    </p:cNvPr>
          <p:cNvPicPr>
            <a:picLocks noChangeAspect="1"/>
          </p:cNvPicPr>
          <p:nvPr/>
        </p:nvPicPr>
        <p:blipFill>
          <a:blip r:embed="rId2"/>
          <a:stretch>
            <a:fillRect/>
          </a:stretch>
        </p:blipFill>
        <p:spPr>
          <a:xfrm>
            <a:off x="3377794" y="3652114"/>
            <a:ext cx="285293" cy="285293"/>
          </a:xfrm>
          <a:prstGeom prst="rect">
            <a:avLst/>
          </a:prstGeom>
        </p:spPr>
      </p:pic>
      <p:sp>
        <p:nvSpPr>
          <p:cNvPr id="40" name="Text 36"/>
          <p:cNvSpPr txBox="1"/>
          <p:nvPr/>
        </p:nvSpPr>
        <p:spPr>
          <a:xfrm>
            <a:off x="393192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6 scenarios</a:t>
            </a:r>
            <a:endParaRPr lang="en-US" sz="1500" dirty="0"/>
          </a:p>
        </p:txBody>
      </p:sp>
      <p:sp>
        <p:nvSpPr>
          <p:cNvPr id="41" name="Text 37"/>
          <p:cNvSpPr txBox="1"/>
          <p:nvPr/>
        </p:nvSpPr>
        <p:spPr>
          <a:xfrm>
            <a:off x="393192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hospital, campus, warehouse, more</a:t>
            </a:r>
            <a:endParaRPr lang="en-US" sz="1200" dirty="0"/>
          </a:p>
        </p:txBody>
      </p:sp>
      <p:sp>
        <p:nvSpPr>
          <p:cNvPr id="42" name="3 safety layers circle"/>
          <p:cNvSpPr/>
          <p:nvPr/>
        </p:nvSpPr>
        <p:spPr>
          <a:xfrm>
            <a:off x="6035040" y="3520440"/>
            <a:ext cx="548640" cy="548640"/>
          </a:xfrm>
          <a:prstGeom prst="ellipse">
            <a:avLst/>
          </a:prstGeom>
          <a:solidFill>
            <a:srgbClr val="0B7D73"/>
          </a:solidFill>
          <a:ln/>
        </p:spPr>
      </p:sp>
      <p:pic>
        <p:nvPicPr>
          <p:cNvPr id="43" name="3 safety layers icon" descr="3 safety layers">    </p:cNvPr>
          <p:cNvPicPr>
            <a:picLocks noChangeAspect="1"/>
          </p:cNvPicPr>
          <p:nvPr/>
        </p:nvPicPr>
        <p:blipFill>
          <a:blip r:embed="rId3"/>
          <a:stretch>
            <a:fillRect/>
          </a:stretch>
        </p:blipFill>
        <p:spPr>
          <a:xfrm>
            <a:off x="6166714" y="3652114"/>
            <a:ext cx="285293" cy="285293"/>
          </a:xfrm>
          <a:prstGeom prst="rect">
            <a:avLst/>
          </a:prstGeom>
        </p:spPr>
      </p:pic>
      <p:sp>
        <p:nvSpPr>
          <p:cNvPr id="44" name="Text 39"/>
          <p:cNvSpPr txBox="1"/>
          <p:nvPr/>
        </p:nvSpPr>
        <p:spPr>
          <a:xfrm>
            <a:off x="6720840" y="3502152"/>
            <a:ext cx="2011680" cy="292608"/>
          </a:xfrm>
          <a:prstGeom prst="rect">
            <a:avLst/>
          </a:prstGeom>
          <a:noFill/>
          <a:ln/>
        </p:spPr>
        <p:txBody>
          <a:bodyPr wrap="square" lIns="0" tIns="0" rIns="0" bIns="0" rtlCol="0" anchor="t"/>
          <a:lstStyle/>
          <a:p>
            <a:pPr indent="0" marL="0">
              <a:buNone/>
            </a:pPr>
            <a:r>
              <a:rPr lang="en-US" sz="1500" b="1" dirty="0">
                <a:solidFill>
                  <a:schemeClr val="tx1"/>
                </a:solidFill>
              </a:rPr>
              <a:t>3 safety layers</a:t>
            </a:r>
            <a:endParaRPr lang="en-US" sz="1500" dirty="0"/>
          </a:p>
        </p:txBody>
      </p:sp>
      <p:sp>
        <p:nvSpPr>
          <p:cNvPr id="45" name="Text 40"/>
          <p:cNvSpPr txBox="1"/>
          <p:nvPr/>
        </p:nvSpPr>
        <p:spPr>
          <a:xfrm>
            <a:off x="6720840" y="3794760"/>
            <a:ext cx="2011680" cy="457200"/>
          </a:xfrm>
          <a:prstGeom prst="rect">
            <a:avLst/>
          </a:prstGeom>
          <a:noFill/>
          <a:ln/>
        </p:spPr>
        <p:txBody>
          <a:bodyPr wrap="square" lIns="0" tIns="0" rIns="0" bIns="0" rtlCol="0" anchor="t"/>
          <a:lstStyle/>
          <a:p>
            <a:pPr indent="0" marL="0">
              <a:buNone/>
            </a:pPr>
            <a:r>
              <a:rPr lang="en-US" sz="1200" dirty="0">
                <a:solidFill>
                  <a:schemeClr val="accent5"/>
                </a:solidFill>
              </a:rPr>
              <a:t>never depend on AI models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How prediction works</a:t>
            </a:r>
            <a:endParaRPr lang="en-US" sz="3000" dirty="0"/>
          </a:p>
        </p:txBody>
      </p:sp>
      <p:sp>
        <p:nvSpPr>
          <p:cNvPr id="3" name="Detect card"/>
          <p:cNvSpPr/>
          <p:nvPr/>
        </p:nvSpPr>
        <p:spPr>
          <a:xfrm>
            <a:off x="457200" y="1143000"/>
            <a:ext cx="1883664" cy="2514600"/>
          </a:xfrm>
          <a:prstGeom prst="roundRect">
            <a:avLst>
              <a:gd name="adj" fmla="val 3883"/>
            </a:avLst>
          </a:prstGeom>
          <a:solidFill>
            <a:srgbClr val="F3F5F7"/>
          </a:solidFill>
          <a:ln w="9525">
            <a:solidFill>
              <a:srgbClr val="DFE4E9"/>
            </a:solidFill>
            <a:prstDash val="solid"/>
          </a:ln>
        </p:spPr>
      </p:sp>
      <p:sp>
        <p:nvSpPr>
          <p:cNvPr id="4" name="Detect circle"/>
          <p:cNvSpPr/>
          <p:nvPr/>
        </p:nvSpPr>
        <p:spPr>
          <a:xfrm>
            <a:off x="640080" y="1325880"/>
            <a:ext cx="548640" cy="548640"/>
          </a:xfrm>
          <a:prstGeom prst="ellipse">
            <a:avLst/>
          </a:prstGeom>
          <a:solidFill>
            <a:srgbClr val="0B7D73"/>
          </a:solidFill>
          <a:ln/>
        </p:spPr>
      </p:sp>
      <p:pic>
        <p:nvPicPr>
          <p:cNvPr id="5" name="Detect icon" descr="Detect">    </p:cNvPr>
          <p:cNvPicPr>
            <a:picLocks noChangeAspect="1"/>
          </p:cNvPicPr>
          <p:nvPr/>
        </p:nvPicPr>
        <p:blipFill>
          <a:blip r:embed="rId1"/>
          <a:stretch>
            <a:fillRect/>
          </a:stretch>
        </p:blipFill>
        <p:spPr>
          <a:xfrm>
            <a:off x="771754" y="1457554"/>
            <a:ext cx="285293" cy="285293"/>
          </a:xfrm>
          <a:prstGeom prst="rect">
            <a:avLst/>
          </a:prstGeom>
        </p:spPr>
      </p:pic>
      <p:sp>
        <p:nvSpPr>
          <p:cNvPr id="6" name="Text 3"/>
          <p:cNvSpPr txBox="1"/>
          <p:nvPr/>
        </p:nvSpPr>
        <p:spPr>
          <a:xfrm>
            <a:off x="640080"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1. Detect</a:t>
            </a:r>
            <a:endParaRPr lang="en-US" sz="1600" dirty="0"/>
          </a:p>
        </p:txBody>
      </p:sp>
      <p:sp>
        <p:nvSpPr>
          <p:cNvPr id="7" name="Text 4"/>
          <p:cNvSpPr txBox="1"/>
          <p:nvPr/>
        </p:nvSpPr>
        <p:spPr>
          <a:xfrm>
            <a:off x="640080"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LiDAR returns not on the known map become objects. The camera (YOLOv8) adds the class: person, cart.</a:t>
            </a:r>
            <a:endParaRPr lang="en-US" sz="1200" dirty="0"/>
          </a:p>
        </p:txBody>
      </p:sp>
      <p:sp>
        <p:nvSpPr>
          <p:cNvPr id="8" name="Shape 5"/>
          <p:cNvSpPr/>
          <p:nvPr/>
        </p:nvSpPr>
        <p:spPr>
          <a:xfrm>
            <a:off x="2368296" y="1600200"/>
            <a:ext cx="173736" cy="0"/>
          </a:xfrm>
          <a:prstGeom prst="line">
            <a:avLst/>
          </a:prstGeom>
          <a:noFill/>
          <a:ln w="19050">
            <a:solidFill>
              <a:srgbClr val="4B5866"/>
            </a:solidFill>
            <a:prstDash val="solid"/>
            <a:tailEnd type="triangle"/>
          </a:ln>
        </p:spPr>
      </p:sp>
      <p:sp>
        <p:nvSpPr>
          <p:cNvPr id="9" name="Track card"/>
          <p:cNvSpPr/>
          <p:nvPr/>
        </p:nvSpPr>
        <p:spPr>
          <a:xfrm>
            <a:off x="2569464" y="1143000"/>
            <a:ext cx="1883664" cy="2514600"/>
          </a:xfrm>
          <a:prstGeom prst="roundRect">
            <a:avLst>
              <a:gd name="adj" fmla="val 3883"/>
            </a:avLst>
          </a:prstGeom>
          <a:solidFill>
            <a:srgbClr val="F3F5F7"/>
          </a:solidFill>
          <a:ln w="9525">
            <a:solidFill>
              <a:srgbClr val="DFE4E9"/>
            </a:solidFill>
            <a:prstDash val="solid"/>
          </a:ln>
        </p:spPr>
      </p:sp>
      <p:sp>
        <p:nvSpPr>
          <p:cNvPr id="10" name="Track circle"/>
          <p:cNvSpPr/>
          <p:nvPr/>
        </p:nvSpPr>
        <p:spPr>
          <a:xfrm>
            <a:off x="2752344" y="1325880"/>
            <a:ext cx="548640" cy="548640"/>
          </a:xfrm>
          <a:prstGeom prst="ellipse">
            <a:avLst/>
          </a:prstGeom>
          <a:solidFill>
            <a:srgbClr val="0B7D73"/>
          </a:solidFill>
          <a:ln/>
        </p:spPr>
      </p:sp>
      <p:pic>
        <p:nvPicPr>
          <p:cNvPr id="11" name="Track icon" descr="Track">    </p:cNvPr>
          <p:cNvPicPr>
            <a:picLocks noChangeAspect="1"/>
          </p:cNvPicPr>
          <p:nvPr/>
        </p:nvPicPr>
        <p:blipFill>
          <a:blip r:embed="rId2"/>
          <a:stretch>
            <a:fillRect/>
          </a:stretch>
        </p:blipFill>
        <p:spPr>
          <a:xfrm>
            <a:off x="2884018" y="1457554"/>
            <a:ext cx="285293" cy="285293"/>
          </a:xfrm>
          <a:prstGeom prst="rect">
            <a:avLst/>
          </a:prstGeom>
        </p:spPr>
      </p:pic>
      <p:sp>
        <p:nvSpPr>
          <p:cNvPr id="12" name="Text 8"/>
          <p:cNvSpPr txBox="1"/>
          <p:nvPr/>
        </p:nvSpPr>
        <p:spPr>
          <a:xfrm>
            <a:off x="2752344"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2. Track</a:t>
            </a:r>
            <a:endParaRPr lang="en-US" sz="1600" dirty="0"/>
          </a:p>
        </p:txBody>
      </p:sp>
      <p:sp>
        <p:nvSpPr>
          <p:cNvPr id="13" name="Text 9"/>
          <p:cNvSpPr txBox="1"/>
          <p:nvPr/>
        </p:nvSpPr>
        <p:spPr>
          <a:xfrm>
            <a:off x="2752344"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One Kalman filter per object with a stable ID. Coasts behind walls; dropped after 1.5 s unseen.</a:t>
            </a:r>
            <a:endParaRPr lang="en-US" sz="1200" dirty="0"/>
          </a:p>
        </p:txBody>
      </p:sp>
      <p:sp>
        <p:nvSpPr>
          <p:cNvPr id="14" name="Shape 10"/>
          <p:cNvSpPr/>
          <p:nvPr/>
        </p:nvSpPr>
        <p:spPr>
          <a:xfrm>
            <a:off x="4480560" y="1600200"/>
            <a:ext cx="173736" cy="0"/>
          </a:xfrm>
          <a:prstGeom prst="line">
            <a:avLst/>
          </a:prstGeom>
          <a:noFill/>
          <a:ln w="19050">
            <a:solidFill>
              <a:srgbClr val="4B5866"/>
            </a:solidFill>
            <a:prstDash val="solid"/>
            <a:tailEnd type="triangle"/>
          </a:ln>
        </p:spPr>
      </p:sp>
      <p:sp>
        <p:nvSpPr>
          <p:cNvPr id="15" name="Predict card"/>
          <p:cNvSpPr/>
          <p:nvPr/>
        </p:nvSpPr>
        <p:spPr>
          <a:xfrm>
            <a:off x="4681728" y="1143000"/>
            <a:ext cx="1883664" cy="2514600"/>
          </a:xfrm>
          <a:prstGeom prst="roundRect">
            <a:avLst>
              <a:gd name="adj" fmla="val 3883"/>
            </a:avLst>
          </a:prstGeom>
          <a:solidFill>
            <a:srgbClr val="FDF1DC"/>
          </a:solidFill>
          <a:ln w="9525">
            <a:solidFill>
              <a:srgbClr val="DFE4E9"/>
            </a:solidFill>
            <a:prstDash val="solid"/>
          </a:ln>
        </p:spPr>
      </p:sp>
      <p:sp>
        <p:nvSpPr>
          <p:cNvPr id="16" name="Predict circle"/>
          <p:cNvSpPr/>
          <p:nvPr/>
        </p:nvSpPr>
        <p:spPr>
          <a:xfrm>
            <a:off x="4864608" y="1325880"/>
            <a:ext cx="548640" cy="548640"/>
          </a:xfrm>
          <a:prstGeom prst="ellipse">
            <a:avLst/>
          </a:prstGeom>
          <a:solidFill>
            <a:srgbClr val="D9A441"/>
          </a:solidFill>
          <a:ln/>
        </p:spPr>
      </p:sp>
      <p:pic>
        <p:nvPicPr>
          <p:cNvPr id="17" name="Predict icon" descr="Predict">    </p:cNvPr>
          <p:cNvPicPr>
            <a:picLocks noChangeAspect="1"/>
          </p:cNvPicPr>
          <p:nvPr/>
        </p:nvPicPr>
        <p:blipFill>
          <a:blip r:embed="rId3"/>
          <a:stretch>
            <a:fillRect/>
          </a:stretch>
        </p:blipFill>
        <p:spPr>
          <a:xfrm>
            <a:off x="4996282" y="1457554"/>
            <a:ext cx="285293" cy="285293"/>
          </a:xfrm>
          <a:prstGeom prst="rect">
            <a:avLst/>
          </a:prstGeom>
        </p:spPr>
      </p:pic>
      <p:sp>
        <p:nvSpPr>
          <p:cNvPr id="18" name="Text 13"/>
          <p:cNvSpPr txBox="1"/>
          <p:nvPr/>
        </p:nvSpPr>
        <p:spPr>
          <a:xfrm>
            <a:off x="4864608"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3. Predict</a:t>
            </a:r>
            <a:endParaRPr lang="en-US" sz="1600" dirty="0"/>
          </a:p>
        </p:txBody>
      </p:sp>
      <p:sp>
        <p:nvSpPr>
          <p:cNvPr id="19" name="Text 14"/>
          <p:cNvSpPr txBox="1"/>
          <p:nvPr/>
        </p:nvSpPr>
        <p:spPr>
          <a:xfrm>
            <a:off x="4864608"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Where each object will be in 0.5, 1, 2 and 3 s, with uncertainty that grows with time.</a:t>
            </a:r>
            <a:endParaRPr lang="en-US" sz="1200" dirty="0"/>
          </a:p>
        </p:txBody>
      </p:sp>
      <p:sp>
        <p:nvSpPr>
          <p:cNvPr id="20" name="Shape 15"/>
          <p:cNvSpPr/>
          <p:nvPr/>
        </p:nvSpPr>
        <p:spPr>
          <a:xfrm>
            <a:off x="6592824" y="1600200"/>
            <a:ext cx="173736" cy="0"/>
          </a:xfrm>
          <a:prstGeom prst="line">
            <a:avLst/>
          </a:prstGeom>
          <a:noFill/>
          <a:ln w="19050">
            <a:solidFill>
              <a:srgbClr val="4B5866"/>
            </a:solidFill>
            <a:prstDash val="solid"/>
            <a:tailEnd type="triangle"/>
          </a:ln>
        </p:spPr>
      </p:sp>
      <p:sp>
        <p:nvSpPr>
          <p:cNvPr id="21" name="Decide card"/>
          <p:cNvSpPr/>
          <p:nvPr/>
        </p:nvSpPr>
        <p:spPr>
          <a:xfrm>
            <a:off x="6793992" y="1143000"/>
            <a:ext cx="1883664" cy="2514600"/>
          </a:xfrm>
          <a:prstGeom prst="roundRect">
            <a:avLst>
              <a:gd name="adj" fmla="val 3883"/>
            </a:avLst>
          </a:prstGeom>
          <a:solidFill>
            <a:srgbClr val="F3F5F7"/>
          </a:solidFill>
          <a:ln w="9525">
            <a:solidFill>
              <a:srgbClr val="DFE4E9"/>
            </a:solidFill>
            <a:prstDash val="solid"/>
          </a:ln>
        </p:spPr>
      </p:sp>
      <p:sp>
        <p:nvSpPr>
          <p:cNvPr id="22" name="Decide circle"/>
          <p:cNvSpPr/>
          <p:nvPr/>
        </p:nvSpPr>
        <p:spPr>
          <a:xfrm>
            <a:off x="6976872" y="1325880"/>
            <a:ext cx="548640" cy="548640"/>
          </a:xfrm>
          <a:prstGeom prst="ellipse">
            <a:avLst/>
          </a:prstGeom>
          <a:solidFill>
            <a:srgbClr val="0B7D73"/>
          </a:solidFill>
          <a:ln/>
        </p:spPr>
      </p:sp>
      <p:pic>
        <p:nvPicPr>
          <p:cNvPr id="23" name="Decide icon" descr="Decide">    </p:cNvPr>
          <p:cNvPicPr>
            <a:picLocks noChangeAspect="1"/>
          </p:cNvPicPr>
          <p:nvPr/>
        </p:nvPicPr>
        <p:blipFill>
          <a:blip r:embed="rId4"/>
          <a:stretch>
            <a:fillRect/>
          </a:stretch>
        </p:blipFill>
        <p:spPr>
          <a:xfrm>
            <a:off x="7108546" y="1457554"/>
            <a:ext cx="285293" cy="285293"/>
          </a:xfrm>
          <a:prstGeom prst="rect">
            <a:avLst/>
          </a:prstGeom>
        </p:spPr>
      </p:pic>
      <p:sp>
        <p:nvSpPr>
          <p:cNvPr id="24" name="Text 18"/>
          <p:cNvSpPr txBox="1"/>
          <p:nvPr/>
        </p:nvSpPr>
        <p:spPr>
          <a:xfrm>
            <a:off x="6976872" y="1965960"/>
            <a:ext cx="1517904" cy="320040"/>
          </a:xfrm>
          <a:prstGeom prst="rect">
            <a:avLst/>
          </a:prstGeom>
          <a:noFill/>
          <a:ln/>
        </p:spPr>
        <p:txBody>
          <a:bodyPr wrap="square" lIns="0" tIns="0" rIns="0" bIns="0" rtlCol="0" anchor="t"/>
          <a:lstStyle/>
          <a:p>
            <a:pPr indent="0" marL="0">
              <a:buNone/>
            </a:pPr>
            <a:r>
              <a:rPr lang="en-US" sz="1600" b="1" dirty="0">
                <a:solidFill>
                  <a:schemeClr val="tx1"/>
                </a:solidFill>
              </a:rPr>
              <a:t>4. Decide</a:t>
            </a:r>
            <a:endParaRPr lang="en-US" sz="1600" dirty="0"/>
          </a:p>
        </p:txBody>
      </p:sp>
      <p:sp>
        <p:nvSpPr>
          <p:cNvPr id="25" name="Text 19"/>
          <p:cNvSpPr txBox="1"/>
          <p:nvPr/>
        </p:nvSpPr>
        <p:spPr>
          <a:xfrm>
            <a:off x="6976872" y="2331720"/>
            <a:ext cx="1517904" cy="1234440"/>
          </a:xfrm>
          <a:prstGeom prst="rect">
            <a:avLst/>
          </a:prstGeom>
          <a:noFill/>
          <a:ln/>
        </p:spPr>
        <p:txBody>
          <a:bodyPr wrap="square" lIns="0" tIns="0" rIns="0" bIns="0" rtlCol="0" anchor="t"/>
          <a:lstStyle/>
          <a:p>
            <a:pPr indent="0" marL="0">
              <a:buNone/>
            </a:pPr>
            <a:r>
              <a:rPr lang="en-US" sz="1200" dirty="0">
                <a:solidFill>
                  <a:schemeClr val="accent5"/>
                </a:solidFill>
              </a:rPr>
              <a:t>Try 100 / 50 / 25 / 0 % speed; take the fastest with no conflict. Else step aside or re-route.</a:t>
            </a:r>
            <a:endParaRPr lang="en-US" sz="1200" dirty="0"/>
          </a:p>
        </p:txBody>
      </p:sp>
      <p:sp>
        <p:nvSpPr>
          <p:cNvPr id="26" name="Reason example"/>
          <p:cNvSpPr/>
          <p:nvPr/>
        </p:nvSpPr>
        <p:spPr>
          <a:xfrm>
            <a:off x="457200" y="3886200"/>
            <a:ext cx="8229600" cy="594360"/>
          </a:xfrm>
          <a:prstGeom prst="roundRect">
            <a:avLst>
              <a:gd name="adj" fmla="val 12308"/>
            </a:avLst>
          </a:prstGeom>
          <a:solidFill>
            <a:srgbClr val="0D1114"/>
          </a:solidFill>
          <a:ln/>
        </p:spPr>
      </p:sp>
      <p:sp>
        <p:nvSpPr>
          <p:cNvPr id="27" name="Text 21"/>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200" b="1" dirty="0">
                <a:solidFill>
                  <a:schemeClr val="bg2"/>
                </a:solidFill>
              </a:rPr>
              <a:t>Every decision explained:  </a:t>
            </a:r>
            <a:pPr indent="0" marL="0">
              <a:buNone/>
            </a:pPr>
            <a:r>
              <a:rPr lang="en-US" sz="1200" dirty="0">
                <a:solidFill>
                  <a:schemeClr val="accent6"/>
                </a:solidFill>
                <a:latin typeface="Courier New" pitchFamily="34" charset="0"/>
                <a:ea typeface="Courier New" pitchFamily="34" charset="-122"/>
                <a:cs typeface="Courier New" pitchFamily="34" charset="-120"/>
              </a:rPr>
              <a:t>"Conflict with track 3 (person) in 1.8 s: slowing to 50%"</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Measured: predictive vs reactive</a:t>
            </a:r>
            <a:endParaRPr lang="en-US" sz="3000" dirty="0"/>
          </a:p>
        </p:txBody>
      </p:sp>
      <p:graphicFrame>
        <p:nvGraphicFramePr>
          <p:cNvPr id="3" name="Chart 0" descr=""/>
          <p:cNvGraphicFramePr/>
          <p:nvPr/>
        </p:nvGraphicFramePr>
        <p:xfrm>
          <a:off x="457200" y="109728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14300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a:t>
            </a:r>
            <a:endParaRPr lang="en-US" sz="3200" dirty="0"/>
          </a:p>
        </p:txBody>
      </p:sp>
      <p:sp>
        <p:nvSpPr>
          <p:cNvPr id="5" name="Text 2"/>
          <p:cNvSpPr txBox="1"/>
          <p:nvPr/>
        </p:nvSpPr>
        <p:spPr>
          <a:xfrm>
            <a:off x="7086600" y="1216152"/>
            <a:ext cx="1600200" cy="292608"/>
          </a:xfrm>
          <a:prstGeom prst="rect">
            <a:avLst/>
          </a:prstGeom>
          <a:noFill/>
          <a:ln/>
        </p:spPr>
        <p:txBody>
          <a:bodyPr wrap="square" lIns="0" tIns="0" rIns="0" bIns="0" rtlCol="0" anchor="t"/>
          <a:lstStyle/>
          <a:p>
            <a:pPr indent="0" marL="0">
              <a:buNone/>
            </a:pPr>
            <a:r>
              <a:rPr lang="en-US" sz="1300" b="1" dirty="0">
                <a:solidFill>
                  <a:schemeClr val="tx1"/>
                </a:solidFill>
              </a:rPr>
              <a:t>collisions in 9 runs</a:t>
            </a:r>
            <a:endParaRPr lang="en-US" sz="1300" dirty="0"/>
          </a:p>
        </p:txBody>
      </p:sp>
      <p:sp>
        <p:nvSpPr>
          <p:cNvPr id="6" name="Text 3"/>
          <p:cNvSpPr txBox="1"/>
          <p:nvPr/>
        </p:nvSpPr>
        <p:spPr>
          <a:xfrm>
            <a:off x="7086600" y="150876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2</a:t>
            </a:r>
            <a:endParaRPr lang="en-US" sz="1100" dirty="0"/>
          </a:p>
        </p:txBody>
      </p:sp>
      <p:sp>
        <p:nvSpPr>
          <p:cNvPr id="7" name="Text 4"/>
          <p:cNvSpPr txBox="1"/>
          <p:nvPr/>
        </p:nvSpPr>
        <p:spPr>
          <a:xfrm>
            <a:off x="5577840" y="219456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0.60 m</a:t>
            </a:r>
            <a:endParaRPr lang="en-US" sz="3200" dirty="0"/>
          </a:p>
        </p:txBody>
      </p:sp>
      <p:sp>
        <p:nvSpPr>
          <p:cNvPr id="8" name="Text 5"/>
          <p:cNvSpPr txBox="1"/>
          <p:nvPr/>
        </p:nvSpPr>
        <p:spPr>
          <a:xfrm>
            <a:off x="7086600" y="2267712"/>
            <a:ext cx="1600200" cy="292608"/>
          </a:xfrm>
          <a:prstGeom prst="rect">
            <a:avLst/>
          </a:prstGeom>
          <a:noFill/>
          <a:ln/>
        </p:spPr>
        <p:txBody>
          <a:bodyPr wrap="square" lIns="0" tIns="0" rIns="0" bIns="0" rtlCol="0" anchor="t"/>
          <a:lstStyle/>
          <a:p>
            <a:pPr indent="0" marL="0">
              <a:buNone/>
            </a:pPr>
            <a:r>
              <a:rPr lang="en-US" sz="1300" b="1" dirty="0">
                <a:solidFill>
                  <a:schemeClr val="tx1"/>
                </a:solidFill>
              </a:rPr>
              <a:t>worst closest approach</a:t>
            </a:r>
            <a:endParaRPr lang="en-US" sz="1300" dirty="0"/>
          </a:p>
        </p:txBody>
      </p:sp>
      <p:sp>
        <p:nvSpPr>
          <p:cNvPr id="9" name="Text 6"/>
          <p:cNvSpPr txBox="1"/>
          <p:nvPr/>
        </p:nvSpPr>
        <p:spPr>
          <a:xfrm>
            <a:off x="7086600" y="256032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−0.03 m (contact)</a:t>
            </a:r>
            <a:endParaRPr lang="en-US" sz="1100" dirty="0"/>
          </a:p>
        </p:txBody>
      </p:sp>
      <p:sp>
        <p:nvSpPr>
          <p:cNvPr id="10" name="Text 7"/>
          <p:cNvSpPr txBox="1"/>
          <p:nvPr/>
        </p:nvSpPr>
        <p:spPr>
          <a:xfrm>
            <a:off x="5577840" y="3246120"/>
            <a:ext cx="1463040" cy="68580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+1.5 s</a:t>
            </a:r>
            <a:endParaRPr lang="en-US" sz="3200" dirty="0"/>
          </a:p>
        </p:txBody>
      </p:sp>
      <p:sp>
        <p:nvSpPr>
          <p:cNvPr id="11" name="Text 8"/>
          <p:cNvSpPr txBox="1"/>
          <p:nvPr/>
        </p:nvSpPr>
        <p:spPr>
          <a:xfrm>
            <a:off x="7086600" y="33192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per mission</a:t>
            </a:r>
            <a:endParaRPr lang="en-US" sz="1300" dirty="0"/>
          </a:p>
        </p:txBody>
      </p:sp>
      <p:sp>
        <p:nvSpPr>
          <p:cNvPr id="12" name="Text 9"/>
          <p:cNvSpPr txBox="1"/>
          <p:nvPr/>
        </p:nvSpPr>
        <p:spPr>
          <a:xfrm>
            <a:off x="7086600" y="36118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the price of safety</a:t>
            </a:r>
            <a:endParaRPr lang="en-US" sz="1100" dirty="0"/>
          </a:p>
        </p:txBody>
      </p:sp>
      <p:sp>
        <p:nvSpPr>
          <p:cNvPr id="13" name="Text 10"/>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000" i="1" dirty="0">
                <a:solidFill>
                  <a:schemeClr val="accent5"/>
                </a:solidFill>
              </a:rPr>
              <a:t>Simulated crossing corridor: person at 0.6–1.2 m/s who does not give way, turning cart; fixed seeds, reproduced exactly on 23 Oct 2026. Not a statistical safety claim.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More than a demo</a:t>
            </a:r>
            <a:endParaRPr lang="en-US" sz="3000" dirty="0"/>
          </a:p>
        </p:txBody>
      </p:sp>
      <p:sp>
        <p:nvSpPr>
          <p:cNvPr id="3" name="Voice commands card"/>
          <p:cNvSpPr/>
          <p:nvPr/>
        </p:nvSpPr>
        <p:spPr>
          <a:xfrm>
            <a:off x="457200" y="1143000"/>
            <a:ext cx="2587752" cy="1508760"/>
          </a:xfrm>
          <a:prstGeom prst="roundRect">
            <a:avLst>
              <a:gd name="adj" fmla="val 4848"/>
            </a:avLst>
          </a:prstGeom>
          <a:solidFill>
            <a:srgbClr val="F3F5F7"/>
          </a:solidFill>
          <a:ln w="9525">
            <a:solidFill>
              <a:srgbClr val="DFE4E9"/>
            </a:solidFill>
            <a:prstDash val="solid"/>
          </a:ln>
        </p:spPr>
      </p:sp>
      <p:sp>
        <p:nvSpPr>
          <p:cNvPr id="4" name="Voice commands circle"/>
          <p:cNvSpPr/>
          <p:nvPr/>
        </p:nvSpPr>
        <p:spPr>
          <a:xfrm>
            <a:off x="640080" y="1325880"/>
            <a:ext cx="457200" cy="457200"/>
          </a:xfrm>
          <a:prstGeom prst="ellipse">
            <a:avLst/>
          </a:prstGeom>
          <a:solidFill>
            <a:srgbClr val="E2F2F0"/>
          </a:solidFill>
          <a:ln/>
        </p:spPr>
      </p:sp>
      <p:pic>
        <p:nvPicPr>
          <p:cNvPr id="5" name="Voice commands icon" descr="Voice commands">    </p:cNvPr>
          <p:cNvPicPr>
            <a:picLocks noChangeAspect="1"/>
          </p:cNvPicPr>
          <p:nvPr/>
        </p:nvPicPr>
        <p:blipFill>
          <a:blip r:embed="rId1"/>
          <a:stretch>
            <a:fillRect/>
          </a:stretch>
        </p:blipFill>
        <p:spPr>
          <a:xfrm>
            <a:off x="749808" y="1435608"/>
            <a:ext cx="237744" cy="237744"/>
          </a:xfrm>
          <a:prstGeom prst="rect">
            <a:avLst/>
          </a:prstGeom>
        </p:spPr>
      </p:pic>
      <p:sp>
        <p:nvSpPr>
          <p:cNvPr id="6" name="Text 3"/>
          <p:cNvSpPr txBox="1"/>
          <p:nvPr/>
        </p:nvSpPr>
        <p:spPr>
          <a:xfrm>
            <a:off x="1207008"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Voice commands</a:t>
            </a:r>
            <a:endParaRPr lang="en-US" sz="1500" dirty="0"/>
          </a:p>
        </p:txBody>
      </p:sp>
      <p:sp>
        <p:nvSpPr>
          <p:cNvPr id="7" name="Text 4"/>
          <p:cNvSpPr txBox="1"/>
          <p:nvPr/>
        </p:nvSpPr>
        <p:spPr>
          <a:xfrm>
            <a:off x="640080"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"Pharmacy se Ward B tak dawai le jao". Whisper runs locally; confirmation before moving.</a:t>
            </a:r>
            <a:endParaRPr lang="en-US" sz="1200" dirty="0"/>
          </a:p>
        </p:txBody>
      </p:sp>
      <p:sp>
        <p:nvSpPr>
          <p:cNvPr id="8" name="SLAM and exploration card"/>
          <p:cNvSpPr/>
          <p:nvPr/>
        </p:nvSpPr>
        <p:spPr>
          <a:xfrm>
            <a:off x="3273552" y="1143000"/>
            <a:ext cx="2587752" cy="1508760"/>
          </a:xfrm>
          <a:prstGeom prst="roundRect">
            <a:avLst>
              <a:gd name="adj" fmla="val 4848"/>
            </a:avLst>
          </a:prstGeom>
          <a:solidFill>
            <a:srgbClr val="F3F5F7"/>
          </a:solidFill>
          <a:ln w="9525">
            <a:solidFill>
              <a:srgbClr val="DFE4E9"/>
            </a:solidFill>
            <a:prstDash val="solid"/>
          </a:ln>
        </p:spPr>
      </p:sp>
      <p:sp>
        <p:nvSpPr>
          <p:cNvPr id="9" name="SLAM and exploration circle"/>
          <p:cNvSpPr/>
          <p:nvPr/>
        </p:nvSpPr>
        <p:spPr>
          <a:xfrm>
            <a:off x="3456432" y="1325880"/>
            <a:ext cx="457200" cy="457200"/>
          </a:xfrm>
          <a:prstGeom prst="ellipse">
            <a:avLst/>
          </a:prstGeom>
          <a:solidFill>
            <a:srgbClr val="E2F2F0"/>
          </a:solidFill>
          <a:ln/>
        </p:spPr>
      </p:sp>
      <p:pic>
        <p:nvPicPr>
          <p:cNvPr id="10" name="SLAM and exploration icon" descr="SLAM and exploration">    </p:cNvPr>
          <p:cNvPicPr>
            <a:picLocks noChangeAspect="1"/>
          </p:cNvPicPr>
          <p:nvPr/>
        </p:nvPicPr>
        <p:blipFill>
          <a:blip r:embed="rId2"/>
          <a:stretch>
            <a:fillRect/>
          </a:stretch>
        </p:blipFill>
        <p:spPr>
          <a:xfrm>
            <a:off x="3566160" y="1435608"/>
            <a:ext cx="237744" cy="237744"/>
          </a:xfrm>
          <a:prstGeom prst="rect">
            <a:avLst/>
          </a:prstGeom>
        </p:spPr>
      </p:pic>
      <p:sp>
        <p:nvSpPr>
          <p:cNvPr id="11" name="Text 7"/>
          <p:cNvSpPr txBox="1"/>
          <p:nvPr/>
        </p:nvSpPr>
        <p:spPr>
          <a:xfrm>
            <a:off x="4023360"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SLAM and exploration</a:t>
            </a:r>
            <a:endParaRPr lang="en-US" sz="1500" dirty="0"/>
          </a:p>
        </p:txBody>
      </p:sp>
      <p:sp>
        <p:nvSpPr>
          <p:cNvPr id="12" name="Text 8"/>
          <p:cNvSpPr txBox="1"/>
          <p:nvPr/>
        </p:nvSpPr>
        <p:spPr>
          <a:xfrm>
            <a:off x="3456432"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Builds its own map from LiDAR; exports ROS map files (PGM + YAML).</a:t>
            </a:r>
            <a:endParaRPr lang="en-US" sz="1200" dirty="0"/>
          </a:p>
        </p:txBody>
      </p:sp>
      <p:sp>
        <p:nvSpPr>
          <p:cNvPr id="13" name="Delivery operations card"/>
          <p:cNvSpPr/>
          <p:nvPr/>
        </p:nvSpPr>
        <p:spPr>
          <a:xfrm>
            <a:off x="6089904" y="1143000"/>
            <a:ext cx="2587752" cy="1508760"/>
          </a:xfrm>
          <a:prstGeom prst="roundRect">
            <a:avLst>
              <a:gd name="adj" fmla="val 4848"/>
            </a:avLst>
          </a:prstGeom>
          <a:solidFill>
            <a:srgbClr val="F3F5F7"/>
          </a:solidFill>
          <a:ln w="9525">
            <a:solidFill>
              <a:srgbClr val="DFE4E9"/>
            </a:solidFill>
            <a:prstDash val="solid"/>
          </a:ln>
        </p:spPr>
      </p:sp>
      <p:sp>
        <p:nvSpPr>
          <p:cNvPr id="14" name="Delivery operations circle"/>
          <p:cNvSpPr/>
          <p:nvPr/>
        </p:nvSpPr>
        <p:spPr>
          <a:xfrm>
            <a:off x="6272784" y="1325880"/>
            <a:ext cx="457200" cy="457200"/>
          </a:xfrm>
          <a:prstGeom prst="ellipse">
            <a:avLst/>
          </a:prstGeom>
          <a:solidFill>
            <a:srgbClr val="E2F2F0"/>
          </a:solidFill>
          <a:ln/>
        </p:spPr>
      </p:sp>
      <p:pic>
        <p:nvPicPr>
          <p:cNvPr id="15" name="Delivery operations icon" descr="Delivery operations">    </p:cNvPr>
          <p:cNvPicPr>
            <a:picLocks noChangeAspect="1"/>
          </p:cNvPicPr>
          <p:nvPr/>
        </p:nvPicPr>
        <p:blipFill>
          <a:blip r:embed="rId3"/>
          <a:stretch>
            <a:fillRect/>
          </a:stretch>
        </p:blipFill>
        <p:spPr>
          <a:xfrm>
            <a:off x="6382512" y="1435608"/>
            <a:ext cx="237744" cy="237744"/>
          </a:xfrm>
          <a:prstGeom prst="rect">
            <a:avLst/>
          </a:prstGeom>
        </p:spPr>
      </p:pic>
      <p:sp>
        <p:nvSpPr>
          <p:cNvPr id="16" name="Text 11"/>
          <p:cNvSpPr txBox="1"/>
          <p:nvPr/>
        </p:nvSpPr>
        <p:spPr>
          <a:xfrm>
            <a:off x="6839712" y="1389888"/>
            <a:ext cx="1673352" cy="320040"/>
          </a:xfrm>
          <a:prstGeom prst="rect">
            <a:avLst/>
          </a:prstGeom>
          <a:noFill/>
          <a:ln/>
        </p:spPr>
        <p:txBody>
          <a:bodyPr wrap="square" lIns="0" tIns="0" rIns="0" bIns="0" rtlCol="0" anchor="t"/>
          <a:lstStyle/>
          <a:p>
            <a:pPr indent="0" marL="0">
              <a:buNone/>
            </a:pPr>
            <a:r>
              <a:rPr lang="en-US" sz="1500" b="1" dirty="0">
                <a:solidFill>
                  <a:schemeClr val="tx1"/>
                </a:solidFill>
              </a:rPr>
              <a:t>Delivery operations</a:t>
            </a:r>
            <a:endParaRPr lang="en-US" sz="1500" dirty="0"/>
          </a:p>
        </p:txBody>
      </p:sp>
      <p:sp>
        <p:nvSpPr>
          <p:cNvPr id="17" name="Text 12"/>
          <p:cNvSpPr txBox="1"/>
          <p:nvPr/>
        </p:nvSpPr>
        <p:spPr>
          <a:xfrm>
            <a:off x="6272784" y="189280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Pickup, load confirmation, drop-off with PIN proof, battery return to dock.</a:t>
            </a:r>
            <a:endParaRPr lang="en-US" sz="1200" dirty="0"/>
          </a:p>
        </p:txBody>
      </p:sp>
      <p:sp>
        <p:nvSpPr>
          <p:cNvPr id="18" name="3D digital twin card"/>
          <p:cNvSpPr/>
          <p:nvPr/>
        </p:nvSpPr>
        <p:spPr>
          <a:xfrm>
            <a:off x="457200" y="2880360"/>
            <a:ext cx="2587752" cy="1508760"/>
          </a:xfrm>
          <a:prstGeom prst="roundRect">
            <a:avLst>
              <a:gd name="adj" fmla="val 4848"/>
            </a:avLst>
          </a:prstGeom>
          <a:solidFill>
            <a:srgbClr val="F3F5F7"/>
          </a:solidFill>
          <a:ln w="9525">
            <a:solidFill>
              <a:srgbClr val="DFE4E9"/>
            </a:solidFill>
            <a:prstDash val="solid"/>
          </a:ln>
        </p:spPr>
      </p:sp>
      <p:sp>
        <p:nvSpPr>
          <p:cNvPr id="19" name="3D digital twin circle"/>
          <p:cNvSpPr/>
          <p:nvPr/>
        </p:nvSpPr>
        <p:spPr>
          <a:xfrm>
            <a:off x="640080" y="3063240"/>
            <a:ext cx="457200" cy="457200"/>
          </a:xfrm>
          <a:prstGeom prst="ellipse">
            <a:avLst/>
          </a:prstGeom>
          <a:solidFill>
            <a:srgbClr val="E2F2F0"/>
          </a:solidFill>
          <a:ln/>
        </p:spPr>
      </p:sp>
      <p:pic>
        <p:nvPicPr>
          <p:cNvPr id="20" name="3D digital twin icon" descr="3D digital twin">    </p:cNvPr>
          <p:cNvPicPr>
            <a:picLocks noChangeAspect="1"/>
          </p:cNvPicPr>
          <p:nvPr/>
        </p:nvPicPr>
        <p:blipFill>
          <a:blip r:embed="rId4"/>
          <a:stretch>
            <a:fillRect/>
          </a:stretch>
        </p:blipFill>
        <p:spPr>
          <a:xfrm>
            <a:off x="749808" y="3172968"/>
            <a:ext cx="237744" cy="237744"/>
          </a:xfrm>
          <a:prstGeom prst="rect">
            <a:avLst/>
          </a:prstGeom>
        </p:spPr>
      </p:pic>
      <p:sp>
        <p:nvSpPr>
          <p:cNvPr id="21" name="Text 15"/>
          <p:cNvSpPr txBox="1"/>
          <p:nvPr/>
        </p:nvSpPr>
        <p:spPr>
          <a:xfrm>
            <a:off x="1207008"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3D digital twin</a:t>
            </a:r>
            <a:endParaRPr lang="en-US" sz="1500" dirty="0"/>
          </a:p>
        </p:txBody>
      </p:sp>
      <p:sp>
        <p:nvSpPr>
          <p:cNvPr id="22" name="Text 16"/>
          <p:cNvSpPr txBox="1"/>
          <p:nvPr/>
        </p:nvSpPr>
        <p:spPr>
          <a:xfrm>
            <a:off x="640080"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Live 3D and 2D views of the robot, LiDAR, routes and predicted paths.</a:t>
            </a:r>
            <a:endParaRPr lang="en-US" sz="1200" dirty="0"/>
          </a:p>
        </p:txBody>
      </p:sp>
      <p:sp>
        <p:nvSpPr>
          <p:cNvPr id="23" name="Accessible card"/>
          <p:cNvSpPr/>
          <p:nvPr/>
        </p:nvSpPr>
        <p:spPr>
          <a:xfrm>
            <a:off x="3273552" y="2880360"/>
            <a:ext cx="2587752" cy="1508760"/>
          </a:xfrm>
          <a:prstGeom prst="roundRect">
            <a:avLst>
              <a:gd name="adj" fmla="val 4848"/>
            </a:avLst>
          </a:prstGeom>
          <a:solidFill>
            <a:srgbClr val="F3F5F7"/>
          </a:solidFill>
          <a:ln w="9525">
            <a:solidFill>
              <a:srgbClr val="DFE4E9"/>
            </a:solidFill>
            <a:prstDash val="solid"/>
          </a:ln>
        </p:spPr>
      </p:sp>
      <p:sp>
        <p:nvSpPr>
          <p:cNvPr id="24" name="Accessible circle"/>
          <p:cNvSpPr/>
          <p:nvPr/>
        </p:nvSpPr>
        <p:spPr>
          <a:xfrm>
            <a:off x="3456432" y="3063240"/>
            <a:ext cx="457200" cy="457200"/>
          </a:xfrm>
          <a:prstGeom prst="ellipse">
            <a:avLst/>
          </a:prstGeom>
          <a:solidFill>
            <a:srgbClr val="E2F2F0"/>
          </a:solidFill>
          <a:ln/>
        </p:spPr>
      </p:sp>
      <p:pic>
        <p:nvPicPr>
          <p:cNvPr id="25" name="Accessible icon" descr="Accessible">    </p:cNvPr>
          <p:cNvPicPr>
            <a:picLocks noChangeAspect="1"/>
          </p:cNvPicPr>
          <p:nvPr/>
        </p:nvPicPr>
        <p:blipFill>
          <a:blip r:embed="rId5"/>
          <a:stretch>
            <a:fillRect/>
          </a:stretch>
        </p:blipFill>
        <p:spPr>
          <a:xfrm>
            <a:off x="3566160" y="3172968"/>
            <a:ext cx="237744" cy="237744"/>
          </a:xfrm>
          <a:prstGeom prst="rect">
            <a:avLst/>
          </a:prstGeom>
        </p:spPr>
      </p:pic>
      <p:sp>
        <p:nvSpPr>
          <p:cNvPr id="26" name="Text 19"/>
          <p:cNvSpPr txBox="1"/>
          <p:nvPr/>
        </p:nvSpPr>
        <p:spPr>
          <a:xfrm>
            <a:off x="4023360"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Accessible</a:t>
            </a:r>
            <a:endParaRPr lang="en-US" sz="1500" dirty="0"/>
          </a:p>
        </p:txBody>
      </p:sp>
      <p:sp>
        <p:nvSpPr>
          <p:cNvPr id="27" name="Text 20"/>
          <p:cNvSpPr txBox="1"/>
          <p:nvPr/>
        </p:nvSpPr>
        <p:spPr>
          <a:xfrm>
            <a:off x="3456432"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Every action works without audio: text-first, large text, visual alerts.</a:t>
            </a:r>
            <a:endParaRPr lang="en-US" sz="1200" dirty="0"/>
          </a:p>
        </p:txBody>
      </p:sp>
      <p:sp>
        <p:nvSpPr>
          <p:cNvPr id="28" name="Tested card"/>
          <p:cNvSpPr/>
          <p:nvPr/>
        </p:nvSpPr>
        <p:spPr>
          <a:xfrm>
            <a:off x="6089904" y="2880360"/>
            <a:ext cx="2587752" cy="1508760"/>
          </a:xfrm>
          <a:prstGeom prst="roundRect">
            <a:avLst>
              <a:gd name="adj" fmla="val 4848"/>
            </a:avLst>
          </a:prstGeom>
          <a:solidFill>
            <a:srgbClr val="F3F5F7"/>
          </a:solidFill>
          <a:ln w="9525">
            <a:solidFill>
              <a:srgbClr val="DFE4E9"/>
            </a:solidFill>
            <a:prstDash val="solid"/>
          </a:ln>
        </p:spPr>
      </p:sp>
      <p:sp>
        <p:nvSpPr>
          <p:cNvPr id="29" name="Tested circle"/>
          <p:cNvSpPr/>
          <p:nvPr/>
        </p:nvSpPr>
        <p:spPr>
          <a:xfrm>
            <a:off x="6272784" y="3063240"/>
            <a:ext cx="457200" cy="457200"/>
          </a:xfrm>
          <a:prstGeom prst="ellipse">
            <a:avLst/>
          </a:prstGeom>
          <a:solidFill>
            <a:srgbClr val="E2F2F0"/>
          </a:solidFill>
          <a:ln/>
        </p:spPr>
      </p:sp>
      <p:pic>
        <p:nvPicPr>
          <p:cNvPr id="30" name="Tested icon" descr="Tested">    </p:cNvPr>
          <p:cNvPicPr>
            <a:picLocks noChangeAspect="1"/>
          </p:cNvPicPr>
          <p:nvPr/>
        </p:nvPicPr>
        <p:blipFill>
          <a:blip r:embed="rId6"/>
          <a:stretch>
            <a:fillRect/>
          </a:stretch>
        </p:blipFill>
        <p:spPr>
          <a:xfrm>
            <a:off x="6382512" y="3172968"/>
            <a:ext cx="237744" cy="237744"/>
          </a:xfrm>
          <a:prstGeom prst="rect">
            <a:avLst/>
          </a:prstGeom>
        </p:spPr>
      </p:pic>
      <p:sp>
        <p:nvSpPr>
          <p:cNvPr id="31" name="Text 23"/>
          <p:cNvSpPr txBox="1"/>
          <p:nvPr/>
        </p:nvSpPr>
        <p:spPr>
          <a:xfrm>
            <a:off x="6839712" y="3127248"/>
            <a:ext cx="1673352" cy="320040"/>
          </a:xfrm>
          <a:prstGeom prst="rect">
            <a:avLst/>
          </a:prstGeom>
          <a:noFill/>
          <a:ln/>
        </p:spPr>
        <p:txBody>
          <a:bodyPr wrap="square" lIns="0" tIns="0" rIns="0" bIns="0" rtlCol="0" anchor="t"/>
          <a:lstStyle/>
          <a:p>
            <a:pPr indent="0" marL="0">
              <a:buNone/>
            </a:pPr>
            <a:r>
              <a:rPr lang="en-US" sz="1500" b="1" dirty="0">
                <a:solidFill>
                  <a:schemeClr val="tx1"/>
                </a:solidFill>
              </a:rPr>
              <a:t>Tested</a:t>
            </a:r>
            <a:endParaRPr lang="en-US" sz="1500" dirty="0"/>
          </a:p>
        </p:txBody>
      </p:sp>
      <p:sp>
        <p:nvSpPr>
          <p:cNvPr id="32" name="Text 24"/>
          <p:cNvSpPr txBox="1"/>
          <p:nvPr/>
        </p:nvSpPr>
        <p:spPr>
          <a:xfrm>
            <a:off x="6272784" y="3630168"/>
            <a:ext cx="2221992" cy="685800"/>
          </a:xfrm>
          <a:prstGeom prst="rect">
            <a:avLst/>
          </a:prstGeom>
          <a:noFill/>
          <a:ln/>
        </p:spPr>
        <p:txBody>
          <a:bodyPr wrap="square" lIns="0" tIns="0" rIns="0" bIns="0" rtlCol="0" anchor="t"/>
          <a:lstStyle/>
          <a:p>
            <a:pPr indent="0" marL="0">
              <a:buNone/>
            </a:pPr>
            <a:r>
              <a:rPr lang="en-US" sz="1200" dirty="0">
                <a:solidFill>
                  <a:schemeClr val="accent5"/>
                </a:solidFill>
              </a:rPr>
              <a:t>Unit, API, WebSocket and end-to-end tests, plus a repeatable evaluation.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Hardware: what the robot is built from</a:t>
            </a:r>
            <a:endParaRPr lang="en-US" sz="3000" dirty="0"/>
          </a:p>
        </p:txBody>
      </p:sp>
      <p:sp>
        <p:nvSpPr>
          <p:cNvPr id="3" name="Laptop card"/>
          <p:cNvSpPr/>
          <p:nvPr/>
        </p:nvSpPr>
        <p:spPr>
          <a:xfrm>
            <a:off x="457200" y="1097280"/>
            <a:ext cx="1883664" cy="1572768"/>
          </a:xfrm>
          <a:prstGeom prst="roundRect">
            <a:avLst>
              <a:gd name="adj" fmla="val 4651"/>
            </a:avLst>
          </a:prstGeom>
          <a:solidFill>
            <a:srgbClr val="F3F5F7"/>
          </a:solidFill>
          <a:ln w="9525">
            <a:solidFill>
              <a:srgbClr val="DFE4E9"/>
            </a:solidFill>
            <a:prstDash val="solid"/>
          </a:ln>
        </p:spPr>
      </p:sp>
      <p:sp>
        <p:nvSpPr>
          <p:cNvPr id="4" name="Laptop circle"/>
          <p:cNvSpPr/>
          <p:nvPr/>
        </p:nvSpPr>
        <p:spPr>
          <a:xfrm>
            <a:off x="594360" y="1234440"/>
            <a:ext cx="411480" cy="411480"/>
          </a:xfrm>
          <a:prstGeom prst="ellipse">
            <a:avLst/>
          </a:prstGeom>
          <a:solidFill>
            <a:srgbClr val="0B7D73"/>
          </a:solidFill>
          <a:ln/>
        </p:spPr>
      </p:sp>
      <p:pic>
        <p:nvPicPr>
          <p:cNvPr id="5" name="Laptop icon" descr="Laptop">    </p:cNvPr>
          <p:cNvPicPr>
            <a:picLocks noChangeAspect="1"/>
          </p:cNvPicPr>
          <p:nvPr/>
        </p:nvPicPr>
        <p:blipFill>
          <a:blip r:embed="rId1"/>
          <a:stretch>
            <a:fillRect/>
          </a:stretch>
        </p:blipFill>
        <p:spPr>
          <a:xfrm>
            <a:off x="693115" y="1333195"/>
            <a:ext cx="213970" cy="213970"/>
          </a:xfrm>
          <a:prstGeom prst="rect">
            <a:avLst/>
          </a:prstGeom>
        </p:spPr>
      </p:pic>
      <p:sp>
        <p:nvSpPr>
          <p:cNvPr id="6" name="Text 3"/>
          <p:cNvSpPr txBox="1"/>
          <p:nvPr/>
        </p:nvSpPr>
        <p:spPr>
          <a:xfrm>
            <a:off x="1097280"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₹0</a:t>
            </a:r>
            <a:endParaRPr lang="en-US" sz="1300" dirty="0"/>
          </a:p>
        </p:txBody>
      </p:sp>
      <p:sp>
        <p:nvSpPr>
          <p:cNvPr id="7" name="Text 4"/>
          <p:cNvSpPr txBox="1"/>
          <p:nvPr/>
        </p:nvSpPr>
        <p:spPr>
          <a:xfrm>
            <a:off x="594360"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Laptop</a:t>
            </a:r>
            <a:endParaRPr lang="en-US" sz="1300" dirty="0"/>
          </a:p>
        </p:txBody>
      </p:sp>
      <p:sp>
        <p:nvSpPr>
          <p:cNvPr id="8" name="Text 5"/>
          <p:cNvSpPr txBox="1"/>
          <p:nvPr/>
        </p:nvSpPr>
        <p:spPr>
          <a:xfrm>
            <a:off x="594360"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Already owned; rides on the robot, runs the backend</a:t>
            </a:r>
            <a:endParaRPr lang="en-US" sz="1100" dirty="0"/>
          </a:p>
        </p:txBody>
      </p:sp>
      <p:sp>
        <p:nvSpPr>
          <p:cNvPr id="9" name="USB webcam card"/>
          <p:cNvSpPr/>
          <p:nvPr/>
        </p:nvSpPr>
        <p:spPr>
          <a:xfrm>
            <a:off x="2569464" y="1097280"/>
            <a:ext cx="1883664" cy="1572768"/>
          </a:xfrm>
          <a:prstGeom prst="roundRect">
            <a:avLst>
              <a:gd name="adj" fmla="val 4651"/>
            </a:avLst>
          </a:prstGeom>
          <a:solidFill>
            <a:srgbClr val="F3F5F7"/>
          </a:solidFill>
          <a:ln w="9525">
            <a:solidFill>
              <a:srgbClr val="DFE4E9"/>
            </a:solidFill>
            <a:prstDash val="solid"/>
          </a:ln>
        </p:spPr>
      </p:sp>
      <p:sp>
        <p:nvSpPr>
          <p:cNvPr id="10" name="USB webcam circle"/>
          <p:cNvSpPr/>
          <p:nvPr/>
        </p:nvSpPr>
        <p:spPr>
          <a:xfrm>
            <a:off x="2706624" y="1234440"/>
            <a:ext cx="411480" cy="411480"/>
          </a:xfrm>
          <a:prstGeom prst="ellipse">
            <a:avLst/>
          </a:prstGeom>
          <a:solidFill>
            <a:srgbClr val="0B7D73"/>
          </a:solidFill>
          <a:ln/>
        </p:spPr>
      </p:sp>
      <p:pic>
        <p:nvPicPr>
          <p:cNvPr id="11" name="USB webcam icon" descr="USB webcam">    </p:cNvPr>
          <p:cNvPicPr>
            <a:picLocks noChangeAspect="1"/>
          </p:cNvPicPr>
          <p:nvPr/>
        </p:nvPicPr>
        <p:blipFill>
          <a:blip r:embed="rId2"/>
          <a:stretch>
            <a:fillRect/>
          </a:stretch>
        </p:blipFill>
        <p:spPr>
          <a:xfrm>
            <a:off x="2805379" y="1333195"/>
            <a:ext cx="213970" cy="213970"/>
          </a:xfrm>
          <a:prstGeom prst="rect">
            <a:avLst/>
          </a:prstGeom>
        </p:spPr>
      </p:pic>
      <p:sp>
        <p:nvSpPr>
          <p:cNvPr id="12" name="Text 8"/>
          <p:cNvSpPr txBox="1"/>
          <p:nvPr/>
        </p:nvSpPr>
        <p:spPr>
          <a:xfrm>
            <a:off x="3209544"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₹1,600</a:t>
            </a:r>
            <a:endParaRPr lang="en-US" sz="1300" dirty="0"/>
          </a:p>
        </p:txBody>
      </p:sp>
      <p:sp>
        <p:nvSpPr>
          <p:cNvPr id="13" name="Text 9"/>
          <p:cNvSpPr txBox="1"/>
          <p:nvPr/>
        </p:nvSpPr>
        <p:spPr>
          <a:xfrm>
            <a:off x="2706624"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USB webcam</a:t>
            </a:r>
            <a:endParaRPr lang="en-US" sz="1300" dirty="0"/>
          </a:p>
        </p:txBody>
      </p:sp>
      <p:sp>
        <p:nvSpPr>
          <p:cNvPr id="14" name="Text 10"/>
          <p:cNvSpPr txBox="1"/>
          <p:nvPr/>
        </p:nvSpPr>
        <p:spPr>
          <a:xfrm>
            <a:off x="2706624"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Logitech C270; YOLOv8 runs on the laptop</a:t>
            </a:r>
            <a:endParaRPr lang="en-US" sz="1100" dirty="0"/>
          </a:p>
        </p:txBody>
      </p:sp>
      <p:sp>
        <p:nvSpPr>
          <p:cNvPr id="15" name="RPLIDAR A1M8 card"/>
          <p:cNvSpPr/>
          <p:nvPr/>
        </p:nvSpPr>
        <p:spPr>
          <a:xfrm>
            <a:off x="4681728" y="1097280"/>
            <a:ext cx="1883664" cy="1572768"/>
          </a:xfrm>
          <a:prstGeom prst="roundRect">
            <a:avLst>
              <a:gd name="adj" fmla="val 4651"/>
            </a:avLst>
          </a:prstGeom>
          <a:solidFill>
            <a:srgbClr val="F3F5F7"/>
          </a:solidFill>
          <a:ln w="9525">
            <a:solidFill>
              <a:srgbClr val="DFE4E9"/>
            </a:solidFill>
            <a:prstDash val="solid"/>
          </a:ln>
        </p:spPr>
      </p:sp>
      <p:sp>
        <p:nvSpPr>
          <p:cNvPr id="16" name="RPLIDAR A1M8 circle"/>
          <p:cNvSpPr/>
          <p:nvPr/>
        </p:nvSpPr>
        <p:spPr>
          <a:xfrm>
            <a:off x="4818888" y="1234440"/>
            <a:ext cx="411480" cy="411480"/>
          </a:xfrm>
          <a:prstGeom prst="ellipse">
            <a:avLst/>
          </a:prstGeom>
          <a:solidFill>
            <a:srgbClr val="0B7D73"/>
          </a:solidFill>
          <a:ln/>
        </p:spPr>
      </p:sp>
      <p:pic>
        <p:nvPicPr>
          <p:cNvPr id="17" name="RPLIDAR A1M8 icon" descr="RPLIDAR A1M8">    </p:cNvPr>
          <p:cNvPicPr>
            <a:picLocks noChangeAspect="1"/>
          </p:cNvPicPr>
          <p:nvPr/>
        </p:nvPicPr>
        <p:blipFill>
          <a:blip r:embed="rId3"/>
          <a:stretch>
            <a:fillRect/>
          </a:stretch>
        </p:blipFill>
        <p:spPr>
          <a:xfrm>
            <a:off x="4917643" y="1333195"/>
            <a:ext cx="213970" cy="213970"/>
          </a:xfrm>
          <a:prstGeom prst="rect">
            <a:avLst/>
          </a:prstGeom>
        </p:spPr>
      </p:pic>
      <p:sp>
        <p:nvSpPr>
          <p:cNvPr id="18" name="Text 13"/>
          <p:cNvSpPr txBox="1"/>
          <p:nvPr/>
        </p:nvSpPr>
        <p:spPr>
          <a:xfrm>
            <a:off x="5321808"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₹8,500</a:t>
            </a:r>
            <a:endParaRPr lang="en-US" sz="1300" dirty="0"/>
          </a:p>
        </p:txBody>
      </p:sp>
      <p:sp>
        <p:nvSpPr>
          <p:cNvPr id="19" name="Text 14"/>
          <p:cNvSpPr txBox="1"/>
          <p:nvPr/>
        </p:nvSpPr>
        <p:spPr>
          <a:xfrm>
            <a:off x="4818888"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RPLIDAR A1M8</a:t>
            </a:r>
            <a:endParaRPr lang="en-US" sz="1300" dirty="0"/>
          </a:p>
        </p:txBody>
      </p:sp>
      <p:sp>
        <p:nvSpPr>
          <p:cNvPr id="20" name="Text 15"/>
          <p:cNvSpPr txBox="1"/>
          <p:nvPr/>
        </p:nvSpPr>
        <p:spPr>
          <a:xfrm>
            <a:off x="4818888"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360° LiDAR, 12 m range, up to 10 Hz</a:t>
            </a:r>
            <a:endParaRPr lang="en-US" sz="1100" dirty="0"/>
          </a:p>
        </p:txBody>
      </p:sp>
      <p:sp>
        <p:nvSpPr>
          <p:cNvPr id="21" name="Arduino Mega 2560 card"/>
          <p:cNvSpPr/>
          <p:nvPr/>
        </p:nvSpPr>
        <p:spPr>
          <a:xfrm>
            <a:off x="6793992" y="1097280"/>
            <a:ext cx="1883664" cy="1572768"/>
          </a:xfrm>
          <a:prstGeom prst="roundRect">
            <a:avLst>
              <a:gd name="adj" fmla="val 4651"/>
            </a:avLst>
          </a:prstGeom>
          <a:solidFill>
            <a:srgbClr val="F3F5F7"/>
          </a:solidFill>
          <a:ln w="9525">
            <a:solidFill>
              <a:srgbClr val="DFE4E9"/>
            </a:solidFill>
            <a:prstDash val="solid"/>
          </a:ln>
        </p:spPr>
      </p:sp>
      <p:sp>
        <p:nvSpPr>
          <p:cNvPr id="22" name="Arduino Mega 2560 circle"/>
          <p:cNvSpPr/>
          <p:nvPr/>
        </p:nvSpPr>
        <p:spPr>
          <a:xfrm>
            <a:off x="6931152" y="1234440"/>
            <a:ext cx="411480" cy="411480"/>
          </a:xfrm>
          <a:prstGeom prst="ellipse">
            <a:avLst/>
          </a:prstGeom>
          <a:solidFill>
            <a:srgbClr val="0B7D73"/>
          </a:solidFill>
          <a:ln/>
        </p:spPr>
      </p:sp>
      <p:pic>
        <p:nvPicPr>
          <p:cNvPr id="23" name="Arduino Mega 2560 icon" descr="Arduino Mega 2560">    </p:cNvPr>
          <p:cNvPicPr>
            <a:picLocks noChangeAspect="1"/>
          </p:cNvPicPr>
          <p:nvPr/>
        </p:nvPicPr>
        <p:blipFill>
          <a:blip r:embed="rId4"/>
          <a:stretch>
            <a:fillRect/>
          </a:stretch>
        </p:blipFill>
        <p:spPr>
          <a:xfrm>
            <a:off x="7029907" y="1333195"/>
            <a:ext cx="213970" cy="213970"/>
          </a:xfrm>
          <a:prstGeom prst="rect">
            <a:avLst/>
          </a:prstGeom>
        </p:spPr>
      </p:pic>
      <p:sp>
        <p:nvSpPr>
          <p:cNvPr id="24" name="Text 18"/>
          <p:cNvSpPr txBox="1"/>
          <p:nvPr/>
        </p:nvSpPr>
        <p:spPr>
          <a:xfrm>
            <a:off x="7434072"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₹900</a:t>
            </a:r>
            <a:endParaRPr lang="en-US" sz="1300" dirty="0"/>
          </a:p>
        </p:txBody>
      </p:sp>
      <p:sp>
        <p:nvSpPr>
          <p:cNvPr id="25" name="Text 19"/>
          <p:cNvSpPr txBox="1"/>
          <p:nvPr/>
        </p:nvSpPr>
        <p:spPr>
          <a:xfrm>
            <a:off x="6931152"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Arduino Mega 2560</a:t>
            </a:r>
            <a:endParaRPr lang="en-US" sz="1300" dirty="0"/>
          </a:p>
        </p:txBody>
      </p:sp>
      <p:sp>
        <p:nvSpPr>
          <p:cNvPr id="26" name="Text 20"/>
          <p:cNvSpPr txBox="1"/>
          <p:nvPr/>
        </p:nvSpPr>
        <p:spPr>
          <a:xfrm>
            <a:off x="6931152"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Motor control and independent safety layer</a:t>
            </a:r>
            <a:endParaRPr lang="en-US" sz="1100" dirty="0"/>
          </a:p>
        </p:txBody>
      </p:sp>
      <p:sp>
        <p:nvSpPr>
          <p:cNvPr id="27" name="6 × HC-SR04 card"/>
          <p:cNvSpPr/>
          <p:nvPr/>
        </p:nvSpPr>
        <p:spPr>
          <a:xfrm>
            <a:off x="457200" y="2852928"/>
            <a:ext cx="1883664" cy="1572768"/>
          </a:xfrm>
          <a:prstGeom prst="roundRect">
            <a:avLst>
              <a:gd name="adj" fmla="val 4651"/>
            </a:avLst>
          </a:prstGeom>
          <a:solidFill>
            <a:srgbClr val="F3F5F7"/>
          </a:solidFill>
          <a:ln w="9525">
            <a:solidFill>
              <a:srgbClr val="DFE4E9"/>
            </a:solidFill>
            <a:prstDash val="solid"/>
          </a:ln>
        </p:spPr>
      </p:sp>
      <p:sp>
        <p:nvSpPr>
          <p:cNvPr id="28" name="6 × HC-SR04 circle"/>
          <p:cNvSpPr/>
          <p:nvPr/>
        </p:nvSpPr>
        <p:spPr>
          <a:xfrm>
            <a:off x="594360" y="2990088"/>
            <a:ext cx="411480" cy="411480"/>
          </a:xfrm>
          <a:prstGeom prst="ellipse">
            <a:avLst/>
          </a:prstGeom>
          <a:solidFill>
            <a:srgbClr val="0B7D73"/>
          </a:solidFill>
          <a:ln/>
        </p:spPr>
      </p:sp>
      <p:pic>
        <p:nvPicPr>
          <p:cNvPr id="29" name="6 × HC-SR04 icon" descr="6 × HC-SR04">    </p:cNvPr>
          <p:cNvPicPr>
            <a:picLocks noChangeAspect="1"/>
          </p:cNvPicPr>
          <p:nvPr/>
        </p:nvPicPr>
        <p:blipFill>
          <a:blip r:embed="rId5"/>
          <a:stretch>
            <a:fillRect/>
          </a:stretch>
        </p:blipFill>
        <p:spPr>
          <a:xfrm>
            <a:off x="693115" y="3088843"/>
            <a:ext cx="213970" cy="213970"/>
          </a:xfrm>
          <a:prstGeom prst="rect">
            <a:avLst/>
          </a:prstGeom>
        </p:spPr>
      </p:pic>
      <p:sp>
        <p:nvSpPr>
          <p:cNvPr id="30" name="Text 23"/>
          <p:cNvSpPr txBox="1"/>
          <p:nvPr/>
        </p:nvSpPr>
        <p:spPr>
          <a:xfrm>
            <a:off x="1097280"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₹420</a:t>
            </a:r>
            <a:endParaRPr lang="en-US" sz="1300" dirty="0"/>
          </a:p>
        </p:txBody>
      </p:sp>
      <p:sp>
        <p:nvSpPr>
          <p:cNvPr id="31" name="Text 24"/>
          <p:cNvSpPr txBox="1"/>
          <p:nvPr/>
        </p:nvSpPr>
        <p:spPr>
          <a:xfrm>
            <a:off x="594360"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6 × HC-SR04</a:t>
            </a:r>
            <a:endParaRPr lang="en-US" sz="1300" dirty="0"/>
          </a:p>
        </p:txBody>
      </p:sp>
      <p:sp>
        <p:nvSpPr>
          <p:cNvPr id="32" name="Text 25"/>
          <p:cNvSpPr txBox="1"/>
          <p:nvPr/>
        </p:nvSpPr>
        <p:spPr>
          <a:xfrm>
            <a:off x="594360"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Ultrasonic ring: glass and low objects</a:t>
            </a:r>
            <a:endParaRPr lang="en-US" sz="1100" dirty="0"/>
          </a:p>
        </p:txBody>
      </p:sp>
      <p:sp>
        <p:nvSpPr>
          <p:cNvPr id="33" name="MPU6050 IMU card"/>
          <p:cNvSpPr/>
          <p:nvPr/>
        </p:nvSpPr>
        <p:spPr>
          <a:xfrm>
            <a:off x="2569464" y="2852928"/>
            <a:ext cx="1883664" cy="1572768"/>
          </a:xfrm>
          <a:prstGeom prst="roundRect">
            <a:avLst>
              <a:gd name="adj" fmla="val 4651"/>
            </a:avLst>
          </a:prstGeom>
          <a:solidFill>
            <a:srgbClr val="F3F5F7"/>
          </a:solidFill>
          <a:ln w="9525">
            <a:solidFill>
              <a:srgbClr val="DFE4E9"/>
            </a:solidFill>
            <a:prstDash val="solid"/>
          </a:ln>
        </p:spPr>
      </p:sp>
      <p:sp>
        <p:nvSpPr>
          <p:cNvPr id="34" name="MPU6050 IMU circle"/>
          <p:cNvSpPr/>
          <p:nvPr/>
        </p:nvSpPr>
        <p:spPr>
          <a:xfrm>
            <a:off x="2706624" y="2990088"/>
            <a:ext cx="411480" cy="411480"/>
          </a:xfrm>
          <a:prstGeom prst="ellipse">
            <a:avLst/>
          </a:prstGeom>
          <a:solidFill>
            <a:srgbClr val="0B7D73"/>
          </a:solidFill>
          <a:ln/>
        </p:spPr>
      </p:sp>
      <p:pic>
        <p:nvPicPr>
          <p:cNvPr id="35" name="MPU6050 IMU icon" descr="MPU6050 IMU">    </p:cNvPr>
          <p:cNvPicPr>
            <a:picLocks noChangeAspect="1"/>
          </p:cNvPicPr>
          <p:nvPr/>
        </p:nvPicPr>
        <p:blipFill>
          <a:blip r:embed="rId6"/>
          <a:stretch>
            <a:fillRect/>
          </a:stretch>
        </p:blipFill>
        <p:spPr>
          <a:xfrm>
            <a:off x="2805379" y="3088843"/>
            <a:ext cx="213970" cy="213970"/>
          </a:xfrm>
          <a:prstGeom prst="rect">
            <a:avLst/>
          </a:prstGeom>
        </p:spPr>
      </p:pic>
      <p:sp>
        <p:nvSpPr>
          <p:cNvPr id="36" name="Text 28"/>
          <p:cNvSpPr txBox="1"/>
          <p:nvPr/>
        </p:nvSpPr>
        <p:spPr>
          <a:xfrm>
            <a:off x="3209544"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₹150</a:t>
            </a:r>
            <a:endParaRPr lang="en-US" sz="1300" dirty="0"/>
          </a:p>
        </p:txBody>
      </p:sp>
      <p:sp>
        <p:nvSpPr>
          <p:cNvPr id="37" name="Text 29"/>
          <p:cNvSpPr txBox="1"/>
          <p:nvPr/>
        </p:nvSpPr>
        <p:spPr>
          <a:xfrm>
            <a:off x="2706624"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MPU6050 IMU</a:t>
            </a:r>
            <a:endParaRPr lang="en-US" sz="1300" dirty="0"/>
          </a:p>
        </p:txBody>
      </p:sp>
      <p:sp>
        <p:nvSpPr>
          <p:cNvPr id="38" name="Text 30"/>
          <p:cNvSpPr txBox="1"/>
          <p:nvPr/>
        </p:nvSpPr>
        <p:spPr>
          <a:xfrm>
            <a:off x="2706624"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Gyro and accelerometer for heading</a:t>
            </a:r>
            <a:endParaRPr lang="en-US" sz="1100" dirty="0"/>
          </a:p>
        </p:txBody>
      </p:sp>
      <p:sp>
        <p:nvSpPr>
          <p:cNvPr id="39" name="Drive motors card"/>
          <p:cNvSpPr/>
          <p:nvPr/>
        </p:nvSpPr>
        <p:spPr>
          <a:xfrm>
            <a:off x="4681728" y="2852928"/>
            <a:ext cx="1883664" cy="1572768"/>
          </a:xfrm>
          <a:prstGeom prst="roundRect">
            <a:avLst>
              <a:gd name="adj" fmla="val 4651"/>
            </a:avLst>
          </a:prstGeom>
          <a:solidFill>
            <a:srgbClr val="F3F5F7"/>
          </a:solidFill>
          <a:ln w="9525">
            <a:solidFill>
              <a:srgbClr val="DFE4E9"/>
            </a:solidFill>
            <a:prstDash val="solid"/>
          </a:ln>
        </p:spPr>
      </p:sp>
      <p:sp>
        <p:nvSpPr>
          <p:cNvPr id="40" name="Drive motors circle"/>
          <p:cNvSpPr/>
          <p:nvPr/>
        </p:nvSpPr>
        <p:spPr>
          <a:xfrm>
            <a:off x="4818888" y="2990088"/>
            <a:ext cx="411480" cy="411480"/>
          </a:xfrm>
          <a:prstGeom prst="ellipse">
            <a:avLst/>
          </a:prstGeom>
          <a:solidFill>
            <a:srgbClr val="0B7D73"/>
          </a:solidFill>
          <a:ln/>
        </p:spPr>
      </p:sp>
      <p:pic>
        <p:nvPicPr>
          <p:cNvPr id="41" name="Drive motors icon" descr="Drive motors">    </p:cNvPr>
          <p:cNvPicPr>
            <a:picLocks noChangeAspect="1"/>
          </p:cNvPicPr>
          <p:nvPr/>
        </p:nvPicPr>
        <p:blipFill>
          <a:blip r:embed="rId7"/>
          <a:stretch>
            <a:fillRect/>
          </a:stretch>
        </p:blipFill>
        <p:spPr>
          <a:xfrm>
            <a:off x="4917643" y="3088843"/>
            <a:ext cx="213970" cy="213970"/>
          </a:xfrm>
          <a:prstGeom prst="rect">
            <a:avLst/>
          </a:prstGeom>
        </p:spPr>
      </p:pic>
      <p:sp>
        <p:nvSpPr>
          <p:cNvPr id="42" name="Text 33"/>
          <p:cNvSpPr txBox="1"/>
          <p:nvPr/>
        </p:nvSpPr>
        <p:spPr>
          <a:xfrm>
            <a:off x="5321808"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₹3,400</a:t>
            </a:r>
            <a:endParaRPr lang="en-US" sz="1300" dirty="0"/>
          </a:p>
        </p:txBody>
      </p:sp>
      <p:sp>
        <p:nvSpPr>
          <p:cNvPr id="43" name="Text 34"/>
          <p:cNvSpPr txBox="1"/>
          <p:nvPr/>
        </p:nvSpPr>
        <p:spPr>
          <a:xfrm>
            <a:off x="4818888"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Drive motors</a:t>
            </a:r>
            <a:endParaRPr lang="en-US" sz="1300" dirty="0"/>
          </a:p>
        </p:txBody>
      </p:sp>
      <p:sp>
        <p:nvSpPr>
          <p:cNvPr id="44" name="Text 35"/>
          <p:cNvSpPr txBox="1"/>
          <p:nvPr/>
        </p:nvSpPr>
        <p:spPr>
          <a:xfrm>
            <a:off x="4818888"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 × 12 V encoder gearmotors, 178 rpm; MDD3A driver</a:t>
            </a:r>
            <a:endParaRPr lang="en-US" sz="1100" dirty="0"/>
          </a:p>
        </p:txBody>
      </p:sp>
      <p:sp>
        <p:nvSpPr>
          <p:cNvPr id="45" name="3S Li-ion + E-stop card"/>
          <p:cNvSpPr/>
          <p:nvPr/>
        </p:nvSpPr>
        <p:spPr>
          <a:xfrm>
            <a:off x="6793992" y="2852928"/>
            <a:ext cx="1883664" cy="1572768"/>
          </a:xfrm>
          <a:prstGeom prst="roundRect">
            <a:avLst>
              <a:gd name="adj" fmla="val 4651"/>
            </a:avLst>
          </a:prstGeom>
          <a:solidFill>
            <a:srgbClr val="F3F5F7"/>
          </a:solidFill>
          <a:ln w="9525">
            <a:solidFill>
              <a:srgbClr val="DFE4E9"/>
            </a:solidFill>
            <a:prstDash val="solid"/>
          </a:ln>
        </p:spPr>
      </p:sp>
      <p:sp>
        <p:nvSpPr>
          <p:cNvPr id="46" name="3S Li-ion + E-stop circle"/>
          <p:cNvSpPr/>
          <p:nvPr/>
        </p:nvSpPr>
        <p:spPr>
          <a:xfrm>
            <a:off x="6931152" y="2990088"/>
            <a:ext cx="411480" cy="411480"/>
          </a:xfrm>
          <a:prstGeom prst="ellipse">
            <a:avLst/>
          </a:prstGeom>
          <a:solidFill>
            <a:srgbClr val="0B7D73"/>
          </a:solidFill>
          <a:ln/>
        </p:spPr>
      </p:sp>
      <p:pic>
        <p:nvPicPr>
          <p:cNvPr id="47" name="3S Li-ion + E-stop icon" descr="3S Li-ion + E-stop">    </p:cNvPr>
          <p:cNvPicPr>
            <a:picLocks noChangeAspect="1"/>
          </p:cNvPicPr>
          <p:nvPr/>
        </p:nvPicPr>
        <p:blipFill>
          <a:blip r:embed="rId8"/>
          <a:stretch>
            <a:fillRect/>
          </a:stretch>
        </p:blipFill>
        <p:spPr>
          <a:xfrm>
            <a:off x="7029907" y="3088843"/>
            <a:ext cx="213970" cy="213970"/>
          </a:xfrm>
          <a:prstGeom prst="rect">
            <a:avLst/>
          </a:prstGeom>
        </p:spPr>
      </p:pic>
      <p:sp>
        <p:nvSpPr>
          <p:cNvPr id="48" name="Text 38"/>
          <p:cNvSpPr txBox="1"/>
          <p:nvPr/>
        </p:nvSpPr>
        <p:spPr>
          <a:xfrm>
            <a:off x="7434072"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₹2,250</a:t>
            </a:r>
            <a:endParaRPr lang="en-US" sz="1300" dirty="0"/>
          </a:p>
        </p:txBody>
      </p:sp>
      <p:sp>
        <p:nvSpPr>
          <p:cNvPr id="49" name="Text 39"/>
          <p:cNvSpPr txBox="1"/>
          <p:nvPr/>
        </p:nvSpPr>
        <p:spPr>
          <a:xfrm>
            <a:off x="6931152"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3S Li-ion + E-stop</a:t>
            </a:r>
            <a:endParaRPr lang="en-US" sz="1300" dirty="0"/>
          </a:p>
        </p:txBody>
      </p:sp>
      <p:sp>
        <p:nvSpPr>
          <p:cNvPr id="50" name="Text 40"/>
          <p:cNvSpPr txBox="1"/>
          <p:nvPr/>
        </p:nvSpPr>
        <p:spPr>
          <a:xfrm>
            <a:off x="6931152"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29 Wh for the motors; hardware power cut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Laptop thinks, Arduino keeps it safe</a:t>
            </a:r>
            <a:endParaRPr lang="en-US" sz="3000" dirty="0"/>
          </a:p>
        </p:txBody>
      </p:sp>
      <p:sp>
        <p:nvSpPr>
          <p:cNvPr id="3" name="USB webcam box"/>
          <p:cNvSpPr/>
          <p:nvPr/>
        </p:nvSpPr>
        <p:spPr>
          <a:xfrm>
            <a:off x="457200" y="1234440"/>
            <a:ext cx="1600200" cy="640080"/>
          </a:xfrm>
          <a:prstGeom prst="roundRect">
            <a:avLst>
              <a:gd name="adj" fmla="val 11429"/>
            </a:avLst>
          </a:prstGeom>
          <a:solidFill>
            <a:srgbClr val="F3F5F7"/>
          </a:solidFill>
          <a:ln w="9525">
            <a:solidFill>
              <a:srgbClr val="DFE4E9"/>
            </a:solidFill>
            <a:prstDash val="solid"/>
          </a:ln>
        </p:spPr>
      </p:sp>
      <p:sp>
        <p:nvSpPr>
          <p:cNvPr id="4" name="USB webcam circle"/>
          <p:cNvSpPr/>
          <p:nvPr/>
        </p:nvSpPr>
        <p:spPr>
          <a:xfrm>
            <a:off x="548640" y="1362456"/>
            <a:ext cx="384048" cy="384048"/>
          </a:xfrm>
          <a:prstGeom prst="ellipse">
            <a:avLst/>
          </a:prstGeom>
          <a:solidFill>
            <a:srgbClr val="E2F2F0"/>
          </a:solidFill>
          <a:ln/>
        </p:spPr>
      </p:sp>
      <p:pic>
        <p:nvPicPr>
          <p:cNvPr id="5" name="USB webcam icon" descr="USB webcam">    </p:cNvPr>
          <p:cNvPicPr>
            <a:picLocks noChangeAspect="1"/>
          </p:cNvPicPr>
          <p:nvPr/>
        </p:nvPicPr>
        <p:blipFill>
          <a:blip r:embed="rId1"/>
          <a:stretch>
            <a:fillRect/>
          </a:stretch>
        </p:blipFill>
        <p:spPr>
          <a:xfrm>
            <a:off x="640812" y="1454628"/>
            <a:ext cx="199705" cy="199705"/>
          </a:xfrm>
          <a:prstGeom prst="rect">
            <a:avLst/>
          </a:prstGeom>
        </p:spPr>
      </p:pic>
      <p:sp>
        <p:nvSpPr>
          <p:cNvPr id="6" name="Text 3"/>
          <p:cNvSpPr txBox="1"/>
          <p:nvPr/>
        </p:nvSpPr>
        <p:spPr>
          <a:xfrm>
            <a:off x="1005840" y="12344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USB webcam</a:t>
            </a:r>
            <a:endParaRPr lang="en-US" sz="1200" dirty="0"/>
          </a:p>
        </p:txBody>
      </p:sp>
      <p:sp>
        <p:nvSpPr>
          <p:cNvPr id="7" name="Shape 4"/>
          <p:cNvSpPr/>
          <p:nvPr/>
        </p:nvSpPr>
        <p:spPr>
          <a:xfrm>
            <a:off x="2075688" y="1554480"/>
            <a:ext cx="374904" cy="0"/>
          </a:xfrm>
          <a:prstGeom prst="line">
            <a:avLst/>
          </a:prstGeom>
          <a:noFill/>
          <a:ln w="19050">
            <a:solidFill>
              <a:srgbClr val="4B5866"/>
            </a:solidFill>
            <a:prstDash val="solid"/>
            <a:tailEnd type="triangle"/>
          </a:ln>
        </p:spPr>
      </p:sp>
      <p:sp>
        <p:nvSpPr>
          <p:cNvPr id="8" name="RPLIDAR A1M8 box"/>
          <p:cNvSpPr/>
          <p:nvPr/>
        </p:nvSpPr>
        <p:spPr>
          <a:xfrm>
            <a:off x="457200" y="2148840"/>
            <a:ext cx="1600200" cy="640080"/>
          </a:xfrm>
          <a:prstGeom prst="roundRect">
            <a:avLst>
              <a:gd name="adj" fmla="val 11429"/>
            </a:avLst>
          </a:prstGeom>
          <a:solidFill>
            <a:srgbClr val="F3F5F7"/>
          </a:solidFill>
          <a:ln w="9525">
            <a:solidFill>
              <a:srgbClr val="DFE4E9"/>
            </a:solidFill>
            <a:prstDash val="solid"/>
          </a:ln>
        </p:spPr>
      </p:sp>
      <p:sp>
        <p:nvSpPr>
          <p:cNvPr id="9" name="RPLIDAR A1M8 circle"/>
          <p:cNvSpPr/>
          <p:nvPr/>
        </p:nvSpPr>
        <p:spPr>
          <a:xfrm>
            <a:off x="548640" y="2276856"/>
            <a:ext cx="384048" cy="384048"/>
          </a:xfrm>
          <a:prstGeom prst="ellipse">
            <a:avLst/>
          </a:prstGeom>
          <a:solidFill>
            <a:srgbClr val="E2F2F0"/>
          </a:solidFill>
          <a:ln/>
        </p:spPr>
      </p:sp>
      <p:pic>
        <p:nvPicPr>
          <p:cNvPr id="10" name="RPLIDAR A1M8 icon" descr="RPLIDAR A1M8">    </p:cNvPr>
          <p:cNvPicPr>
            <a:picLocks noChangeAspect="1"/>
          </p:cNvPicPr>
          <p:nvPr/>
        </p:nvPicPr>
        <p:blipFill>
          <a:blip r:embed="rId2"/>
          <a:stretch>
            <a:fillRect/>
          </a:stretch>
        </p:blipFill>
        <p:spPr>
          <a:xfrm>
            <a:off x="640812" y="2369028"/>
            <a:ext cx="199705" cy="199705"/>
          </a:xfrm>
          <a:prstGeom prst="rect">
            <a:avLst/>
          </a:prstGeom>
        </p:spPr>
      </p:pic>
      <p:sp>
        <p:nvSpPr>
          <p:cNvPr id="11" name="Text 7"/>
          <p:cNvSpPr txBox="1"/>
          <p:nvPr/>
        </p:nvSpPr>
        <p:spPr>
          <a:xfrm>
            <a:off x="1005840" y="21488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RPLIDAR A1M8</a:t>
            </a:r>
            <a:endParaRPr lang="en-US" sz="1200" dirty="0"/>
          </a:p>
        </p:txBody>
      </p:sp>
      <p:sp>
        <p:nvSpPr>
          <p:cNvPr id="12" name="Shape 8"/>
          <p:cNvSpPr/>
          <p:nvPr/>
        </p:nvSpPr>
        <p:spPr>
          <a:xfrm>
            <a:off x="2075688" y="2468880"/>
            <a:ext cx="374904" cy="0"/>
          </a:xfrm>
          <a:prstGeom prst="line">
            <a:avLst/>
          </a:prstGeom>
          <a:noFill/>
          <a:ln w="19050">
            <a:solidFill>
              <a:srgbClr val="4B5866"/>
            </a:solidFill>
            <a:prstDash val="solid"/>
            <a:tailEnd type="triangle"/>
          </a:ln>
        </p:spPr>
      </p:sp>
      <p:sp>
        <p:nvSpPr>
          <p:cNvPr id="13" name="Laptop mic box"/>
          <p:cNvSpPr/>
          <p:nvPr/>
        </p:nvSpPr>
        <p:spPr>
          <a:xfrm>
            <a:off x="457200" y="3063240"/>
            <a:ext cx="1600200" cy="640080"/>
          </a:xfrm>
          <a:prstGeom prst="roundRect">
            <a:avLst>
              <a:gd name="adj" fmla="val 11429"/>
            </a:avLst>
          </a:prstGeom>
          <a:solidFill>
            <a:srgbClr val="F3F5F7"/>
          </a:solidFill>
          <a:ln w="9525">
            <a:solidFill>
              <a:srgbClr val="DFE4E9"/>
            </a:solidFill>
            <a:prstDash val="solid"/>
          </a:ln>
        </p:spPr>
      </p:sp>
      <p:sp>
        <p:nvSpPr>
          <p:cNvPr id="14" name="Laptop mic circle"/>
          <p:cNvSpPr/>
          <p:nvPr/>
        </p:nvSpPr>
        <p:spPr>
          <a:xfrm>
            <a:off x="548640" y="3191256"/>
            <a:ext cx="384048" cy="384048"/>
          </a:xfrm>
          <a:prstGeom prst="ellipse">
            <a:avLst/>
          </a:prstGeom>
          <a:solidFill>
            <a:srgbClr val="E2F2F0"/>
          </a:solidFill>
          <a:ln/>
        </p:spPr>
      </p:sp>
      <p:pic>
        <p:nvPicPr>
          <p:cNvPr id="15" name="Laptop mic icon" descr="Laptop mic">    </p:cNvPr>
          <p:cNvPicPr>
            <a:picLocks noChangeAspect="1"/>
          </p:cNvPicPr>
          <p:nvPr/>
        </p:nvPicPr>
        <p:blipFill>
          <a:blip r:embed="rId3"/>
          <a:stretch>
            <a:fillRect/>
          </a:stretch>
        </p:blipFill>
        <p:spPr>
          <a:xfrm>
            <a:off x="640812" y="3283428"/>
            <a:ext cx="199705" cy="199705"/>
          </a:xfrm>
          <a:prstGeom prst="rect">
            <a:avLst/>
          </a:prstGeom>
        </p:spPr>
      </p:pic>
      <p:sp>
        <p:nvSpPr>
          <p:cNvPr id="16" name="Text 11"/>
          <p:cNvSpPr txBox="1"/>
          <p:nvPr/>
        </p:nvSpPr>
        <p:spPr>
          <a:xfrm>
            <a:off x="1005840" y="3063240"/>
            <a:ext cx="1005840" cy="640080"/>
          </a:xfrm>
          <a:prstGeom prst="rect">
            <a:avLst/>
          </a:prstGeom>
          <a:noFill/>
          <a:ln/>
        </p:spPr>
        <p:txBody>
          <a:bodyPr wrap="square" lIns="0" tIns="0" rIns="0" bIns="0" rtlCol="0" anchor="ctr"/>
          <a:lstStyle/>
          <a:p>
            <a:pPr indent="0" marL="0">
              <a:buNone/>
            </a:pPr>
            <a:r>
              <a:rPr lang="en-US" sz="1200" b="1" dirty="0">
                <a:solidFill>
                  <a:schemeClr val="tx1"/>
                </a:solidFill>
              </a:rPr>
              <a:t>Laptop mic</a:t>
            </a:r>
            <a:endParaRPr lang="en-US" sz="1200" dirty="0"/>
          </a:p>
        </p:txBody>
      </p:sp>
      <p:sp>
        <p:nvSpPr>
          <p:cNvPr id="17" name="Shape 12"/>
          <p:cNvSpPr/>
          <p:nvPr/>
        </p:nvSpPr>
        <p:spPr>
          <a:xfrm>
            <a:off x="2075688" y="3383280"/>
            <a:ext cx="374904" cy="0"/>
          </a:xfrm>
          <a:prstGeom prst="line">
            <a:avLst/>
          </a:prstGeom>
          <a:noFill/>
          <a:ln w="19050">
            <a:solidFill>
              <a:srgbClr val="4B5866"/>
            </a:solidFill>
            <a:prstDash val="solid"/>
            <a:tailEnd type="triangle"/>
          </a:ln>
        </p:spPr>
      </p:sp>
      <p:sp>
        <p:nvSpPr>
          <p:cNvPr id="18" name="Laptop box"/>
          <p:cNvSpPr/>
          <p:nvPr/>
        </p:nvSpPr>
        <p:spPr>
          <a:xfrm>
            <a:off x="2468880" y="1143000"/>
            <a:ext cx="2194560" cy="2651760"/>
          </a:xfrm>
          <a:prstGeom prst="roundRect">
            <a:avLst>
              <a:gd name="adj" fmla="val 3333"/>
            </a:avLst>
          </a:prstGeom>
          <a:solidFill>
            <a:srgbClr val="0D1114"/>
          </a:solidFill>
          <a:ln/>
        </p:spPr>
      </p:sp>
      <p:sp>
        <p:nvSpPr>
          <p:cNvPr id="19" name="Text 14"/>
          <p:cNvSpPr txBox="1"/>
          <p:nvPr/>
        </p:nvSpPr>
        <p:spPr>
          <a:xfrm>
            <a:off x="2651760" y="1280160"/>
            <a:ext cx="1828800" cy="320040"/>
          </a:xfrm>
          <a:prstGeom prst="rect">
            <a:avLst/>
          </a:prstGeom>
          <a:noFill/>
          <a:ln/>
        </p:spPr>
        <p:txBody>
          <a:bodyPr wrap="square" lIns="0" tIns="0" rIns="0" bIns="0" rtlCol="0" anchor="t"/>
          <a:lstStyle/>
          <a:p>
            <a:pPr indent="0" marL="0">
              <a:buNone/>
            </a:pPr>
            <a:r>
              <a:rPr lang="en-US" sz="1500" b="1" dirty="0">
                <a:solidFill>
                  <a:schemeClr val="bg1"/>
                </a:solidFill>
              </a:rPr>
              <a:t>Laptop</a:t>
            </a:r>
            <a:endParaRPr lang="en-US" sz="1500" dirty="0"/>
          </a:p>
        </p:txBody>
      </p:sp>
      <p:sp>
        <p:nvSpPr>
          <p:cNvPr id="20" name="Text 15"/>
          <p:cNvSpPr txBox="1"/>
          <p:nvPr/>
        </p:nvSpPr>
        <p:spPr>
          <a:xfrm>
            <a:off x="2651760" y="1691640"/>
            <a:ext cx="1920240" cy="20116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accent6"/>
                </a:solidFill>
              </a:rPr>
              <a:t>Perception (YOLOv8)</a:t>
            </a:r>
            <a:endParaRPr lang="en-US" sz="1200" dirty="0"/>
          </a:p>
          <a:p>
            <a:pPr marL="342900" indent="-342900">
              <a:spcAft>
                <a:spcPts val="400"/>
              </a:spcAft>
              <a:buSzPct val="100000"/>
              <a:buChar char="•"/>
            </a:pPr>
            <a:r>
              <a:rPr lang="en-US" sz="1200" dirty="0">
                <a:solidFill>
                  <a:schemeClr val="accent6"/>
                </a:solidFill>
              </a:rPr>
              <a:t>Tracking + prediction</a:t>
            </a:r>
            <a:endParaRPr lang="en-US" sz="1200" dirty="0"/>
          </a:p>
          <a:p>
            <a:pPr marL="342900" indent="-342900">
              <a:spcAft>
                <a:spcPts val="400"/>
              </a:spcAft>
              <a:buSzPct val="100000"/>
              <a:buChar char="•"/>
            </a:pPr>
            <a:r>
              <a:rPr lang="en-US" sz="1200" dirty="0">
                <a:solidFill>
                  <a:schemeClr val="accent6"/>
                </a:solidFill>
              </a:rPr>
              <a:t>SLAM + A* planning</a:t>
            </a:r>
            <a:endParaRPr lang="en-US" sz="1200" dirty="0"/>
          </a:p>
          <a:p>
            <a:pPr marL="342900" indent="-342900">
              <a:spcAft>
                <a:spcPts val="400"/>
              </a:spcAft>
              <a:buSzPct val="100000"/>
              <a:buChar char="•"/>
            </a:pPr>
            <a:r>
              <a:rPr lang="en-US" sz="1200" dirty="0">
                <a:solidFill>
                  <a:schemeClr val="accent6"/>
                </a:solidFill>
              </a:rPr>
              <a:t>Voice commands</a:t>
            </a:r>
            <a:endParaRPr lang="en-US" sz="1200" dirty="0"/>
          </a:p>
          <a:p>
            <a:pPr marL="342900" indent="-342900">
              <a:spcAft>
                <a:spcPts val="400"/>
              </a:spcAft>
              <a:buSzPct val="100000"/>
              <a:buChar char="•"/>
            </a:pPr>
            <a:r>
              <a:rPr lang="en-US" sz="1200" dirty="0">
                <a:solidFill>
                  <a:schemeClr val="accent6"/>
                </a:solidFill>
              </a:rPr>
              <a:t>Dashboard over Wi-Fi</a:t>
            </a:r>
            <a:endParaRPr lang="en-US" sz="1200" dirty="0"/>
          </a:p>
        </p:txBody>
      </p:sp>
      <p:sp>
        <p:nvSpPr>
          <p:cNvPr id="21" name="Shape 16"/>
          <p:cNvSpPr/>
          <p:nvPr/>
        </p:nvSpPr>
        <p:spPr>
          <a:xfrm>
            <a:off x="4709160" y="2057400"/>
            <a:ext cx="457200" cy="0"/>
          </a:xfrm>
          <a:prstGeom prst="line">
            <a:avLst/>
          </a:prstGeom>
          <a:noFill/>
          <a:ln w="25400">
            <a:solidFill>
              <a:srgbClr val="D9A441"/>
            </a:solidFill>
            <a:prstDash val="solid"/>
            <a:tailEnd type="triangle"/>
          </a:ln>
        </p:spPr>
      </p:sp>
      <p:sp>
        <p:nvSpPr>
          <p:cNvPr id="22" name="Shape 17"/>
          <p:cNvSpPr/>
          <p:nvPr/>
        </p:nvSpPr>
        <p:spPr>
          <a:xfrm flipH="1">
            <a:off x="4709160" y="2743200"/>
            <a:ext cx="457200" cy="0"/>
          </a:xfrm>
          <a:prstGeom prst="line">
            <a:avLst/>
          </a:prstGeom>
          <a:noFill/>
          <a:ln w="25400">
            <a:solidFill>
              <a:srgbClr val="4B5866"/>
            </a:solidFill>
            <a:prstDash val="solid"/>
            <a:tailEnd type="triangle"/>
          </a:ln>
        </p:spPr>
      </p:sp>
      <p:sp>
        <p:nvSpPr>
          <p:cNvPr id="23" name="Text 18"/>
          <p:cNvSpPr txBox="1"/>
          <p:nvPr/>
        </p:nvSpPr>
        <p:spPr>
          <a:xfrm>
            <a:off x="4645152" y="1508760"/>
            <a:ext cx="594360" cy="502920"/>
          </a:xfrm>
          <a:prstGeom prst="rect">
            <a:avLst/>
          </a:prstGeom>
          <a:noFill/>
          <a:ln/>
        </p:spPr>
        <p:txBody>
          <a:bodyPr wrap="square" lIns="0" tIns="0" rIns="0" bIns="0" rtlCol="0" anchor="t"/>
          <a:lstStyle/>
          <a:p>
            <a:pPr algn="ctr" indent="0" marL="0">
              <a:buNone/>
            </a:pPr>
            <a:r>
              <a:rPr lang="en-US" sz="1000" b="1" dirty="0">
                <a:solidFill>
                  <a:schemeClr val="accent2"/>
                </a:solidFill>
              </a:rPr>
              <a:t>v, ω</a:t>
            </a:r>
            <a:endParaRPr lang="en-US" sz="1000" dirty="0"/>
          </a:p>
          <a:p>
            <a:pPr algn="ctr" indent="0" marL="0">
              <a:buNone/>
            </a:pPr>
            <a:r>
              <a:rPr lang="en-US" sz="1000" b="1" dirty="0">
                <a:solidFill>
                  <a:schemeClr val="accent2"/>
                </a:solidFill>
              </a:rPr>
              <a:t>20 Hz</a:t>
            </a:r>
            <a:endParaRPr lang="en-US" sz="1000" dirty="0"/>
          </a:p>
        </p:txBody>
      </p:sp>
      <p:sp>
        <p:nvSpPr>
          <p:cNvPr id="24" name="Text 19"/>
          <p:cNvSpPr txBox="1"/>
          <p:nvPr/>
        </p:nvSpPr>
        <p:spPr>
          <a:xfrm>
            <a:off x="4572000" y="2816352"/>
            <a:ext cx="731520" cy="502920"/>
          </a:xfrm>
          <a:prstGeom prst="rect">
            <a:avLst/>
          </a:prstGeom>
          <a:noFill/>
          <a:ln/>
        </p:spPr>
        <p:txBody>
          <a:bodyPr wrap="square" lIns="0" tIns="0" rIns="0" bIns="0" rtlCol="0" anchor="t"/>
          <a:lstStyle/>
          <a:p>
            <a:pPr algn="ctr" indent="0" marL="0">
              <a:buNone/>
            </a:pPr>
            <a:r>
              <a:rPr lang="en-US" sz="1000" dirty="0">
                <a:solidFill>
                  <a:schemeClr val="accent5"/>
                </a:solidFill>
              </a:rPr>
              <a:t>telemetry</a:t>
            </a:r>
            <a:endParaRPr lang="en-US" sz="1000" dirty="0"/>
          </a:p>
          <a:p>
            <a:pPr algn="ctr" indent="0" marL="0">
              <a:buNone/>
            </a:pPr>
            <a:r>
              <a:rPr lang="en-US" sz="1000" dirty="0">
                <a:solidFill>
                  <a:schemeClr val="accent5"/>
                </a:solidFill>
              </a:rPr>
              <a:t>10 Hz</a:t>
            </a:r>
            <a:endParaRPr lang="en-US" sz="1000" dirty="0"/>
          </a:p>
        </p:txBody>
      </p:sp>
      <p:sp>
        <p:nvSpPr>
          <p:cNvPr id="25" name="Arduino box"/>
          <p:cNvSpPr/>
          <p:nvPr/>
        </p:nvSpPr>
        <p:spPr>
          <a:xfrm>
            <a:off x="5212080" y="1143000"/>
            <a:ext cx="1828800" cy="2651760"/>
          </a:xfrm>
          <a:prstGeom prst="roundRect">
            <a:avLst>
              <a:gd name="adj" fmla="val 4000"/>
            </a:avLst>
          </a:prstGeom>
          <a:solidFill>
            <a:srgbClr val="E2F2F0"/>
          </a:solidFill>
          <a:ln w="12700">
            <a:solidFill>
              <a:srgbClr val="0B7D73"/>
            </a:solidFill>
            <a:prstDash val="solid"/>
          </a:ln>
        </p:spPr>
      </p:sp>
      <p:sp>
        <p:nvSpPr>
          <p:cNvPr id="26" name="Text 21"/>
          <p:cNvSpPr txBox="1"/>
          <p:nvPr/>
        </p:nvSpPr>
        <p:spPr>
          <a:xfrm>
            <a:off x="5349240" y="1280160"/>
            <a:ext cx="1645920" cy="320040"/>
          </a:xfrm>
          <a:prstGeom prst="rect">
            <a:avLst/>
          </a:prstGeom>
          <a:noFill/>
          <a:ln/>
        </p:spPr>
        <p:txBody>
          <a:bodyPr wrap="square" lIns="0" tIns="0" rIns="0" bIns="0" rtlCol="0" anchor="t"/>
          <a:lstStyle/>
          <a:p>
            <a:pPr indent="0" marL="0">
              <a:buNone/>
            </a:pPr>
            <a:r>
              <a:rPr lang="en-US" sz="1500" b="1" dirty="0">
                <a:solidFill>
                  <a:schemeClr val="accent1"/>
                </a:solidFill>
              </a:rPr>
              <a:t>Arduino Mega</a:t>
            </a:r>
            <a:endParaRPr lang="en-US" sz="1500" dirty="0"/>
          </a:p>
        </p:txBody>
      </p:sp>
      <p:sp>
        <p:nvSpPr>
          <p:cNvPr id="27" name="Text 22"/>
          <p:cNvSpPr txBox="1"/>
          <p:nvPr/>
        </p:nvSpPr>
        <p:spPr>
          <a:xfrm>
            <a:off x="5349240" y="1691640"/>
            <a:ext cx="1645920" cy="14630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Wheel speed control</a:t>
            </a:r>
            <a:endParaRPr lang="en-US" sz="1200" dirty="0"/>
          </a:p>
          <a:p>
            <a:pPr marL="342900" indent="-342900">
              <a:spcAft>
                <a:spcPts val="400"/>
              </a:spcAft>
              <a:buSzPct val="100000"/>
              <a:buChar char="•"/>
            </a:pPr>
            <a:r>
              <a:rPr lang="en-US" sz="1200" dirty="0">
                <a:solidFill>
                  <a:schemeClr val="tx1"/>
                </a:solidFill>
              </a:rPr>
              <a:t>500 ms watchdog</a:t>
            </a:r>
            <a:endParaRPr lang="en-US" sz="1200" dirty="0"/>
          </a:p>
          <a:p>
            <a:pPr marL="342900" indent="-342900">
              <a:spcAft>
                <a:spcPts val="400"/>
              </a:spcAft>
              <a:buSzPct val="100000"/>
              <a:buChar char="•"/>
            </a:pPr>
            <a:r>
              <a:rPr lang="en-US" sz="1200" dirty="0">
                <a:solidFill>
                  <a:schemeClr val="tx1"/>
                </a:solidFill>
              </a:rPr>
              <a:t>Proximity slow/stop</a:t>
            </a:r>
            <a:endParaRPr lang="en-US" sz="1200" dirty="0"/>
          </a:p>
          <a:p>
            <a:pPr marL="342900" indent="-342900">
              <a:spcAft>
                <a:spcPts val="400"/>
              </a:spcAft>
              <a:buSzPct val="100000"/>
              <a:buChar char="•"/>
            </a:pPr>
            <a:r>
              <a:rPr lang="en-US" sz="1200" dirty="0">
                <a:solidFill>
                  <a:schemeClr val="tx1"/>
                </a:solidFill>
              </a:rPr>
              <a:t>Battery cut-off</a:t>
            </a:r>
            <a:endParaRPr lang="en-US" sz="1200" dirty="0"/>
          </a:p>
        </p:txBody>
      </p:sp>
      <p:sp>
        <p:nvSpPr>
          <p:cNvPr id="28" name="Text 23"/>
          <p:cNvSpPr txBox="1"/>
          <p:nvPr/>
        </p:nvSpPr>
        <p:spPr>
          <a:xfrm>
            <a:off x="5349240" y="3200400"/>
            <a:ext cx="1600200" cy="502920"/>
          </a:xfrm>
          <a:prstGeom prst="rect">
            <a:avLst/>
          </a:prstGeom>
          <a:noFill/>
          <a:ln/>
        </p:spPr>
        <p:txBody>
          <a:bodyPr wrap="square" lIns="0" tIns="0" rIns="0" bIns="0" rtlCol="0" anchor="t"/>
          <a:lstStyle/>
          <a:p>
            <a:pPr indent="0" marL="0">
              <a:buNone/>
            </a:pPr>
            <a:r>
              <a:rPr lang="en-US" sz="1000" i="1" dirty="0">
                <a:solidFill>
                  <a:schemeClr val="accent5"/>
                </a:solidFill>
              </a:rPr>
              <a:t>In: 6 ultrasonic, IMU, 2 encoders</a:t>
            </a:r>
            <a:endParaRPr lang="en-US" sz="1000" dirty="0"/>
          </a:p>
        </p:txBody>
      </p:sp>
      <p:sp>
        <p:nvSpPr>
          <p:cNvPr id="29" name="E-stop box"/>
          <p:cNvSpPr/>
          <p:nvPr/>
        </p:nvSpPr>
        <p:spPr>
          <a:xfrm>
            <a:off x="7406640" y="1143000"/>
            <a:ext cx="1280160" cy="685800"/>
          </a:xfrm>
          <a:prstGeom prst="roundRect">
            <a:avLst>
              <a:gd name="adj" fmla="val 10667"/>
            </a:avLst>
          </a:prstGeom>
          <a:solidFill>
            <a:srgbClr val="FBE7E5"/>
          </a:solidFill>
          <a:ln w="12700">
            <a:solidFill>
              <a:srgbClr val="C0352A"/>
            </a:solidFill>
            <a:prstDash val="solid"/>
          </a:ln>
        </p:spPr>
      </p:sp>
      <p:sp>
        <p:nvSpPr>
          <p:cNvPr id="30" name="Text 25"/>
          <p:cNvSpPr txBox="1"/>
          <p:nvPr/>
        </p:nvSpPr>
        <p:spPr>
          <a:xfrm>
            <a:off x="7406640" y="1143000"/>
            <a:ext cx="1280160" cy="685800"/>
          </a:xfrm>
          <a:prstGeom prst="rect">
            <a:avLst/>
          </a:prstGeom>
          <a:noFill/>
          <a:ln/>
        </p:spPr>
        <p:txBody>
          <a:bodyPr wrap="square" lIns="0" tIns="0" rIns="0" bIns="0" rtlCol="0" anchor="ctr"/>
          <a:lstStyle/>
          <a:p>
            <a:pPr algn="ctr" indent="0" marL="0">
              <a:buNone/>
            </a:pPr>
            <a:r>
              <a:rPr lang="en-US" sz="1300" b="1" dirty="0">
                <a:solidFill>
                  <a:schemeClr val="accent3"/>
                </a:solidFill>
              </a:rPr>
              <a:t>E-STOP</a:t>
            </a:r>
            <a:endParaRPr lang="en-US" sz="1300" dirty="0"/>
          </a:p>
        </p:txBody>
      </p:sp>
      <p:sp>
        <p:nvSpPr>
          <p:cNvPr id="31" name="Shape 26"/>
          <p:cNvSpPr/>
          <p:nvPr/>
        </p:nvSpPr>
        <p:spPr>
          <a:xfrm>
            <a:off x="8046720" y="1847088"/>
            <a:ext cx="0" cy="283464"/>
          </a:xfrm>
          <a:prstGeom prst="line">
            <a:avLst/>
          </a:prstGeom>
          <a:noFill/>
          <a:ln w="19050">
            <a:solidFill>
              <a:srgbClr val="C0352A"/>
            </a:solidFill>
            <a:prstDash val="dash"/>
            <a:tailEnd type="triangle"/>
          </a:ln>
        </p:spPr>
      </p:sp>
      <p:sp>
        <p:nvSpPr>
          <p:cNvPr id="32" name="Text 27"/>
          <p:cNvSpPr txBox="1"/>
          <p:nvPr/>
        </p:nvSpPr>
        <p:spPr>
          <a:xfrm>
            <a:off x="8119872" y="1865376"/>
            <a:ext cx="594360" cy="256032"/>
          </a:xfrm>
          <a:prstGeom prst="rect">
            <a:avLst/>
          </a:prstGeom>
          <a:noFill/>
          <a:ln/>
        </p:spPr>
        <p:txBody>
          <a:bodyPr wrap="square" lIns="0" tIns="0" rIns="0" bIns="0" rtlCol="0" anchor="t"/>
          <a:lstStyle/>
          <a:p>
            <a:pPr indent="0" marL="0">
              <a:buNone/>
            </a:pPr>
            <a:r>
              <a:rPr lang="en-US" sz="900" dirty="0">
                <a:solidFill>
                  <a:schemeClr val="accent3"/>
                </a:solidFill>
              </a:rPr>
              <a:t>cuts power</a:t>
            </a:r>
            <a:endParaRPr lang="en-US" sz="900" dirty="0"/>
          </a:p>
        </p:txBody>
      </p:sp>
      <p:sp>
        <p:nvSpPr>
          <p:cNvPr id="33" name="Motor driver box"/>
          <p:cNvSpPr/>
          <p:nvPr/>
        </p:nvSpPr>
        <p:spPr>
          <a:xfrm>
            <a:off x="7406640" y="2148840"/>
            <a:ext cx="1280160" cy="685800"/>
          </a:xfrm>
          <a:prstGeom prst="roundRect">
            <a:avLst>
              <a:gd name="adj" fmla="val 10667"/>
            </a:avLst>
          </a:prstGeom>
          <a:solidFill>
            <a:srgbClr val="F3F5F7"/>
          </a:solidFill>
          <a:ln w="9525">
            <a:solidFill>
              <a:srgbClr val="DFE4E9"/>
            </a:solidFill>
            <a:prstDash val="solid"/>
          </a:ln>
        </p:spPr>
      </p:sp>
      <p:sp>
        <p:nvSpPr>
          <p:cNvPr id="34" name="Text 29"/>
          <p:cNvSpPr txBox="1"/>
          <p:nvPr/>
        </p:nvSpPr>
        <p:spPr>
          <a:xfrm>
            <a:off x="7406640" y="2148840"/>
            <a:ext cx="1280160" cy="685800"/>
          </a:xfrm>
          <a:prstGeom prst="rect">
            <a:avLst/>
          </a:prstGeom>
          <a:noFill/>
          <a:ln/>
        </p:spPr>
        <p:txBody>
          <a:bodyPr wrap="square" lIns="0" tIns="0" rIns="0" bIns="0" rtlCol="0" anchor="ctr"/>
          <a:lstStyle/>
          <a:p>
            <a:pPr algn="ctr" indent="0" marL="0">
              <a:buNone/>
            </a:pPr>
            <a:r>
              <a:rPr lang="en-US" sz="1200" b="1" dirty="0">
                <a:solidFill>
                  <a:schemeClr val="tx1"/>
                </a:solidFill>
              </a:rPr>
              <a:t>MDD3A</a:t>
            </a:r>
            <a:endParaRPr lang="en-US" sz="1200" dirty="0"/>
          </a:p>
          <a:p>
            <a:pPr algn="ctr" indent="0" marL="0">
              <a:buNone/>
            </a:pPr>
            <a:r>
              <a:rPr lang="en-US" sz="1200" b="1" dirty="0">
                <a:solidFill>
                  <a:schemeClr val="tx1"/>
                </a:solidFill>
              </a:rPr>
              <a:t>driver</a:t>
            </a:r>
            <a:endParaRPr lang="en-US" sz="1200" dirty="0"/>
          </a:p>
        </p:txBody>
      </p:sp>
      <p:sp>
        <p:nvSpPr>
          <p:cNvPr id="35" name="Shape 30"/>
          <p:cNvSpPr/>
          <p:nvPr/>
        </p:nvSpPr>
        <p:spPr>
          <a:xfrm>
            <a:off x="7059168" y="2487168"/>
            <a:ext cx="329184" cy="0"/>
          </a:xfrm>
          <a:prstGeom prst="line">
            <a:avLst/>
          </a:prstGeom>
          <a:noFill/>
          <a:ln w="19050">
            <a:solidFill>
              <a:srgbClr val="4B5866"/>
            </a:solidFill>
            <a:prstDash val="solid"/>
            <a:tailEnd type="triangle"/>
          </a:ln>
        </p:spPr>
      </p:sp>
      <p:sp>
        <p:nvSpPr>
          <p:cNvPr id="36" name="Shape 31"/>
          <p:cNvSpPr/>
          <p:nvPr/>
        </p:nvSpPr>
        <p:spPr>
          <a:xfrm>
            <a:off x="8046720" y="2852928"/>
            <a:ext cx="0" cy="237744"/>
          </a:xfrm>
          <a:prstGeom prst="line">
            <a:avLst/>
          </a:prstGeom>
          <a:noFill/>
          <a:ln w="19050">
            <a:solidFill>
              <a:srgbClr val="4B5866"/>
            </a:solidFill>
            <a:prstDash val="solid"/>
            <a:tailEnd type="triangle"/>
          </a:ln>
        </p:spPr>
      </p:sp>
      <p:sp>
        <p:nvSpPr>
          <p:cNvPr id="37" name="Motors box"/>
          <p:cNvSpPr/>
          <p:nvPr/>
        </p:nvSpPr>
        <p:spPr>
          <a:xfrm>
            <a:off x="7406640" y="3108960"/>
            <a:ext cx="1280160" cy="685800"/>
          </a:xfrm>
          <a:prstGeom prst="roundRect">
            <a:avLst>
              <a:gd name="adj" fmla="val 10667"/>
            </a:avLst>
          </a:prstGeom>
          <a:solidFill>
            <a:srgbClr val="F3F5F7"/>
          </a:solidFill>
          <a:ln w="9525">
            <a:solidFill>
              <a:srgbClr val="DFE4E9"/>
            </a:solidFill>
            <a:prstDash val="solid"/>
          </a:ln>
        </p:spPr>
      </p:sp>
      <p:sp>
        <p:nvSpPr>
          <p:cNvPr id="38" name="Text 33"/>
          <p:cNvSpPr txBox="1"/>
          <p:nvPr/>
        </p:nvSpPr>
        <p:spPr>
          <a:xfrm>
            <a:off x="7406640" y="3108960"/>
            <a:ext cx="1280160" cy="685800"/>
          </a:xfrm>
          <a:prstGeom prst="rect">
            <a:avLst/>
          </a:prstGeom>
          <a:noFill/>
          <a:ln/>
        </p:spPr>
        <p:txBody>
          <a:bodyPr wrap="square" lIns="0" tIns="0" rIns="0" bIns="0" rtlCol="0" anchor="ctr"/>
          <a:lstStyle/>
          <a:p>
            <a:pPr algn="ctr" indent="0" marL="0">
              <a:buNone/>
            </a:pPr>
            <a:r>
              <a:rPr lang="en-US" sz="1200" b="1" dirty="0">
                <a:solidFill>
                  <a:schemeClr val="tx1"/>
                </a:solidFill>
              </a:rPr>
              <a:t>2 × 12 V</a:t>
            </a:r>
            <a:endParaRPr lang="en-US" sz="1200" dirty="0"/>
          </a:p>
          <a:p>
            <a:pPr algn="ctr" indent="0" marL="0">
              <a:buNone/>
            </a:pPr>
            <a:r>
              <a:rPr lang="en-US" sz="1200" b="1" dirty="0">
                <a:solidFill>
                  <a:schemeClr val="tx1"/>
                </a:solidFill>
              </a:rPr>
              <a:t>motors</a:t>
            </a:r>
            <a:endParaRPr lang="en-US" sz="1200" dirty="0"/>
          </a:p>
        </p:txBody>
      </p:sp>
      <p:sp>
        <p:nvSpPr>
          <p:cNvPr id="39" name="Text 34"/>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chemeClr val="tx1"/>
                </a:solidFill>
              </a:rPr>
              <a:t>Linked by USB or Bluetooth. If the laptop freezes or the link drops, the Arduino stops the robot in 0.5 s. The E-stop cuts motor power in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Hardware simulated at two levels</a:t>
            </a:r>
            <a:endParaRPr lang="en-US" sz="3000" dirty="0"/>
          </a:p>
        </p:txBody>
      </p:sp>
      <p:sp>
        <p:nvSpPr>
          <p:cNvPr id="3" name="Level 1 · Robot and world card"/>
          <p:cNvSpPr/>
          <p:nvPr/>
        </p:nvSpPr>
        <p:spPr>
          <a:xfrm>
            <a:off x="457200" y="1143000"/>
            <a:ext cx="3931920" cy="1417320"/>
          </a:xfrm>
          <a:prstGeom prst="roundRect">
            <a:avLst>
              <a:gd name="adj" fmla="val 5161"/>
            </a:avLst>
          </a:prstGeom>
          <a:solidFill>
            <a:srgbClr val="F3F5F7"/>
          </a:solidFill>
          <a:ln w="9525">
            <a:solidFill>
              <a:srgbClr val="DFE4E9"/>
            </a:solidFill>
            <a:prstDash val="solid"/>
          </a:ln>
        </p:spPr>
      </p:sp>
      <p:sp>
        <p:nvSpPr>
          <p:cNvPr id="4" name="Level 1 · Robot and world circle"/>
          <p:cNvSpPr/>
          <p:nvPr/>
        </p:nvSpPr>
        <p:spPr>
          <a:xfrm>
            <a:off x="640080" y="1325880"/>
            <a:ext cx="502920" cy="502920"/>
          </a:xfrm>
          <a:prstGeom prst="ellipse">
            <a:avLst/>
          </a:prstGeom>
          <a:solidFill>
            <a:srgbClr val="0B7D73"/>
          </a:solidFill>
          <a:ln/>
        </p:spPr>
      </p:sp>
      <p:pic>
        <p:nvPicPr>
          <p:cNvPr id="5" name="Level 1 · Robot and world icon" descr="Level 1 · Robot and world">    </p:cNvPr>
          <p:cNvPicPr>
            <a:picLocks noChangeAspect="1"/>
          </p:cNvPicPr>
          <p:nvPr/>
        </p:nvPicPr>
        <p:blipFill>
          <a:blip r:embed="rId1"/>
          <a:stretch>
            <a:fillRect/>
          </a:stretch>
        </p:blipFill>
        <p:spPr>
          <a:xfrm>
            <a:off x="760781" y="1446581"/>
            <a:ext cx="261518" cy="261518"/>
          </a:xfrm>
          <a:prstGeom prst="rect">
            <a:avLst/>
          </a:prstGeom>
        </p:spPr>
      </p:pic>
      <p:sp>
        <p:nvSpPr>
          <p:cNvPr id="6" name="Text 3"/>
          <p:cNvSpPr txBox="1"/>
          <p:nvPr/>
        </p:nvSpPr>
        <p:spPr>
          <a:xfrm>
            <a:off x="1280160" y="1307592"/>
            <a:ext cx="3017520" cy="292608"/>
          </a:xfrm>
          <a:prstGeom prst="rect">
            <a:avLst/>
          </a:prstGeom>
          <a:noFill/>
          <a:ln/>
        </p:spPr>
        <p:txBody>
          <a:bodyPr wrap="square" lIns="0" tIns="0" rIns="0" bIns="0" rtlCol="0" anchor="t"/>
          <a:lstStyle/>
          <a:p>
            <a:pPr indent="0" marL="0">
              <a:buNone/>
            </a:pPr>
            <a:r>
              <a:rPr lang="en-US" sz="1400" b="1" dirty="0">
                <a:solidFill>
                  <a:schemeClr val="tx1"/>
                </a:solidFill>
              </a:rPr>
              <a:t>Level 1 · Robot and world</a:t>
            </a:r>
            <a:endParaRPr lang="en-US" sz="1400" dirty="0"/>
          </a:p>
        </p:txBody>
      </p:sp>
      <p:sp>
        <p:nvSpPr>
          <p:cNvPr id="7" name="Text 4"/>
          <p:cNvSpPr txBox="1"/>
          <p:nvPr/>
        </p:nvSpPr>
        <p:spPr>
          <a:xfrm>
            <a:off x="1280160" y="1600200"/>
            <a:ext cx="3017520" cy="256032"/>
          </a:xfrm>
          <a:prstGeom prst="rect">
            <a:avLst/>
          </a:prstGeom>
          <a:noFill/>
          <a:ln/>
        </p:spPr>
        <p:txBody>
          <a:bodyPr wrap="square" lIns="0" tIns="0" rIns="0" bIns="0" rtlCol="0" anchor="t"/>
          <a:lstStyle/>
          <a:p>
            <a:pPr indent="0" marL="0">
              <a:buNone/>
            </a:pPr>
            <a:r>
              <a:rPr lang="en-US" sz="1200" b="1" dirty="0">
                <a:solidFill>
                  <a:schemeClr val="accent1"/>
                </a:solidFill>
              </a:rPr>
              <a:t>Python + PyBullet</a:t>
            </a:r>
            <a:endParaRPr lang="en-US" sz="1200" dirty="0"/>
          </a:p>
        </p:txBody>
      </p:sp>
      <p:sp>
        <p:nvSpPr>
          <p:cNvPr id="8" name="Text 5"/>
          <p:cNvSpPr txBox="1"/>
          <p:nvPr/>
        </p:nvSpPr>
        <p:spPr>
          <a:xfrm>
            <a:off x="640080" y="1947672"/>
            <a:ext cx="3611880" cy="548640"/>
          </a:xfrm>
          <a:prstGeom prst="rect">
            <a:avLst/>
          </a:prstGeom>
          <a:noFill/>
          <a:ln/>
        </p:spPr>
        <p:txBody>
          <a:bodyPr wrap="square" lIns="0" tIns="0" rIns="0" bIns="0" rtlCol="0" anchor="t"/>
          <a:lstStyle/>
          <a:p>
            <a:pPr indent="0" marL="0">
              <a:buNone/>
            </a:pPr>
            <a:r>
              <a:rPr lang="en-US" sz="1200" dirty="0">
                <a:solidFill>
                  <a:schemeClr val="accent5"/>
                </a:solidFill>
              </a:rPr>
              <a:t>LiDAR, ultrasonic ring, IMU, wheel odometry, camera, people and carts, collisions</a:t>
            </a:r>
            <a:endParaRPr lang="en-US" sz="1200" dirty="0"/>
          </a:p>
        </p:txBody>
      </p:sp>
      <p:sp>
        <p:nvSpPr>
          <p:cNvPr id="9" name="Level 2 · Electronics and firmware card"/>
          <p:cNvSpPr/>
          <p:nvPr/>
        </p:nvSpPr>
        <p:spPr>
          <a:xfrm>
            <a:off x="457200" y="2743200"/>
            <a:ext cx="3931920" cy="1417320"/>
          </a:xfrm>
          <a:prstGeom prst="roundRect">
            <a:avLst>
              <a:gd name="adj" fmla="val 5161"/>
            </a:avLst>
          </a:prstGeom>
          <a:solidFill>
            <a:srgbClr val="F3F5F7"/>
          </a:solidFill>
          <a:ln w="9525">
            <a:solidFill>
              <a:srgbClr val="DFE4E9"/>
            </a:solidFill>
            <a:prstDash val="solid"/>
          </a:ln>
        </p:spPr>
      </p:sp>
      <p:sp>
        <p:nvSpPr>
          <p:cNvPr id="10" name="Level 2 · Electronics and firmware circle"/>
          <p:cNvSpPr/>
          <p:nvPr/>
        </p:nvSpPr>
        <p:spPr>
          <a:xfrm>
            <a:off x="640080" y="2926080"/>
            <a:ext cx="502920" cy="502920"/>
          </a:xfrm>
          <a:prstGeom prst="ellipse">
            <a:avLst/>
          </a:prstGeom>
          <a:solidFill>
            <a:srgbClr val="0B7D73"/>
          </a:solidFill>
          <a:ln/>
        </p:spPr>
      </p:sp>
      <p:pic>
        <p:nvPicPr>
          <p:cNvPr id="11" name="Level 2 · Electronics and firmware icon" descr="Level 2 · Electronics and firmware">    </p:cNvPr>
          <p:cNvPicPr>
            <a:picLocks noChangeAspect="1"/>
          </p:cNvPicPr>
          <p:nvPr/>
        </p:nvPicPr>
        <p:blipFill>
          <a:blip r:embed="rId2"/>
          <a:stretch>
            <a:fillRect/>
          </a:stretch>
        </p:blipFill>
        <p:spPr>
          <a:xfrm>
            <a:off x="760781" y="3046781"/>
            <a:ext cx="261518" cy="261518"/>
          </a:xfrm>
          <a:prstGeom prst="rect">
            <a:avLst/>
          </a:prstGeom>
        </p:spPr>
      </p:pic>
      <p:sp>
        <p:nvSpPr>
          <p:cNvPr id="12" name="Text 8"/>
          <p:cNvSpPr txBox="1"/>
          <p:nvPr/>
        </p:nvSpPr>
        <p:spPr>
          <a:xfrm>
            <a:off x="1280160" y="2907792"/>
            <a:ext cx="3017520" cy="292608"/>
          </a:xfrm>
          <a:prstGeom prst="rect">
            <a:avLst/>
          </a:prstGeom>
          <a:noFill/>
          <a:ln/>
        </p:spPr>
        <p:txBody>
          <a:bodyPr wrap="square" lIns="0" tIns="0" rIns="0" bIns="0" rtlCol="0" anchor="t"/>
          <a:lstStyle/>
          <a:p>
            <a:pPr indent="0" marL="0">
              <a:buNone/>
            </a:pPr>
            <a:r>
              <a:rPr lang="en-US" sz="1400" b="1" dirty="0">
                <a:solidFill>
                  <a:schemeClr val="tx1"/>
                </a:solidFill>
              </a:rPr>
              <a:t>Level 2 · Electronics and firmware</a:t>
            </a:r>
            <a:endParaRPr lang="en-US" sz="1400" dirty="0"/>
          </a:p>
        </p:txBody>
      </p:sp>
      <p:sp>
        <p:nvSpPr>
          <p:cNvPr id="13" name="Text 9"/>
          <p:cNvSpPr txBox="1"/>
          <p:nvPr/>
        </p:nvSpPr>
        <p:spPr>
          <a:xfrm>
            <a:off x="1280160" y="3200400"/>
            <a:ext cx="3017520" cy="256032"/>
          </a:xfrm>
          <a:prstGeom prst="rect">
            <a:avLst/>
          </a:prstGeom>
          <a:noFill/>
          <a:ln/>
        </p:spPr>
        <p:txBody>
          <a:bodyPr wrap="square" lIns="0" tIns="0" rIns="0" bIns="0" rtlCol="0" anchor="t"/>
          <a:lstStyle/>
          <a:p>
            <a:pPr indent="0" marL="0">
              <a:buNone/>
            </a:pPr>
            <a:r>
              <a:rPr lang="en-US" sz="1200" b="1" dirty="0">
                <a:solidFill>
                  <a:schemeClr val="accent1"/>
                </a:solidFill>
              </a:rPr>
              <a:t>Wokwi Arduino Mega</a:t>
            </a:r>
            <a:endParaRPr lang="en-US" sz="1200" dirty="0"/>
          </a:p>
        </p:txBody>
      </p:sp>
      <p:sp>
        <p:nvSpPr>
          <p:cNvPr id="14" name="Text 10"/>
          <p:cNvSpPr txBox="1"/>
          <p:nvPr/>
        </p:nvSpPr>
        <p:spPr>
          <a:xfrm>
            <a:off x="640080" y="3547872"/>
            <a:ext cx="3611880" cy="548640"/>
          </a:xfrm>
          <a:prstGeom prst="rect">
            <a:avLst/>
          </a:prstGeom>
          <a:noFill/>
          <a:ln/>
        </p:spPr>
        <p:txBody>
          <a:bodyPr wrap="square" lIns="0" tIns="0" rIns="0" bIns="0" rtlCol="0" anchor="t"/>
          <a:lstStyle/>
          <a:p>
            <a:pPr indent="0" marL="0">
              <a:buNone/>
            </a:pPr>
            <a:r>
              <a:rPr lang="en-US" sz="1200" dirty="0">
                <a:solidFill>
                  <a:schemeClr val="accent5"/>
                </a:solidFill>
              </a:rPr>
              <a:t>Real pin map: 6 × HC-SR04, MPU6050, E-stop, buzzer, battery, motor PWM</a:t>
            </a:r>
            <a:endParaRPr lang="en-US" sz="1200" dirty="0"/>
          </a:p>
        </p:txBody>
      </p:sp>
      <p:sp>
        <p:nvSpPr>
          <p:cNvPr id="15" name="Text 11"/>
          <p:cNvSpPr txBox="1"/>
          <p:nvPr/>
        </p:nvSpPr>
        <p:spPr>
          <a:xfrm>
            <a:off x="4754880" y="1143000"/>
            <a:ext cx="3931920" cy="320040"/>
          </a:xfrm>
          <a:prstGeom prst="rect">
            <a:avLst/>
          </a:prstGeom>
          <a:noFill/>
          <a:ln/>
        </p:spPr>
        <p:txBody>
          <a:bodyPr wrap="square" lIns="0" tIns="0" rIns="0" bIns="0" rtlCol="0" anchor="t"/>
          <a:lstStyle/>
          <a:p>
            <a:pPr indent="0" marL="0">
              <a:buNone/>
            </a:pPr>
            <a:r>
              <a:rPr lang="en-US" sz="1500" b="1" dirty="0">
                <a:solidFill>
                  <a:schemeClr val="tx1"/>
                </a:solidFill>
              </a:rPr>
              <a:t>Safety rules running on the Arduino</a:t>
            </a:r>
            <a:endParaRPr lang="en-US" sz="1500" dirty="0"/>
          </a:p>
        </p:txBody>
      </p:sp>
      <p:sp>
        <p:nvSpPr>
          <p:cNvPr id="16" name="Text 12"/>
          <p:cNvSpPr txBox="1"/>
          <p:nvPr/>
        </p:nvSpPr>
        <p:spPr>
          <a:xfrm>
            <a:off x="4754880" y="1572768"/>
            <a:ext cx="2194560" cy="365760"/>
          </a:xfrm>
          <a:prstGeom prst="rect">
            <a:avLst/>
          </a:prstGeom>
          <a:noFill/>
          <a:ln/>
        </p:spPr>
        <p:txBody>
          <a:bodyPr wrap="square" lIns="0" tIns="0" rIns="0" bIns="0" rtlCol="0" anchor="ctr"/>
          <a:lstStyle/>
          <a:p>
            <a:pPr indent="0" marL="0">
              <a:buNone/>
            </a:pPr>
            <a:r>
              <a:rPr lang="en-US" sz="1300" dirty="0">
                <a:solidFill>
                  <a:schemeClr val="tx1"/>
                </a:solidFill>
              </a:rPr>
              <a:t>No command for 500 ms</a:t>
            </a:r>
            <a:endParaRPr lang="en-US" sz="1300" dirty="0"/>
          </a:p>
        </p:txBody>
      </p:sp>
      <p:sp>
        <p:nvSpPr>
          <p:cNvPr id="17" name="CMD_TIMEOUT chip"/>
          <p:cNvSpPr/>
          <p:nvPr/>
        </p:nvSpPr>
        <p:spPr>
          <a:xfrm>
            <a:off x="6995160" y="1609344"/>
            <a:ext cx="1691640" cy="292608"/>
          </a:xfrm>
          <a:prstGeom prst="roundRect">
            <a:avLst>
              <a:gd name="adj" fmla="val 50000"/>
            </a:avLst>
          </a:prstGeom>
          <a:solidFill>
            <a:srgbClr val="FDF1DC"/>
          </a:solidFill>
          <a:ln/>
        </p:spPr>
      </p:sp>
      <p:sp>
        <p:nvSpPr>
          <p:cNvPr id="18" name="Text 14"/>
          <p:cNvSpPr txBox="1"/>
          <p:nvPr/>
        </p:nvSpPr>
        <p:spPr>
          <a:xfrm>
            <a:off x="6995160" y="1609344"/>
            <a:ext cx="1691640" cy="292608"/>
          </a:xfrm>
          <a:prstGeom prst="rect">
            <a:avLst/>
          </a:prstGeom>
          <a:noFill/>
          <a:ln/>
        </p:spPr>
        <p:txBody>
          <a:bodyPr wrap="square" lIns="0" tIns="0" rIns="0" bIns="0" rtlCol="0" anchor="ctr"/>
          <a:lstStyle/>
          <a:p>
            <a:pPr algn="ctr" indent="0" marL="0">
              <a:buNone/>
            </a:pPr>
            <a:r>
              <a:rPr lang="en-US" sz="1000" b="1" dirty="0">
                <a:solidFill>
                  <a:srgbClr val="9A5A00"/>
                </a:solidFill>
                <a:latin typeface="Courier New" pitchFamily="34" charset="0"/>
                <a:ea typeface="Courier New" pitchFamily="34" charset="-122"/>
                <a:cs typeface="Courier New" pitchFamily="34" charset="-120"/>
              </a:rPr>
              <a:t>CMD_TIMEOUT</a:t>
            </a:r>
            <a:endParaRPr lang="en-US" sz="1000" dirty="0"/>
          </a:p>
        </p:txBody>
      </p:sp>
      <p:sp>
        <p:nvSpPr>
          <p:cNvPr id="19" name="Text 15"/>
          <p:cNvSpPr txBox="1"/>
          <p:nvPr/>
        </p:nvSpPr>
        <p:spPr>
          <a:xfrm>
            <a:off x="4754880" y="2029968"/>
            <a:ext cx="2194560" cy="365760"/>
          </a:xfrm>
          <a:prstGeom prst="rect">
            <a:avLst/>
          </a:prstGeom>
          <a:noFill/>
          <a:ln/>
        </p:spPr>
        <p:txBody>
          <a:bodyPr wrap="square" lIns="0" tIns="0" rIns="0" bIns="0" rtlCol="0" anchor="ctr"/>
          <a:lstStyle/>
          <a:p>
            <a:pPr indent="0" marL="0">
              <a:buNone/>
            </a:pPr>
            <a:r>
              <a:rPr lang="en-US" sz="1300" dirty="0">
                <a:solidFill>
                  <a:schemeClr val="tx1"/>
                </a:solidFill>
              </a:rPr>
              <a:t>Obstacle closer than 0.9 m</a:t>
            </a:r>
            <a:endParaRPr lang="en-US" sz="1300" dirty="0"/>
          </a:p>
        </p:txBody>
      </p:sp>
      <p:sp>
        <p:nvSpPr>
          <p:cNvPr id="20" name="OBSTACLE_SLOW chip"/>
          <p:cNvSpPr/>
          <p:nvPr/>
        </p:nvSpPr>
        <p:spPr>
          <a:xfrm>
            <a:off x="6995160" y="2066544"/>
            <a:ext cx="1691640" cy="292608"/>
          </a:xfrm>
          <a:prstGeom prst="roundRect">
            <a:avLst>
              <a:gd name="adj" fmla="val 50000"/>
            </a:avLst>
          </a:prstGeom>
          <a:solidFill>
            <a:srgbClr val="FDF1DC"/>
          </a:solidFill>
          <a:ln/>
        </p:spPr>
      </p:sp>
      <p:sp>
        <p:nvSpPr>
          <p:cNvPr id="21" name="Text 17"/>
          <p:cNvSpPr txBox="1"/>
          <p:nvPr/>
        </p:nvSpPr>
        <p:spPr>
          <a:xfrm>
            <a:off x="6995160" y="2066544"/>
            <a:ext cx="1691640" cy="292608"/>
          </a:xfrm>
          <a:prstGeom prst="rect">
            <a:avLst/>
          </a:prstGeom>
          <a:noFill/>
          <a:ln/>
        </p:spPr>
        <p:txBody>
          <a:bodyPr wrap="square" lIns="0" tIns="0" rIns="0" bIns="0" rtlCol="0" anchor="ctr"/>
          <a:lstStyle/>
          <a:p>
            <a:pPr algn="ctr" indent="0" marL="0">
              <a:buNone/>
            </a:pPr>
            <a:r>
              <a:rPr lang="en-US" sz="1000" b="1" dirty="0">
                <a:solidFill>
                  <a:srgbClr val="9A5A00"/>
                </a:solidFill>
                <a:latin typeface="Courier New" pitchFamily="34" charset="0"/>
                <a:ea typeface="Courier New" pitchFamily="34" charset="-122"/>
                <a:cs typeface="Courier New" pitchFamily="34" charset="-120"/>
              </a:rPr>
              <a:t>OBSTACLE_SLOW</a:t>
            </a:r>
            <a:endParaRPr lang="en-US" sz="1000" dirty="0"/>
          </a:p>
        </p:txBody>
      </p:sp>
      <p:sp>
        <p:nvSpPr>
          <p:cNvPr id="22" name="Text 18"/>
          <p:cNvSpPr txBox="1"/>
          <p:nvPr/>
        </p:nvSpPr>
        <p:spPr>
          <a:xfrm>
            <a:off x="4754880" y="2487168"/>
            <a:ext cx="2194560" cy="365760"/>
          </a:xfrm>
          <a:prstGeom prst="rect">
            <a:avLst/>
          </a:prstGeom>
          <a:noFill/>
          <a:ln/>
        </p:spPr>
        <p:txBody>
          <a:bodyPr wrap="square" lIns="0" tIns="0" rIns="0" bIns="0" rtlCol="0" anchor="ctr"/>
          <a:lstStyle/>
          <a:p>
            <a:pPr indent="0" marL="0">
              <a:buNone/>
            </a:pPr>
            <a:r>
              <a:rPr lang="en-US" sz="1300" dirty="0">
                <a:solidFill>
                  <a:schemeClr val="tx1"/>
                </a:solidFill>
              </a:rPr>
              <a:t>Obstacle closer than 0.3 m</a:t>
            </a:r>
            <a:endParaRPr lang="en-US" sz="1300" dirty="0"/>
          </a:p>
        </p:txBody>
      </p:sp>
      <p:sp>
        <p:nvSpPr>
          <p:cNvPr id="23" name="OBSTACLE_STOP chip"/>
          <p:cNvSpPr/>
          <p:nvPr/>
        </p:nvSpPr>
        <p:spPr>
          <a:xfrm>
            <a:off x="6995160" y="2523744"/>
            <a:ext cx="1691640" cy="292608"/>
          </a:xfrm>
          <a:prstGeom prst="roundRect">
            <a:avLst>
              <a:gd name="adj" fmla="val 50000"/>
            </a:avLst>
          </a:prstGeom>
          <a:solidFill>
            <a:srgbClr val="FBE7E5"/>
          </a:solidFill>
          <a:ln/>
        </p:spPr>
      </p:sp>
      <p:sp>
        <p:nvSpPr>
          <p:cNvPr id="24" name="Text 20"/>
          <p:cNvSpPr txBox="1"/>
          <p:nvPr/>
        </p:nvSpPr>
        <p:spPr>
          <a:xfrm>
            <a:off x="6995160" y="25237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OBSTACLE_STOP</a:t>
            </a:r>
            <a:endParaRPr lang="en-US" sz="1000" dirty="0"/>
          </a:p>
        </p:txBody>
      </p:sp>
      <p:sp>
        <p:nvSpPr>
          <p:cNvPr id="25" name="Text 21"/>
          <p:cNvSpPr txBox="1"/>
          <p:nvPr/>
        </p:nvSpPr>
        <p:spPr>
          <a:xfrm>
            <a:off x="4754880" y="2944368"/>
            <a:ext cx="2194560" cy="365760"/>
          </a:xfrm>
          <a:prstGeom prst="rect">
            <a:avLst/>
          </a:prstGeom>
          <a:noFill/>
          <a:ln/>
        </p:spPr>
        <p:txBody>
          <a:bodyPr wrap="square" lIns="0" tIns="0" rIns="0" bIns="0" rtlCol="0" anchor="ctr"/>
          <a:lstStyle/>
          <a:p>
            <a:pPr indent="0" marL="0">
              <a:buNone/>
            </a:pPr>
            <a:r>
              <a:rPr lang="en-US" sz="1300" dirty="0">
                <a:solidFill>
                  <a:schemeClr val="tx1"/>
                </a:solidFill>
              </a:rPr>
              <a:t>E-stop pressed (latched)</a:t>
            </a:r>
            <a:endParaRPr lang="en-US" sz="1300" dirty="0"/>
          </a:p>
        </p:txBody>
      </p:sp>
      <p:sp>
        <p:nvSpPr>
          <p:cNvPr id="26" name="ESTOP chip"/>
          <p:cNvSpPr/>
          <p:nvPr/>
        </p:nvSpPr>
        <p:spPr>
          <a:xfrm>
            <a:off x="6995160" y="2980944"/>
            <a:ext cx="1691640" cy="292608"/>
          </a:xfrm>
          <a:prstGeom prst="roundRect">
            <a:avLst>
              <a:gd name="adj" fmla="val 50000"/>
            </a:avLst>
          </a:prstGeom>
          <a:solidFill>
            <a:srgbClr val="FBE7E5"/>
          </a:solidFill>
          <a:ln/>
        </p:spPr>
      </p:sp>
      <p:sp>
        <p:nvSpPr>
          <p:cNvPr id="27" name="Text 23"/>
          <p:cNvSpPr txBox="1"/>
          <p:nvPr/>
        </p:nvSpPr>
        <p:spPr>
          <a:xfrm>
            <a:off x="6995160" y="29809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ESTOP</a:t>
            </a:r>
            <a:endParaRPr lang="en-US" sz="1000" dirty="0"/>
          </a:p>
        </p:txBody>
      </p:sp>
      <p:sp>
        <p:nvSpPr>
          <p:cNvPr id="28" name="Text 24"/>
          <p:cNvSpPr txBox="1"/>
          <p:nvPr/>
        </p:nvSpPr>
        <p:spPr>
          <a:xfrm>
            <a:off x="4754880" y="3401568"/>
            <a:ext cx="2194560" cy="365760"/>
          </a:xfrm>
          <a:prstGeom prst="rect">
            <a:avLst/>
          </a:prstGeom>
          <a:noFill/>
          <a:ln/>
        </p:spPr>
        <p:txBody>
          <a:bodyPr wrap="square" lIns="0" tIns="0" rIns="0" bIns="0" rtlCol="0" anchor="ctr"/>
          <a:lstStyle/>
          <a:p>
            <a:pPr indent="0" marL="0">
              <a:buNone/>
            </a:pPr>
            <a:r>
              <a:rPr lang="en-US" sz="1300" dirty="0">
                <a:solidFill>
                  <a:schemeClr val="tx1"/>
                </a:solidFill>
              </a:rPr>
              <a:t>Battery below 9.9 V</a:t>
            </a:r>
            <a:endParaRPr lang="en-US" sz="1300" dirty="0"/>
          </a:p>
        </p:txBody>
      </p:sp>
      <p:sp>
        <p:nvSpPr>
          <p:cNvPr id="29" name="BATTERY_CRITICAL chip"/>
          <p:cNvSpPr/>
          <p:nvPr/>
        </p:nvSpPr>
        <p:spPr>
          <a:xfrm>
            <a:off x="6995160" y="3438144"/>
            <a:ext cx="1691640" cy="292608"/>
          </a:xfrm>
          <a:prstGeom prst="roundRect">
            <a:avLst>
              <a:gd name="adj" fmla="val 50000"/>
            </a:avLst>
          </a:prstGeom>
          <a:solidFill>
            <a:srgbClr val="FBE7E5"/>
          </a:solidFill>
          <a:ln/>
        </p:spPr>
      </p:sp>
      <p:sp>
        <p:nvSpPr>
          <p:cNvPr id="30" name="Text 26"/>
          <p:cNvSpPr txBox="1"/>
          <p:nvPr/>
        </p:nvSpPr>
        <p:spPr>
          <a:xfrm>
            <a:off x="6995160" y="3438144"/>
            <a:ext cx="1691640" cy="292608"/>
          </a:xfrm>
          <a:prstGeom prst="rect">
            <a:avLst/>
          </a:prstGeom>
          <a:noFill/>
          <a:ln/>
        </p:spPr>
        <p:txBody>
          <a:bodyPr wrap="square" lIns="0" tIns="0" rIns="0" bIns="0" rtlCol="0" anchor="ctr"/>
          <a:lstStyle/>
          <a:p>
            <a:pPr algn="ctr" indent="0" marL="0">
              <a:buNone/>
            </a:pPr>
            <a:r>
              <a:rPr lang="en-US" sz="1000" b="1" dirty="0">
                <a:solidFill>
                  <a:srgbClr val="C0352A"/>
                </a:solidFill>
                <a:latin typeface="Courier New" pitchFamily="34" charset="0"/>
                <a:ea typeface="Courier New" pitchFamily="34" charset="-122"/>
                <a:cs typeface="Courier New" pitchFamily="34" charset="-120"/>
              </a:rPr>
              <a:t>BATTERY_CRITICAL</a:t>
            </a:r>
            <a:endParaRPr lang="en-US" sz="1000" dirty="0"/>
          </a:p>
        </p:txBody>
      </p:sp>
      <p:sp>
        <p:nvSpPr>
          <p:cNvPr id="31" name="Text 27"/>
          <p:cNvSpPr txBox="1"/>
          <p:nvPr/>
        </p:nvSpPr>
        <p:spPr>
          <a:xfrm>
            <a:off x="4754880" y="3931920"/>
            <a:ext cx="3931920" cy="502920"/>
          </a:xfrm>
          <a:prstGeom prst="rect">
            <a:avLst/>
          </a:prstGeom>
          <a:noFill/>
          <a:ln/>
        </p:spPr>
        <p:txBody>
          <a:bodyPr wrap="square" lIns="0" tIns="0" rIns="0" bIns="0" rtlCol="0" anchor="t"/>
          <a:lstStyle/>
          <a:p>
            <a:pPr indent="0" marL="0">
              <a:buNone/>
            </a:pPr>
            <a:r>
              <a:rPr lang="en-US" sz="1100" i="1" dirty="0">
                <a:solidFill>
                  <a:schemeClr val="accent5"/>
                </a:solidFill>
              </a:rPr>
              <a:t>Same numbers in both levels: 0.9 / 0.3 m, 0.9 m/s, 10 Hz telemetry. 14 test cases in hardware/README.md.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How the circuit works</a:t>
            </a:r>
            <a:endParaRPr lang="en-US" sz="3000" dirty="0"/>
          </a:p>
        </p:txBody>
      </p:sp>
      <p:pic>
        <p:nvPicPr>
          <p:cNvPr id="3" name="How the circuit works" descr="Sense, think, act: ultrasonic sensors, encoders, IMU, E-stop and battery feed the Arduino Mega; the laptop sends speed commands; the Arduino applies safety rules and drives the motors, buzzer and status LED. Power: battery, fuse, switch, E-stop, motor driver.">    </p:cNvPr>
          <p:cNvPicPr>
            <a:picLocks noChangeAspect="1"/>
          </p:cNvPicPr>
          <p:nvPr/>
        </p:nvPicPr>
        <p:blipFill>
          <a:blip r:embed="rId1"/>
          <a:stretch>
            <a:fillRect/>
          </a:stretch>
        </p:blipFill>
        <p:spPr>
          <a:xfrm>
            <a:off x="457200" y="1024128"/>
            <a:ext cx="8229600" cy="3602736"/>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Wiring: every pin</a:t>
            </a:r>
            <a:endParaRPr lang="en-US" sz="3000" dirty="0"/>
          </a:p>
        </p:txBody>
      </p:sp>
      <p:pic>
        <p:nvPicPr>
          <p:cNvPr id="3" name="Circuit diagram" descr="Arduino Mega 2560 wiring: motor driver on D5-D8, encoders on D2/D24 and D3/D25, six HC-SR04 sensors on D30-D41, MPU6050 on D20/D21, battery on A0, E-stop on D26, buzzer on D28, status LED on D13, laptop over USB">    </p:cNvPr>
          <p:cNvPicPr>
            <a:picLocks noChangeAspect="1"/>
          </p:cNvPicPr>
          <p:nvPr/>
        </p:nvPicPr>
        <p:blipFill>
          <a:blip r:embed="rId1"/>
          <a:stretch>
            <a:fillRect/>
          </a:stretch>
        </p:blipFill>
        <p:spPr>
          <a:xfrm>
            <a:off x="841248" y="1051560"/>
            <a:ext cx="7461504" cy="3566160"/>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Running in the Wokwi simulator</a:t>
            </a:r>
            <a:endParaRPr lang="en-US" sz="3000" dirty="0"/>
          </a:p>
        </p:txBody>
      </p:sp>
      <p:pic>
        <p:nvPicPr>
          <p:cNvPr id="3" name="Wokwi screenshot" descr="Wokwi simulation of the Arduino Mega with six HC-SR04 sensors, MPU6050, E-stop button, buzzer, battery potentiometer and motor LEDs">    </p:cNvPr>
          <p:cNvPicPr>
            <a:picLocks noChangeAspect="1"/>
          </p:cNvPicPr>
          <p:nvPr/>
        </p:nvPicPr>
        <p:blipFill>
          <a:blip r:embed="rId1"/>
          <a:stretch>
            <a:fillRect/>
          </a:stretch>
        </p:blipFill>
        <p:spPr>
          <a:xfrm>
            <a:off x="457200" y="1097280"/>
            <a:ext cx="5001768" cy="3383280"/>
          </a:xfrm>
          <a:prstGeom prst="rect">
            <a:avLst/>
          </a:prstGeom>
        </p:spPr>
      </p:pic>
      <p:sp>
        <p:nvSpPr>
          <p:cNvPr id="4" name="Screenshot frame"/>
          <p:cNvSpPr/>
          <p:nvPr/>
        </p:nvSpPr>
        <p:spPr>
          <a:xfrm>
            <a:off x="457200" y="1097280"/>
            <a:ext cx="5001768" cy="3383280"/>
          </a:xfrm>
          <a:prstGeom prst="rect">
            <a:avLst/>
          </a:prstGeom>
          <a:ln w="12700">
            <a:solidFill>
              <a:srgbClr val="DFE4E9"/>
            </a:solidFill>
            <a:prstDash val="solid"/>
          </a:ln>
        </p:spPr>
      </p:sp>
      <p:sp>
        <p:nvSpPr>
          <p:cNvPr id="5" name="Text 2"/>
          <p:cNvSpPr txBox="1"/>
          <p:nvPr/>
        </p:nvSpPr>
        <p:spPr>
          <a:xfrm>
            <a:off x="5760720" y="1097280"/>
            <a:ext cx="2926080" cy="365760"/>
          </a:xfrm>
          <a:prstGeom prst="rect">
            <a:avLst/>
          </a:prstGeom>
          <a:noFill/>
          <a:ln/>
        </p:spPr>
        <p:txBody>
          <a:bodyPr wrap="square" lIns="0" tIns="0" rIns="0" bIns="0" rtlCol="0" anchor="t"/>
          <a:lstStyle/>
          <a:p>
            <a:pPr indent="0" marL="0">
              <a:buNone/>
            </a:pPr>
            <a:r>
              <a:rPr lang="en-US" sz="1600" b="1" dirty="0">
                <a:solidFill>
                  <a:schemeClr val="tx1"/>
                </a:solidFill>
              </a:rPr>
              <a:t>Try it</a:t>
            </a:r>
            <a:endParaRPr lang="en-US" sz="1600" dirty="0"/>
          </a:p>
        </p:txBody>
      </p:sp>
      <p:sp>
        <p:nvSpPr>
          <p:cNvPr id="6" name="Step 1"/>
          <p:cNvSpPr/>
          <p:nvPr/>
        </p:nvSpPr>
        <p:spPr>
          <a:xfrm>
            <a:off x="5760720" y="1591056"/>
            <a:ext cx="310896" cy="310896"/>
          </a:xfrm>
          <a:prstGeom prst="ellipse">
            <a:avLst/>
          </a:prstGeom>
          <a:solidFill>
            <a:srgbClr val="0B7D73"/>
          </a:solidFill>
          <a:ln/>
        </p:spPr>
      </p:sp>
      <p:sp>
        <p:nvSpPr>
          <p:cNvPr id="7" name="Text 4"/>
          <p:cNvSpPr txBox="1"/>
          <p:nvPr/>
        </p:nvSpPr>
        <p:spPr>
          <a:xfrm>
            <a:off x="5760720" y="1591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17920" y="1554480"/>
            <a:ext cx="2468880" cy="237744"/>
          </a:xfrm>
          <a:prstGeom prst="rect">
            <a:avLst/>
          </a:prstGeom>
          <a:noFill/>
          <a:ln/>
        </p:spPr>
        <p:txBody>
          <a:bodyPr wrap="square" lIns="0" tIns="0" rIns="0" bIns="0" rtlCol="0" anchor="t"/>
          <a:lstStyle/>
          <a:p>
            <a:pPr indent="0" marL="0">
              <a:buNone/>
            </a:pPr>
            <a:r>
              <a:rPr lang="en-US" sz="1300" b="1" dirty="0">
                <a:solidFill>
                  <a:schemeClr val="tx1"/>
                </a:solidFill>
              </a:rPr>
              <a:t>Type D</a:t>
            </a:r>
            <a:endParaRPr lang="en-US" sz="1300" dirty="0"/>
          </a:p>
        </p:txBody>
      </p:sp>
      <p:sp>
        <p:nvSpPr>
          <p:cNvPr id="9" name="Text 6"/>
          <p:cNvSpPr txBox="1"/>
          <p:nvPr/>
        </p:nvSpPr>
        <p:spPr>
          <a:xfrm>
            <a:off x="6217920" y="1801368"/>
            <a:ext cx="2468880" cy="237744"/>
          </a:xfrm>
          <a:prstGeom prst="rect">
            <a:avLst/>
          </a:prstGeom>
          <a:noFill/>
          <a:ln/>
        </p:spPr>
        <p:txBody>
          <a:bodyPr wrap="square" lIns="0" tIns="0" rIns="0" bIns="0" rtlCol="0" anchor="t"/>
          <a:lstStyle/>
          <a:p>
            <a:pPr indent="0" marL="0">
              <a:buNone/>
            </a:pPr>
            <a:r>
              <a:rPr lang="en-US" sz="1200" dirty="0">
                <a:solidFill>
                  <a:schemeClr val="accent5"/>
                </a:solidFill>
              </a:rPr>
              <a:t>motor LEDs light up</a:t>
            </a:r>
            <a:endParaRPr lang="en-US" sz="1200" dirty="0"/>
          </a:p>
        </p:txBody>
      </p:sp>
      <p:sp>
        <p:nvSpPr>
          <p:cNvPr id="10" name="Step 2"/>
          <p:cNvSpPr/>
          <p:nvPr/>
        </p:nvSpPr>
        <p:spPr>
          <a:xfrm>
            <a:off x="5760720" y="2157984"/>
            <a:ext cx="310896" cy="310896"/>
          </a:xfrm>
          <a:prstGeom prst="ellipse">
            <a:avLst/>
          </a:prstGeom>
          <a:solidFill>
            <a:srgbClr val="0B7D73"/>
          </a:solidFill>
          <a:ln/>
        </p:spPr>
      </p:sp>
      <p:sp>
        <p:nvSpPr>
          <p:cNvPr id="11" name="Text 8"/>
          <p:cNvSpPr txBox="1"/>
          <p:nvPr/>
        </p:nvSpPr>
        <p:spPr>
          <a:xfrm>
            <a:off x="5760720" y="215798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17920" y="2121408"/>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60 cm</a:t>
            </a:r>
            <a:endParaRPr lang="en-US" sz="1300" dirty="0"/>
          </a:p>
        </p:txBody>
      </p:sp>
      <p:sp>
        <p:nvSpPr>
          <p:cNvPr id="13" name="Text 10"/>
          <p:cNvSpPr txBox="1"/>
          <p:nvPr/>
        </p:nvSpPr>
        <p:spPr>
          <a:xfrm>
            <a:off x="6217920" y="2368296"/>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slows</a:t>
            </a:r>
            <a:endParaRPr lang="en-US" sz="1200" dirty="0"/>
          </a:p>
        </p:txBody>
      </p:sp>
      <p:sp>
        <p:nvSpPr>
          <p:cNvPr id="14" name="Step 3"/>
          <p:cNvSpPr/>
          <p:nvPr/>
        </p:nvSpPr>
        <p:spPr>
          <a:xfrm>
            <a:off x="5760720" y="2724912"/>
            <a:ext cx="310896" cy="310896"/>
          </a:xfrm>
          <a:prstGeom prst="ellipse">
            <a:avLst/>
          </a:prstGeom>
          <a:solidFill>
            <a:srgbClr val="0B7D73"/>
          </a:solidFill>
          <a:ln/>
        </p:spPr>
      </p:sp>
      <p:sp>
        <p:nvSpPr>
          <p:cNvPr id="15" name="Text 12"/>
          <p:cNvSpPr txBox="1"/>
          <p:nvPr/>
        </p:nvSpPr>
        <p:spPr>
          <a:xfrm>
            <a:off x="5760720" y="272491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17920" y="2688336"/>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20 cm</a:t>
            </a:r>
            <a:endParaRPr lang="en-US" sz="1300" dirty="0"/>
          </a:p>
        </p:txBody>
      </p:sp>
      <p:sp>
        <p:nvSpPr>
          <p:cNvPr id="17" name="Text 14"/>
          <p:cNvSpPr txBox="1"/>
          <p:nvPr/>
        </p:nvSpPr>
        <p:spPr>
          <a:xfrm>
            <a:off x="6217920" y="2935224"/>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stops, buzzer</a:t>
            </a:r>
            <a:endParaRPr lang="en-US" sz="1200" dirty="0"/>
          </a:p>
        </p:txBody>
      </p:sp>
      <p:sp>
        <p:nvSpPr>
          <p:cNvPr id="18" name="Step 4"/>
          <p:cNvSpPr/>
          <p:nvPr/>
        </p:nvSpPr>
        <p:spPr>
          <a:xfrm>
            <a:off x="5760720" y="3291840"/>
            <a:ext cx="310896" cy="310896"/>
          </a:xfrm>
          <a:prstGeom prst="ellipse">
            <a:avLst/>
          </a:prstGeom>
          <a:solidFill>
            <a:srgbClr val="0B7D73"/>
          </a:solidFill>
          <a:ln/>
        </p:spPr>
      </p:sp>
      <p:sp>
        <p:nvSpPr>
          <p:cNvPr id="19" name="Text 16"/>
          <p:cNvSpPr txBox="1"/>
          <p:nvPr/>
        </p:nvSpPr>
        <p:spPr>
          <a:xfrm>
            <a:off x="5760720" y="32918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17920" y="3255264"/>
            <a:ext cx="2468880" cy="237744"/>
          </a:xfrm>
          <a:prstGeom prst="rect">
            <a:avLst/>
          </a:prstGeom>
          <a:noFill/>
          <a:ln/>
        </p:spPr>
        <p:txBody>
          <a:bodyPr wrap="square" lIns="0" tIns="0" rIns="0" bIns="0" rtlCol="0" anchor="t"/>
          <a:lstStyle/>
          <a:p>
            <a:pPr indent="0" marL="0">
              <a:buNone/>
            </a:pPr>
            <a:r>
              <a:rPr lang="en-US" sz="1300" b="1" dirty="0">
                <a:solidFill>
                  <a:schemeClr val="tx1"/>
                </a:solidFill>
              </a:rPr>
              <a:t>Press E-STOP</a:t>
            </a:r>
            <a:endParaRPr lang="en-US" sz="1300" dirty="0"/>
          </a:p>
        </p:txBody>
      </p:sp>
      <p:sp>
        <p:nvSpPr>
          <p:cNvPr id="21" name="Text 18"/>
          <p:cNvSpPr txBox="1"/>
          <p:nvPr/>
        </p:nvSpPr>
        <p:spPr>
          <a:xfrm>
            <a:off x="6217920" y="3502152"/>
            <a:ext cx="2468880" cy="237744"/>
          </a:xfrm>
          <a:prstGeom prst="rect">
            <a:avLst/>
          </a:prstGeom>
          <a:noFill/>
          <a:ln/>
        </p:spPr>
        <p:txBody>
          <a:bodyPr wrap="square" lIns="0" tIns="0" rIns="0" bIns="0" rtlCol="0" anchor="t"/>
          <a:lstStyle/>
          <a:p>
            <a:pPr indent="0" marL="0">
              <a:buNone/>
            </a:pPr>
            <a:r>
              <a:rPr lang="en-US" sz="1200" dirty="0">
                <a:solidFill>
                  <a:schemeClr val="accent5"/>
                </a:solidFill>
              </a:rPr>
              <a:t>instant stop, stays latched</a:t>
            </a:r>
            <a:endParaRPr lang="en-US" sz="1200" dirty="0"/>
          </a:p>
        </p:txBody>
      </p:sp>
      <p:sp>
        <p:nvSpPr>
          <p:cNvPr id="22" name="Step 5"/>
          <p:cNvSpPr/>
          <p:nvPr/>
        </p:nvSpPr>
        <p:spPr>
          <a:xfrm>
            <a:off x="5760720" y="3858768"/>
            <a:ext cx="310896" cy="310896"/>
          </a:xfrm>
          <a:prstGeom prst="ellipse">
            <a:avLst/>
          </a:prstGeom>
          <a:solidFill>
            <a:srgbClr val="0B7D73"/>
          </a:solidFill>
          <a:ln/>
        </p:spPr>
      </p:sp>
      <p:sp>
        <p:nvSpPr>
          <p:cNvPr id="23" name="Text 20"/>
          <p:cNvSpPr txBox="1"/>
          <p:nvPr/>
        </p:nvSpPr>
        <p:spPr>
          <a:xfrm>
            <a:off x="5760720" y="385876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4" name="Text 21"/>
          <p:cNvSpPr txBox="1"/>
          <p:nvPr/>
        </p:nvSpPr>
        <p:spPr>
          <a:xfrm>
            <a:off x="6217920" y="3822192"/>
            <a:ext cx="2468880" cy="237744"/>
          </a:xfrm>
          <a:prstGeom prst="rect">
            <a:avLst/>
          </a:prstGeom>
          <a:noFill/>
          <a:ln/>
        </p:spPr>
        <p:txBody>
          <a:bodyPr wrap="square" lIns="0" tIns="0" rIns="0" bIns="0" rtlCol="0" anchor="t"/>
          <a:lstStyle/>
          <a:p>
            <a:pPr indent="0" marL="0">
              <a:buNone/>
            </a:pPr>
            <a:r>
              <a:rPr lang="en-US" sz="1300" b="1" dirty="0">
                <a:solidFill>
                  <a:schemeClr val="tx1"/>
                </a:solidFill>
              </a:rPr>
              <a:t>Turn battery knob</a:t>
            </a:r>
            <a:endParaRPr lang="en-US" sz="1300" dirty="0"/>
          </a:p>
        </p:txBody>
      </p:sp>
      <p:sp>
        <p:nvSpPr>
          <p:cNvPr id="25" name="Text 22"/>
          <p:cNvSpPr txBox="1"/>
          <p:nvPr/>
        </p:nvSpPr>
        <p:spPr>
          <a:xfrm>
            <a:off x="6217920" y="4069080"/>
            <a:ext cx="2468880" cy="237744"/>
          </a:xfrm>
          <a:prstGeom prst="rect">
            <a:avLst/>
          </a:prstGeom>
          <a:noFill/>
          <a:ln/>
        </p:spPr>
        <p:txBody>
          <a:bodyPr wrap="square" lIns="0" tIns="0" rIns="0" bIns="0" rtlCol="0" anchor="t"/>
          <a:lstStyle/>
          <a:p>
            <a:pPr indent="0" marL="0">
              <a:buNone/>
            </a:pPr>
            <a:r>
              <a:rPr lang="en-US" sz="1200" dirty="0">
                <a:solidFill>
                  <a:schemeClr val="accent5"/>
                </a:solidFill>
              </a:rPr>
              <a:t>half speed, then stop</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Cost and power</a:t>
            </a:r>
            <a:endParaRPr lang="en-US" sz="3000" dirty="0"/>
          </a:p>
        </p:txBody>
      </p:sp>
      <p:graphicFrame>
        <p:nvGraphicFramePr>
          <p:cNvPr id="3" name="Chart 0" descr=""/>
          <p:cNvGraphicFramePr/>
          <p:nvPr/>
        </p:nvGraphicFramePr>
        <p:xfrm>
          <a:off x="365760" y="1051560"/>
          <a:ext cx="438912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120640" y="118872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₹21,000</a:t>
            </a:r>
            <a:endParaRPr lang="en-US" sz="3000" dirty="0"/>
          </a:p>
        </p:txBody>
      </p:sp>
      <p:sp>
        <p:nvSpPr>
          <p:cNvPr id="5" name="Text 2"/>
          <p:cNvSpPr txBox="1"/>
          <p:nvPr/>
        </p:nvSpPr>
        <p:spPr>
          <a:xfrm>
            <a:off x="7086600" y="12618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full build</a:t>
            </a:r>
            <a:endParaRPr lang="en-US" sz="1300" dirty="0"/>
          </a:p>
        </p:txBody>
      </p:sp>
      <p:sp>
        <p:nvSpPr>
          <p:cNvPr id="6" name="Text 3"/>
          <p:cNvSpPr txBox="1"/>
          <p:nvPr/>
        </p:nvSpPr>
        <p:spPr>
          <a:xfrm>
            <a:off x="7086600" y="15544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plus the laptop we already own</a:t>
            </a:r>
            <a:endParaRPr lang="en-US" sz="1100" dirty="0"/>
          </a:p>
        </p:txBody>
      </p:sp>
      <p:sp>
        <p:nvSpPr>
          <p:cNvPr id="7" name="Text 4"/>
          <p:cNvSpPr txBox="1"/>
          <p:nvPr/>
        </p:nvSpPr>
        <p:spPr>
          <a:xfrm>
            <a:off x="5120640" y="22402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+₹14,400</a:t>
            </a:r>
            <a:endParaRPr lang="en-US" sz="3000" dirty="0"/>
          </a:p>
        </p:txBody>
      </p:sp>
      <p:sp>
        <p:nvSpPr>
          <p:cNvPr id="8" name="Text 5"/>
          <p:cNvSpPr txBox="1"/>
          <p:nvPr/>
        </p:nvSpPr>
        <p:spPr>
          <a:xfrm>
            <a:off x="7086600" y="2313432"/>
            <a:ext cx="1600200" cy="292608"/>
          </a:xfrm>
          <a:prstGeom prst="rect">
            <a:avLst/>
          </a:prstGeom>
          <a:noFill/>
          <a:ln/>
        </p:spPr>
        <p:txBody>
          <a:bodyPr wrap="square" lIns="0" tIns="0" rIns="0" bIns="0" rtlCol="0" anchor="t"/>
          <a:lstStyle/>
          <a:p>
            <a:pPr indent="0" marL="0">
              <a:buNone/>
            </a:pPr>
            <a:r>
              <a:rPr lang="en-US" sz="1300" b="1" dirty="0">
                <a:solidFill>
                  <a:schemeClr val="tx1"/>
                </a:solidFill>
              </a:rPr>
              <a:t>optional upgrade</a:t>
            </a:r>
            <a:endParaRPr lang="en-US" sz="1300" dirty="0"/>
          </a:p>
        </p:txBody>
      </p:sp>
      <p:sp>
        <p:nvSpPr>
          <p:cNvPr id="9" name="Text 6"/>
          <p:cNvSpPr txBox="1"/>
          <p:nvPr/>
        </p:nvSpPr>
        <p:spPr>
          <a:xfrm>
            <a:off x="7086600" y="260604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OAK-D Lite depth camera</a:t>
            </a:r>
            <a:endParaRPr lang="en-US" sz="1100" dirty="0"/>
          </a:p>
        </p:txBody>
      </p:sp>
      <p:sp>
        <p:nvSpPr>
          <p:cNvPr id="10" name="Text 7"/>
          <p:cNvSpPr txBox="1"/>
          <p:nvPr/>
        </p:nvSpPr>
        <p:spPr>
          <a:xfrm>
            <a:off x="5120640" y="329184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 2 h</a:t>
            </a:r>
            <a:endParaRPr lang="en-US" sz="3000" dirty="0"/>
          </a:p>
        </p:txBody>
      </p:sp>
      <p:sp>
        <p:nvSpPr>
          <p:cNvPr id="11" name="Text 8"/>
          <p:cNvSpPr txBox="1"/>
          <p:nvPr/>
        </p:nvSpPr>
        <p:spPr>
          <a:xfrm>
            <a:off x="7086600" y="3364992"/>
            <a:ext cx="1600200" cy="292608"/>
          </a:xfrm>
          <a:prstGeom prst="rect">
            <a:avLst/>
          </a:prstGeom>
          <a:noFill/>
          <a:ln/>
        </p:spPr>
        <p:txBody>
          <a:bodyPr wrap="square" lIns="0" tIns="0" rIns="0" bIns="0" rtlCol="0" anchor="t"/>
          <a:lstStyle/>
          <a:p>
            <a:pPr indent="0" marL="0">
              <a:buNone/>
            </a:pPr>
            <a:r>
              <a:rPr lang="en-US" sz="1300" b="1" dirty="0">
                <a:solidFill>
                  <a:schemeClr val="tx1"/>
                </a:solidFill>
              </a:rPr>
              <a:t>runtime</a:t>
            </a:r>
            <a:endParaRPr lang="en-US" sz="1300" dirty="0"/>
          </a:p>
        </p:txBody>
      </p:sp>
      <p:sp>
        <p:nvSpPr>
          <p:cNvPr id="12" name="Text 9"/>
          <p:cNvSpPr txBox="1"/>
          <p:nvPr/>
        </p:nvSpPr>
        <p:spPr>
          <a:xfrm>
            <a:off x="7086600" y="365760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limited by the laptop battery</a:t>
            </a:r>
            <a:endParaRPr lang="en-US" sz="1100" dirty="0"/>
          </a:p>
        </p:txBody>
      </p:sp>
      <p:sp>
        <p:nvSpPr>
          <p:cNvPr id="13" name="Text 10"/>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000" i="1" dirty="0">
                <a:solidFill>
                  <a:schemeClr val="accent5"/>
                </a:solidFill>
              </a:rPr>
              <a:t>Approximate Indian retail prices, October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From simulation to a real robot</a:t>
            </a:r>
            <a:endParaRPr lang="en-US" sz="3000" dirty="0"/>
          </a:p>
        </p:txBody>
      </p:sp>
      <p:sp>
        <p:nvSpPr>
          <p:cNvPr id="3" name="Shape 1"/>
          <p:cNvSpPr/>
          <p:nvPr/>
        </p:nvSpPr>
        <p:spPr>
          <a:xfrm>
            <a:off x="1088136" y="1691640"/>
            <a:ext cx="6967728" cy="0"/>
          </a:xfrm>
          <a:prstGeom prst="line">
            <a:avLst/>
          </a:prstGeom>
          <a:noFill/>
          <a:ln w="38100">
            <a:solidFill>
              <a:srgbClr val="DFE4E9"/>
            </a:solidFill>
            <a:prstDash val="solid"/>
          </a:ln>
        </p:spPr>
      </p:sp>
      <p:sp>
        <p:nvSpPr>
          <p:cNvPr id="4" name="Bench electronics marker"/>
          <p:cNvSpPr/>
          <p:nvPr/>
        </p:nvSpPr>
        <p:spPr>
          <a:xfrm>
            <a:off x="832104" y="1435608"/>
            <a:ext cx="512064" cy="512064"/>
          </a:xfrm>
          <a:prstGeom prst="ellipse">
            <a:avLst/>
          </a:prstGeom>
          <a:solidFill>
            <a:srgbClr val="D9A441"/>
          </a:solidFill>
          <a:ln w="25400">
            <a:solidFill>
              <a:srgbClr val="FFFFFF"/>
            </a:solidFill>
            <a:prstDash val="solid"/>
          </a:ln>
        </p:spPr>
      </p:sp>
      <p:sp>
        <p:nvSpPr>
          <p:cNvPr id="5" name="Text 3"/>
          <p:cNvSpPr txBox="1"/>
          <p:nvPr/>
        </p:nvSpPr>
        <p:spPr>
          <a:xfrm>
            <a:off x="832104"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457200"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1</a:t>
            </a:r>
            <a:endParaRPr lang="en-US" sz="1100" dirty="0"/>
          </a:p>
        </p:txBody>
      </p:sp>
      <p:sp>
        <p:nvSpPr>
          <p:cNvPr id="7" name="Bench electronics card"/>
          <p:cNvSpPr/>
          <p:nvPr/>
        </p:nvSpPr>
        <p:spPr>
          <a:xfrm>
            <a:off x="457200" y="2194560"/>
            <a:ext cx="1261872" cy="1828800"/>
          </a:xfrm>
          <a:prstGeom prst="roundRect">
            <a:avLst>
              <a:gd name="adj" fmla="val 5797"/>
            </a:avLst>
          </a:prstGeom>
          <a:solidFill>
            <a:srgbClr val="F3F5F7"/>
          </a:solidFill>
          <a:ln w="9525">
            <a:solidFill>
              <a:srgbClr val="DFE4E9"/>
            </a:solidFill>
            <a:prstDash val="solid"/>
          </a:ln>
        </p:spPr>
      </p:sp>
      <p:sp>
        <p:nvSpPr>
          <p:cNvPr id="8" name="Text 6"/>
          <p:cNvSpPr txBox="1"/>
          <p:nvPr/>
        </p:nvSpPr>
        <p:spPr>
          <a:xfrm>
            <a:off x="566928"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Bench electronics</a:t>
            </a:r>
            <a:endParaRPr lang="en-US" sz="1400" dirty="0"/>
          </a:p>
        </p:txBody>
      </p:sp>
      <p:sp>
        <p:nvSpPr>
          <p:cNvPr id="9" name="Text 7"/>
          <p:cNvSpPr txBox="1"/>
          <p:nvPr/>
        </p:nvSpPr>
        <p:spPr>
          <a:xfrm>
            <a:off x="566928"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Arduino + sensors pass the same tests as Wokwi</a:t>
            </a:r>
            <a:endParaRPr lang="en-US" sz="1200" dirty="0"/>
          </a:p>
        </p:txBody>
      </p:sp>
      <p:sp>
        <p:nvSpPr>
          <p:cNvPr id="10" name="Drive base marker"/>
          <p:cNvSpPr/>
          <p:nvPr/>
        </p:nvSpPr>
        <p:spPr>
          <a:xfrm>
            <a:off x="2225650" y="1435608"/>
            <a:ext cx="512064" cy="512064"/>
          </a:xfrm>
          <a:prstGeom prst="ellipse">
            <a:avLst/>
          </a:prstGeom>
          <a:solidFill>
            <a:srgbClr val="0B7D73"/>
          </a:solidFill>
          <a:ln w="25400">
            <a:solidFill>
              <a:srgbClr val="FFFFFF"/>
            </a:solidFill>
            <a:prstDash val="solid"/>
          </a:ln>
        </p:spPr>
      </p:sp>
      <p:sp>
        <p:nvSpPr>
          <p:cNvPr id="11" name="Text 9"/>
          <p:cNvSpPr txBox="1"/>
          <p:nvPr/>
        </p:nvSpPr>
        <p:spPr>
          <a:xfrm>
            <a:off x="2225650"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1850746"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2–3</a:t>
            </a:r>
            <a:endParaRPr lang="en-US" sz="1100" dirty="0"/>
          </a:p>
        </p:txBody>
      </p:sp>
      <p:sp>
        <p:nvSpPr>
          <p:cNvPr id="13" name="Drive base card"/>
          <p:cNvSpPr/>
          <p:nvPr/>
        </p:nvSpPr>
        <p:spPr>
          <a:xfrm>
            <a:off x="1850746" y="2194560"/>
            <a:ext cx="1261872" cy="1828800"/>
          </a:xfrm>
          <a:prstGeom prst="roundRect">
            <a:avLst>
              <a:gd name="adj" fmla="val 5797"/>
            </a:avLst>
          </a:prstGeom>
          <a:solidFill>
            <a:srgbClr val="F3F5F7"/>
          </a:solidFill>
          <a:ln w="9525">
            <a:solidFill>
              <a:srgbClr val="DFE4E9"/>
            </a:solidFill>
            <a:prstDash val="solid"/>
          </a:ln>
        </p:spPr>
      </p:sp>
      <p:sp>
        <p:nvSpPr>
          <p:cNvPr id="14" name="Text 12"/>
          <p:cNvSpPr txBox="1"/>
          <p:nvPr/>
        </p:nvSpPr>
        <p:spPr>
          <a:xfrm>
            <a:off x="1960474"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Drive base</a:t>
            </a:r>
            <a:endParaRPr lang="en-US" sz="1400" dirty="0"/>
          </a:p>
        </p:txBody>
      </p:sp>
      <p:sp>
        <p:nvSpPr>
          <p:cNvPr id="15" name="Text 13"/>
          <p:cNvSpPr txBox="1"/>
          <p:nvPr/>
        </p:nvSpPr>
        <p:spPr>
          <a:xfrm>
            <a:off x="1960474"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Chassis, motors, E-stop; tune wheel control</a:t>
            </a:r>
            <a:endParaRPr lang="en-US" sz="1200" dirty="0"/>
          </a:p>
        </p:txBody>
      </p:sp>
      <p:sp>
        <p:nvSpPr>
          <p:cNvPr id="16" name="Laptop integration marker"/>
          <p:cNvSpPr/>
          <p:nvPr/>
        </p:nvSpPr>
        <p:spPr>
          <a:xfrm>
            <a:off x="3619195" y="1435608"/>
            <a:ext cx="512064" cy="512064"/>
          </a:xfrm>
          <a:prstGeom prst="ellipse">
            <a:avLst/>
          </a:prstGeom>
          <a:solidFill>
            <a:srgbClr val="0B7D73"/>
          </a:solidFill>
          <a:ln w="25400">
            <a:solidFill>
              <a:srgbClr val="FFFFFF"/>
            </a:solidFill>
            <a:prstDash val="solid"/>
          </a:ln>
        </p:spPr>
      </p:sp>
      <p:sp>
        <p:nvSpPr>
          <p:cNvPr id="17" name="Text 15"/>
          <p:cNvSpPr txBox="1"/>
          <p:nvPr/>
        </p:nvSpPr>
        <p:spPr>
          <a:xfrm>
            <a:off x="3619195"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3244291"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4</a:t>
            </a:r>
            <a:endParaRPr lang="en-US" sz="1100" dirty="0"/>
          </a:p>
        </p:txBody>
      </p:sp>
      <p:sp>
        <p:nvSpPr>
          <p:cNvPr id="19" name="Laptop integration card"/>
          <p:cNvSpPr/>
          <p:nvPr/>
        </p:nvSpPr>
        <p:spPr>
          <a:xfrm>
            <a:off x="3244291" y="2194560"/>
            <a:ext cx="1261872" cy="1828800"/>
          </a:xfrm>
          <a:prstGeom prst="roundRect">
            <a:avLst>
              <a:gd name="adj" fmla="val 5797"/>
            </a:avLst>
          </a:prstGeom>
          <a:solidFill>
            <a:srgbClr val="F3F5F7"/>
          </a:solidFill>
          <a:ln w="9525">
            <a:solidFill>
              <a:srgbClr val="DFE4E9"/>
            </a:solidFill>
            <a:prstDash val="solid"/>
          </a:ln>
        </p:spPr>
      </p:sp>
      <p:sp>
        <p:nvSpPr>
          <p:cNvPr id="20" name="Text 18"/>
          <p:cNvSpPr txBox="1"/>
          <p:nvPr/>
        </p:nvSpPr>
        <p:spPr>
          <a:xfrm>
            <a:off x="3354019"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Laptop integration</a:t>
            </a:r>
            <a:endParaRPr lang="en-US" sz="1400" dirty="0"/>
          </a:p>
        </p:txBody>
      </p:sp>
      <p:sp>
        <p:nvSpPr>
          <p:cNvPr id="21" name="Text 19"/>
          <p:cNvSpPr txBox="1"/>
          <p:nvPr/>
        </p:nvSpPr>
        <p:spPr>
          <a:xfrm>
            <a:off x="3354019"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Serial bridge; real sensors on the dashboard</a:t>
            </a:r>
            <a:endParaRPr lang="en-US" sz="1200" dirty="0"/>
          </a:p>
        </p:txBody>
      </p:sp>
      <p:sp>
        <p:nvSpPr>
          <p:cNvPr id="22" name="Mapping marker"/>
          <p:cNvSpPr/>
          <p:nvPr/>
        </p:nvSpPr>
        <p:spPr>
          <a:xfrm>
            <a:off x="5012741" y="1435608"/>
            <a:ext cx="512064" cy="512064"/>
          </a:xfrm>
          <a:prstGeom prst="ellipse">
            <a:avLst/>
          </a:prstGeom>
          <a:solidFill>
            <a:srgbClr val="0B7D73"/>
          </a:solidFill>
          <a:ln w="25400">
            <a:solidFill>
              <a:srgbClr val="FFFFFF"/>
            </a:solidFill>
            <a:prstDash val="solid"/>
          </a:ln>
        </p:spPr>
      </p:sp>
      <p:sp>
        <p:nvSpPr>
          <p:cNvPr id="23" name="Text 21"/>
          <p:cNvSpPr txBox="1"/>
          <p:nvPr/>
        </p:nvSpPr>
        <p:spPr>
          <a:xfrm>
            <a:off x="5012741"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4637837"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5–6</a:t>
            </a:r>
            <a:endParaRPr lang="en-US" sz="1100" dirty="0"/>
          </a:p>
        </p:txBody>
      </p:sp>
      <p:sp>
        <p:nvSpPr>
          <p:cNvPr id="25" name="Mapping card"/>
          <p:cNvSpPr/>
          <p:nvPr/>
        </p:nvSpPr>
        <p:spPr>
          <a:xfrm>
            <a:off x="4637837" y="2194560"/>
            <a:ext cx="1261872" cy="1828800"/>
          </a:xfrm>
          <a:prstGeom prst="roundRect">
            <a:avLst>
              <a:gd name="adj" fmla="val 5797"/>
            </a:avLst>
          </a:prstGeom>
          <a:solidFill>
            <a:srgbClr val="F3F5F7"/>
          </a:solidFill>
          <a:ln w="9525">
            <a:solidFill>
              <a:srgbClr val="DFE4E9"/>
            </a:solidFill>
            <a:prstDash val="solid"/>
          </a:ln>
        </p:spPr>
      </p:sp>
      <p:sp>
        <p:nvSpPr>
          <p:cNvPr id="26" name="Text 24"/>
          <p:cNvSpPr txBox="1"/>
          <p:nvPr/>
        </p:nvSpPr>
        <p:spPr>
          <a:xfrm>
            <a:off x="4747565"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Mapping</a:t>
            </a:r>
            <a:endParaRPr lang="en-US" sz="1400" dirty="0"/>
          </a:p>
        </p:txBody>
      </p:sp>
      <p:sp>
        <p:nvSpPr>
          <p:cNvPr id="27" name="Text 25"/>
          <p:cNvSpPr txBox="1"/>
          <p:nvPr/>
        </p:nvSpPr>
        <p:spPr>
          <a:xfrm>
            <a:off x="4747565"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Real LiDAR SLAM; 10/10 goals reached</a:t>
            </a:r>
            <a:endParaRPr lang="en-US" sz="1200" dirty="0"/>
          </a:p>
        </p:txBody>
      </p:sp>
      <p:sp>
        <p:nvSpPr>
          <p:cNvPr id="28" name="Prediction marker"/>
          <p:cNvSpPr/>
          <p:nvPr/>
        </p:nvSpPr>
        <p:spPr>
          <a:xfrm>
            <a:off x="6406286" y="1435608"/>
            <a:ext cx="512064" cy="512064"/>
          </a:xfrm>
          <a:prstGeom prst="ellipse">
            <a:avLst/>
          </a:prstGeom>
          <a:solidFill>
            <a:srgbClr val="0B7D73"/>
          </a:solidFill>
          <a:ln w="25400">
            <a:solidFill>
              <a:srgbClr val="FFFFFF"/>
            </a:solidFill>
            <a:prstDash val="solid"/>
          </a:ln>
        </p:spPr>
      </p:sp>
      <p:sp>
        <p:nvSpPr>
          <p:cNvPr id="29" name="Text 27"/>
          <p:cNvSpPr txBox="1"/>
          <p:nvPr/>
        </p:nvSpPr>
        <p:spPr>
          <a:xfrm>
            <a:off x="6406286"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6031382"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7–8</a:t>
            </a:r>
            <a:endParaRPr lang="en-US" sz="1100" dirty="0"/>
          </a:p>
        </p:txBody>
      </p:sp>
      <p:sp>
        <p:nvSpPr>
          <p:cNvPr id="31" name="Prediction card"/>
          <p:cNvSpPr/>
          <p:nvPr/>
        </p:nvSpPr>
        <p:spPr>
          <a:xfrm>
            <a:off x="6031382" y="2194560"/>
            <a:ext cx="1261872" cy="1828800"/>
          </a:xfrm>
          <a:prstGeom prst="roundRect">
            <a:avLst>
              <a:gd name="adj" fmla="val 5797"/>
            </a:avLst>
          </a:prstGeom>
          <a:solidFill>
            <a:srgbClr val="F3F5F7"/>
          </a:solidFill>
          <a:ln w="9525">
            <a:solidFill>
              <a:srgbClr val="DFE4E9"/>
            </a:solidFill>
            <a:prstDash val="solid"/>
          </a:ln>
        </p:spPr>
      </p:sp>
      <p:sp>
        <p:nvSpPr>
          <p:cNvPr id="32" name="Text 30"/>
          <p:cNvSpPr txBox="1"/>
          <p:nvPr/>
        </p:nvSpPr>
        <p:spPr>
          <a:xfrm>
            <a:off x="6141110"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Prediction</a:t>
            </a:r>
            <a:endParaRPr lang="en-US" sz="1400" dirty="0"/>
          </a:p>
        </p:txBody>
      </p:sp>
      <p:sp>
        <p:nvSpPr>
          <p:cNvPr id="33" name="Text 31"/>
          <p:cNvSpPr txBox="1"/>
          <p:nvPr/>
        </p:nvSpPr>
        <p:spPr>
          <a:xfrm>
            <a:off x="6141110"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Crossing test with a real person</a:t>
            </a:r>
            <a:endParaRPr lang="en-US" sz="1200" dirty="0"/>
          </a:p>
        </p:txBody>
      </p:sp>
      <p:sp>
        <p:nvSpPr>
          <p:cNvPr id="34" name="Field trial marker"/>
          <p:cNvSpPr/>
          <p:nvPr/>
        </p:nvSpPr>
        <p:spPr>
          <a:xfrm>
            <a:off x="7799832" y="1435608"/>
            <a:ext cx="512064" cy="512064"/>
          </a:xfrm>
          <a:prstGeom prst="ellipse">
            <a:avLst/>
          </a:prstGeom>
          <a:solidFill>
            <a:srgbClr val="0B7D73"/>
          </a:solidFill>
          <a:ln w="25400">
            <a:solidFill>
              <a:srgbClr val="FFFFFF"/>
            </a:solidFill>
            <a:prstDash val="solid"/>
          </a:ln>
        </p:spPr>
      </p:sp>
      <p:sp>
        <p:nvSpPr>
          <p:cNvPr id="35" name="Text 33"/>
          <p:cNvSpPr txBox="1"/>
          <p:nvPr/>
        </p:nvSpPr>
        <p:spPr>
          <a:xfrm>
            <a:off x="7799832"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6" name="Text 34"/>
          <p:cNvSpPr txBox="1"/>
          <p:nvPr/>
        </p:nvSpPr>
        <p:spPr>
          <a:xfrm>
            <a:off x="7424928"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9–10</a:t>
            </a:r>
            <a:endParaRPr lang="en-US" sz="1100" dirty="0"/>
          </a:p>
        </p:txBody>
      </p:sp>
      <p:sp>
        <p:nvSpPr>
          <p:cNvPr id="37" name="Field trial card"/>
          <p:cNvSpPr/>
          <p:nvPr/>
        </p:nvSpPr>
        <p:spPr>
          <a:xfrm>
            <a:off x="7424928" y="2194560"/>
            <a:ext cx="1261872" cy="1828800"/>
          </a:xfrm>
          <a:prstGeom prst="roundRect">
            <a:avLst>
              <a:gd name="adj" fmla="val 5797"/>
            </a:avLst>
          </a:prstGeom>
          <a:solidFill>
            <a:srgbClr val="F3F5F7"/>
          </a:solidFill>
          <a:ln w="9525">
            <a:solidFill>
              <a:srgbClr val="DFE4E9"/>
            </a:solidFill>
            <a:prstDash val="solid"/>
          </a:ln>
        </p:spPr>
      </p:sp>
      <p:sp>
        <p:nvSpPr>
          <p:cNvPr id="38" name="Text 36"/>
          <p:cNvSpPr txBox="1"/>
          <p:nvPr/>
        </p:nvSpPr>
        <p:spPr>
          <a:xfrm>
            <a:off x="7534656"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Field trial</a:t>
            </a:r>
            <a:endParaRPr lang="en-US" sz="1400" dirty="0"/>
          </a:p>
        </p:txBody>
      </p:sp>
      <p:sp>
        <p:nvSpPr>
          <p:cNvPr id="39" name="Text 37"/>
          <p:cNvSpPr txBox="1"/>
          <p:nvPr/>
        </p:nvSpPr>
        <p:spPr>
          <a:xfrm>
            <a:off x="7534656"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Supervised runs in a real corridor</a:t>
            </a:r>
            <a:endParaRPr lang="en-US" sz="1200" dirty="0"/>
          </a:p>
        </p:txBody>
      </p:sp>
      <p:sp>
        <p:nvSpPr>
          <p:cNvPr id="40" name="Text 38"/>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400" dirty="0">
                <a:solidFill>
                  <a:schemeClr val="tx1"/>
                </a:solidFill>
              </a:rPr>
              <a:t>About 10 weeks for two people. The navigation software does not change: only the sensor source and the motor output do.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What works today, what needs hardware</a:t>
            </a:r>
            <a:endParaRPr lang="en-US" sz="3000" dirty="0"/>
          </a:p>
        </p:txBody>
      </p:sp>
      <p:sp>
        <p:nvSpPr>
          <p:cNvPr id="3" name="Works today (simulation) card"/>
          <p:cNvSpPr/>
          <p:nvPr/>
        </p:nvSpPr>
        <p:spPr>
          <a:xfrm>
            <a:off x="457200" y="1097280"/>
            <a:ext cx="3977640" cy="2926080"/>
          </a:xfrm>
          <a:prstGeom prst="roundRect">
            <a:avLst>
              <a:gd name="adj" fmla="val 2500"/>
            </a:avLst>
          </a:prstGeom>
          <a:solidFill>
            <a:srgbClr val="E2F2F0"/>
          </a:solidFill>
          <a:ln w="9525">
            <a:solidFill>
              <a:srgbClr val="DFE4E9"/>
            </a:solidFill>
            <a:prstDash val="solid"/>
          </a:ln>
        </p:spPr>
      </p:sp>
      <p:sp>
        <p:nvSpPr>
          <p:cNvPr id="4" name="Works today (simulation) circle"/>
          <p:cNvSpPr/>
          <p:nvPr/>
        </p:nvSpPr>
        <p:spPr>
          <a:xfrm>
            <a:off x="685800" y="1280160"/>
            <a:ext cx="502920" cy="502920"/>
          </a:xfrm>
          <a:prstGeom prst="ellipse">
            <a:avLst/>
          </a:prstGeom>
          <a:solidFill>
            <a:srgbClr val="0B7D73"/>
          </a:solidFill>
          <a:ln/>
        </p:spPr>
      </p:sp>
      <p:pic>
        <p:nvPicPr>
          <p:cNvPr id="5" name="Works today (simulation) icon" descr="Works today (simulation)">    </p:cNvPr>
          <p:cNvPicPr>
            <a:picLocks noChangeAspect="1"/>
          </p:cNvPicPr>
          <p:nvPr/>
        </p:nvPicPr>
        <p:blipFill>
          <a:blip r:embed="rId1"/>
          <a:stretch>
            <a:fillRect/>
          </a:stretch>
        </p:blipFill>
        <p:spPr>
          <a:xfrm>
            <a:off x="806501" y="1400861"/>
            <a:ext cx="261518" cy="261518"/>
          </a:xfrm>
          <a:prstGeom prst="rect">
            <a:avLst/>
          </a:prstGeom>
        </p:spPr>
      </p:pic>
      <p:sp>
        <p:nvSpPr>
          <p:cNvPr id="6" name="Text 3"/>
          <p:cNvSpPr txBox="1"/>
          <p:nvPr/>
        </p:nvSpPr>
        <p:spPr>
          <a:xfrm>
            <a:off x="1325880" y="1280160"/>
            <a:ext cx="2926080" cy="502920"/>
          </a:xfrm>
          <a:prstGeom prst="rect">
            <a:avLst/>
          </a:prstGeom>
          <a:noFill/>
          <a:ln/>
        </p:spPr>
        <p:txBody>
          <a:bodyPr wrap="square" lIns="0" tIns="0" rIns="0" bIns="0" rtlCol="0" anchor="ctr"/>
          <a:lstStyle/>
          <a:p>
            <a:pPr indent="0" marL="0">
              <a:buNone/>
            </a:pPr>
            <a:r>
              <a:rPr lang="en-US" sz="1600" b="1" dirty="0">
                <a:solidFill>
                  <a:schemeClr val="tx1"/>
                </a:solidFill>
              </a:rPr>
              <a:t>Works today (simulation)</a:t>
            </a:r>
            <a:endParaRPr lang="en-US" sz="1600" dirty="0"/>
          </a:p>
        </p:txBody>
      </p:sp>
      <p:sp>
        <p:nvSpPr>
          <p:cNvPr id="7" name="Text 4"/>
          <p:cNvSpPr txBox="1"/>
          <p:nvPr/>
        </p:nvSpPr>
        <p:spPr>
          <a:xfrm>
            <a:off x="731520" y="1965960"/>
            <a:ext cx="352044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Predictive navigation + evaluation</a:t>
            </a:r>
            <a:endParaRPr lang="en-US" sz="1400" dirty="0"/>
          </a:p>
          <a:p>
            <a:pPr marL="342900" indent="-342900">
              <a:spcAft>
                <a:spcPts val="800"/>
              </a:spcAft>
              <a:buSzPct val="100000"/>
              <a:buChar char="•"/>
            </a:pPr>
            <a:r>
              <a:rPr lang="en-US" sz="1400" dirty="0">
                <a:solidFill>
                  <a:schemeClr val="tx1"/>
                </a:solidFill>
              </a:rPr>
              <a:t>SLAM, exploration, ROS map files</a:t>
            </a:r>
            <a:endParaRPr lang="en-US" sz="1400" dirty="0"/>
          </a:p>
          <a:p>
            <a:pPr marL="342900" indent="-342900">
              <a:spcAft>
                <a:spcPts val="800"/>
              </a:spcAft>
              <a:buSzPct val="100000"/>
              <a:buChar char="•"/>
            </a:pPr>
            <a:r>
              <a:rPr lang="en-US" sz="1400" dirty="0">
                <a:solidFill>
                  <a:schemeClr val="tx1"/>
                </a:solidFill>
              </a:rPr>
              <a:t>English / Hindi / Hinglish voice</a:t>
            </a:r>
            <a:endParaRPr lang="en-US" sz="1400" dirty="0"/>
          </a:p>
          <a:p>
            <a:pPr marL="342900" indent="-342900">
              <a:spcAft>
                <a:spcPts val="800"/>
              </a:spcAft>
              <a:buSzPct val="100000"/>
              <a:buChar char="•"/>
            </a:pPr>
            <a:r>
              <a:rPr lang="en-US" sz="1400" dirty="0">
                <a:solidFill>
                  <a:schemeClr val="tx1"/>
                </a:solidFill>
              </a:rPr>
              <a:t>Delivery workflow and dashboard</a:t>
            </a:r>
            <a:endParaRPr lang="en-US" sz="1400" dirty="0"/>
          </a:p>
          <a:p>
            <a:pPr marL="342900" indent="-342900">
              <a:spcAft>
                <a:spcPts val="800"/>
              </a:spcAft>
              <a:buSzPct val="100000"/>
              <a:buChar char="•"/>
            </a:pPr>
            <a:r>
              <a:rPr lang="en-US" sz="1400" dirty="0">
                <a:solidFill>
                  <a:schemeClr val="tx1"/>
                </a:solidFill>
              </a:rPr>
              <a:t>Arduino firmware running in Wokwi</a:t>
            </a:r>
            <a:endParaRPr lang="en-US" sz="1400" dirty="0"/>
          </a:p>
        </p:txBody>
      </p:sp>
      <p:sp>
        <p:nvSpPr>
          <p:cNvPr id="8" name="Needs the real robot card"/>
          <p:cNvSpPr/>
          <p:nvPr/>
        </p:nvSpPr>
        <p:spPr>
          <a:xfrm>
            <a:off x="4709160" y="1097280"/>
            <a:ext cx="3977640" cy="2926080"/>
          </a:xfrm>
          <a:prstGeom prst="roundRect">
            <a:avLst>
              <a:gd name="adj" fmla="val 2500"/>
            </a:avLst>
          </a:prstGeom>
          <a:solidFill>
            <a:srgbClr val="FDF1DC"/>
          </a:solidFill>
          <a:ln w="9525">
            <a:solidFill>
              <a:srgbClr val="DFE4E9"/>
            </a:solidFill>
            <a:prstDash val="solid"/>
          </a:ln>
        </p:spPr>
      </p:sp>
      <p:sp>
        <p:nvSpPr>
          <p:cNvPr id="9" name="Needs the real robot circle"/>
          <p:cNvSpPr/>
          <p:nvPr/>
        </p:nvSpPr>
        <p:spPr>
          <a:xfrm>
            <a:off x="4937760" y="1280160"/>
            <a:ext cx="502920" cy="502920"/>
          </a:xfrm>
          <a:prstGeom prst="ellipse">
            <a:avLst/>
          </a:prstGeom>
          <a:solidFill>
            <a:srgbClr val="D9A441"/>
          </a:solidFill>
          <a:ln/>
        </p:spPr>
      </p:sp>
      <p:pic>
        <p:nvPicPr>
          <p:cNvPr id="10" name="Needs the real robot icon" descr="Needs the real robot">    </p:cNvPr>
          <p:cNvPicPr>
            <a:picLocks noChangeAspect="1"/>
          </p:cNvPicPr>
          <p:nvPr/>
        </p:nvPicPr>
        <p:blipFill>
          <a:blip r:embed="rId2"/>
          <a:stretch>
            <a:fillRect/>
          </a:stretch>
        </p:blipFill>
        <p:spPr>
          <a:xfrm>
            <a:off x="5058461" y="1400861"/>
            <a:ext cx="261518" cy="261518"/>
          </a:xfrm>
          <a:prstGeom prst="rect">
            <a:avLst/>
          </a:prstGeom>
        </p:spPr>
      </p:pic>
      <p:sp>
        <p:nvSpPr>
          <p:cNvPr id="11" name="Text 7"/>
          <p:cNvSpPr txBox="1"/>
          <p:nvPr/>
        </p:nvSpPr>
        <p:spPr>
          <a:xfrm>
            <a:off x="5577840" y="1280160"/>
            <a:ext cx="2926080" cy="502920"/>
          </a:xfrm>
          <a:prstGeom prst="rect">
            <a:avLst/>
          </a:prstGeom>
          <a:noFill/>
          <a:ln/>
        </p:spPr>
        <p:txBody>
          <a:bodyPr wrap="square" lIns="0" tIns="0" rIns="0" bIns="0" rtlCol="0" anchor="ctr"/>
          <a:lstStyle/>
          <a:p>
            <a:pPr indent="0" marL="0">
              <a:buNone/>
            </a:pPr>
            <a:r>
              <a:rPr lang="en-US" sz="1600" b="1" dirty="0">
                <a:solidFill>
                  <a:schemeClr val="tx1"/>
                </a:solidFill>
              </a:rPr>
              <a:t>Needs the real robot</a:t>
            </a:r>
            <a:endParaRPr lang="en-US" sz="1600" dirty="0"/>
          </a:p>
        </p:txBody>
      </p:sp>
      <p:sp>
        <p:nvSpPr>
          <p:cNvPr id="12" name="Text 8"/>
          <p:cNvSpPr txBox="1"/>
          <p:nvPr/>
        </p:nvSpPr>
        <p:spPr>
          <a:xfrm>
            <a:off x="4983480" y="1965960"/>
            <a:ext cx="352044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Motor tuning on real gearmotors</a:t>
            </a:r>
            <a:endParaRPr lang="en-US" sz="1400" dirty="0"/>
          </a:p>
          <a:p>
            <a:pPr marL="342900" indent="-342900">
              <a:spcAft>
                <a:spcPts val="800"/>
              </a:spcAft>
              <a:buSzPct val="100000"/>
              <a:buChar char="•"/>
            </a:pPr>
            <a:r>
              <a:rPr lang="en-US" sz="1400" dirty="0">
                <a:solidFill>
                  <a:schemeClr val="tx1"/>
                </a:solidFill>
              </a:rPr>
              <a:t>Real sensor noise: glass, light, echoes</a:t>
            </a:r>
            <a:endParaRPr lang="en-US" sz="1400" dirty="0"/>
          </a:p>
          <a:p>
            <a:pPr marL="342900" indent="-342900">
              <a:spcAft>
                <a:spcPts val="800"/>
              </a:spcAft>
              <a:buSzPct val="100000"/>
              <a:buChar char="•"/>
            </a:pPr>
            <a:r>
              <a:rPr lang="en-US" sz="1400" dirty="0">
                <a:solidFill>
                  <a:schemeClr val="tx1"/>
                </a:solidFill>
              </a:rPr>
              <a:t>Real pedestrian data for learned prediction</a:t>
            </a:r>
            <a:endParaRPr lang="en-US" sz="1400" dirty="0"/>
          </a:p>
          <a:p>
            <a:pPr marL="342900" indent="-342900">
              <a:spcAft>
                <a:spcPts val="800"/>
              </a:spcAft>
              <a:buSzPct val="100000"/>
              <a:buChar char="•"/>
            </a:pPr>
            <a:r>
              <a:rPr lang="en-US" sz="1400" dirty="0">
                <a:solidFill>
                  <a:schemeClr val="tx1"/>
                </a:solidFill>
              </a:rPr>
              <a:t>Field trials in a real building</a:t>
            </a:r>
            <a:endParaRPr lang="en-US" sz="1400" dirty="0"/>
          </a:p>
          <a:p>
            <a:pPr marL="342900" indent="-342900">
              <a:spcAft>
                <a:spcPts val="800"/>
              </a:spcAft>
              <a:buSzPct val="100000"/>
              <a:buChar char="•"/>
            </a:pPr>
            <a:r>
              <a:rPr lang="en-US" sz="1400" dirty="0">
                <a:solidFill>
                  <a:schemeClr val="tx1"/>
                </a:solidFill>
              </a:rPr>
              <a:t>Safety certification (ISO 3691-4)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822960"/>
            <a:ext cx="73152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VISTARA-X  ·  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Thank you</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Beyond seeing. Into understanding.</a:t>
            </a:r>
            <a:endParaRPr lang="en-US" sz="2000" dirty="0"/>
          </a:p>
        </p:txBody>
      </p:sp>
      <p:sp>
        <p:nvSpPr>
          <p:cNvPr id="5" name="GitHub circle"/>
          <p:cNvSpPr/>
          <p:nvPr/>
        </p:nvSpPr>
        <p:spPr>
          <a:xfrm>
            <a:off x="548640" y="3246120"/>
            <a:ext cx="502920" cy="502920"/>
          </a:xfrm>
          <a:prstGeom prst="ellipse">
            <a:avLst/>
          </a:prstGeom>
          <a:solidFill>
            <a:srgbClr val="0B7D73"/>
          </a:solidFill>
          <a:ln/>
        </p:spPr>
      </p:sp>
      <p:pic>
        <p:nvPicPr>
          <p:cNvPr id="6" name="GitHub icon" descr="GitHub">    </p:cNvPr>
          <p:cNvPicPr>
            <a:picLocks noChangeAspect="1"/>
          </p:cNvPicPr>
          <p:nvPr/>
        </p:nvPicPr>
        <p:blipFill>
          <a:blip r:embed="rId1"/>
          <a:stretch>
            <a:fillRect/>
          </a:stretch>
        </p:blipFill>
        <p:spPr>
          <a:xfrm>
            <a:off x="669341" y="3366821"/>
            <a:ext cx="261518" cy="261518"/>
          </a:xfrm>
          <a:prstGeom prst="rect">
            <a:avLst/>
          </a:prstGeom>
        </p:spPr>
      </p:pic>
      <p:sp>
        <p:nvSpPr>
          <p:cNvPr id="7" name="Text 4"/>
          <p:cNvSpPr txBox="1"/>
          <p:nvPr/>
        </p:nvSpPr>
        <p:spPr>
          <a:xfrm>
            <a:off x="1188720" y="3246120"/>
            <a:ext cx="5486400" cy="502920"/>
          </a:xfrm>
          <a:prstGeom prst="rect">
            <a:avLst/>
          </a:prstGeom>
          <a:noFill/>
          <a:ln/>
        </p:spPr>
        <p:txBody>
          <a:bodyPr wrap="square" lIns="0" tIns="0" rIns="0" bIns="0" rtlCol="0" anchor="ctr"/>
          <a:lstStyle/>
          <a:p>
            <a:pPr indent="0" marL="0">
              <a:buNone/>
            </a:pPr>
            <a:r>
              <a:rPr lang="en-US" sz="1600" b="1"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github.com/RiteshKumar2e/VISTARA-X</a:t>
            </a:r>
            <a:endParaRPr lang="en-US" sz="1600" dirty="0"/>
          </a:p>
        </p:txBody>
      </p:sp>
      <p:sp>
        <p:nvSpPr>
          <p:cNvPr id="8" name="Text 5"/>
          <p:cNvSpPr txBox="1"/>
          <p:nvPr/>
        </p:nvSpPr>
        <p:spPr>
          <a:xfrm>
            <a:off x="1188720" y="3749040"/>
            <a:ext cx="6400800" cy="320040"/>
          </a:xfrm>
          <a:prstGeom prst="rect">
            <a:avLst/>
          </a:prstGeom>
          <a:noFill/>
          <a:ln/>
        </p:spPr>
        <p:txBody>
          <a:bodyPr wrap="square" lIns="0" tIns="0" rIns="0" bIns="0" rtlCol="0" anchor="t"/>
          <a:lstStyle/>
          <a:p>
            <a:pPr indent="0" marL="0">
              <a:buNone/>
            </a:pPr>
            <a:r>
              <a:rPr lang="en-US" sz="1300" dirty="0">
                <a:solidFill>
                  <a:schemeClr val="bg2"/>
                </a:solidFill>
              </a:rPr>
              <a:t>Code, evaluation results, hardware design, circuit and Wokwi simulation</a:t>
            </a:r>
            <a:endParaRPr lang="en-US" sz="1300" dirty="0"/>
          </a:p>
        </p:txBody>
      </p:sp>
    </p:spTree>
  </p:cSld>
  <p:clrMapOvr>
    <a:masterClrMapping/>
  </p:clrMapOvr>
</p:sld>
</file>

<file path=ppt/theme/theme1.xml><?xml version="1.0" encoding="utf-8"?>
<a:theme xmlns:a="http://schemas.openxmlformats.org/drawingml/2006/main" name="VISTARA-X">
  <a:themeElements>
    <a:clrScheme name="VISTARA-X">
      <a:dk1>
        <a:srgbClr val="101820"/>
      </a:dk1>
      <a:lt1>
        <a:srgbClr val="FFFFFF"/>
      </a:lt1>
      <a:dk2>
        <a:srgbClr val="0D1114"/>
      </a:dk2>
      <a:lt2>
        <a:srgbClr val="F3F5F7"/>
      </a:lt2>
      <a:accent1>
        <a:srgbClr val="0B7D73"/>
      </a:accent1>
      <a:accent2>
        <a:srgbClr val="D9A441"/>
      </a:accent2>
      <a:accent3>
        <a:srgbClr val="C0352A"/>
      </a:accent3>
      <a:accent4>
        <a:srgbClr val="7C5CE0"/>
      </a:accent4>
      <a:accent5>
        <a:srgbClr val="4B5866"/>
      </a:accent5>
      <a:accent6>
        <a:srgbClr val="2FD6C6"/>
      </a:accent6>
      <a:hlink>
        <a:srgbClr val="0B7D73"/>
      </a:hlink>
      <a:folHlink>
        <a:srgbClr val="7C5CE0"/>
      </a:folHlink>
    </a:clrScheme>
    <a:fontScheme name="VISTARA-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VISTARA-X: Predictive Autonomous Navigation</dc:title>
  <dc:subject>PptxGenJS Presentation</dc:subject>
  <dc:creator>Team Hack01</dc:creator>
  <cp:lastModifiedBy>Team Hack01</cp:lastModifiedBy>
  <cp:revision>1</cp:revision>
  <dcterms:created xsi:type="dcterms:W3CDTF">2026-10-23T17:56:31Z</dcterms:created>
  <dcterms:modified xsi:type="dcterms:W3CDTF">2026-10-23T17:56:31Z</dcterms:modified>
</cp:coreProperties>
</file>