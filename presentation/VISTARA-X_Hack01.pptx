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B7B6261-D540-04BA-ABBF-9197E48FCC4D}">
          <p14:sldIdLst>
            <p14:sldId id="256"/>
            <p14:sldId id="257"/>
          </p14:sldIdLst>
        </p14:section>
        <p14:section name="How it works" id="{7CAB2AAF-59CD-6C7E-D1F4-CB1C4FE92916}">
          <p14:sldIdLst>
            <p14:sldId id="258"/>
            <p14:sldId id="259"/>
            <p14:sldId id="260"/>
            <p14:sldId id="261"/>
          </p14:sldIdLst>
        </p14:section>
        <p14:section name="Results" id="{7F047774-47B8-3603-5B34-BF66E88EB8F3}">
          <p14:sldIdLst>
            <p14:sldId id="262"/>
          </p14:sldIdLst>
        </p14:section>
        <p14:section name="Hardware" id="{35D3CE76-C0CB-67FE-4C96-D4C034C25191}">
          <p14:sldIdLst>
            <p14:sldId id="263"/>
            <p14:sldId id="264"/>
            <p14:sldId id="265"/>
            <p14:sldId id="266"/>
            <p14:sldId id="267"/>
            <p14:sldId id="268"/>
          </p14:sldIdLst>
        </p14:section>
        <p14:section name="Close" id="{EFE58305-E47F-DAB2-8B99-7EA6F62578F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Predictive (ours)</c:v>
                </c:pt>
              </c:strCache>
            </c:strRef>
          </c:tx>
          <c:spPr>
            <a:solidFill>
              <a:srgbClr val="0F8F83"/>
            </a:solidFill>
            <a:effectLst/>
          </c:spPr>
          <c:invertIfNegative val="0"/>
          <c:dLbls>
            <c:numFmt formatCode="#,##0" sourceLinked="0"/>
            <c:spPr>
              <a:noFill/>
              <a:ln>
                <a:noFill/>
              </a:ln>
              <a:effectLst/>
            </c:spPr>
            <c:txPr>
              <a:bodyPr/>
              <a:lstStyle/>
              <a:p>
                <a:pPr>
                  <a:defRPr sz="1200" b="0" i="0" u="none" strike="noStrike">
                    <a:solidFill>
                      <a:srgbClr val="101820"/>
                    </a:solidFill>
                    <a:latin typeface="+mn-lt"/>
                  </a:defRPr>
                </a:pPr>
                <a:endParaRPr lang="en-A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Goals reached</c:v>
                </c:pt>
                <c:pt idx="1">
                  <c:v>Collisions</c:v>
                </c:pt>
                <c:pt idx="2">
                  <c:v>Near misses</c:v>
                </c:pt>
              </c:strCache>
            </c:strRef>
          </c:cat>
          <c:val>
            <c:numRef>
              <c:f>Sheet1!$B$2:$B$4</c:f>
              <c:numCache>
                <c:formatCode>General</c:formatCode>
                <c:ptCount val="3"/>
                <c:pt idx="0">
                  <c:v>9</c:v>
                </c:pt>
                <c:pt idx="1">
                  <c:v>0</c:v>
                </c:pt>
                <c:pt idx="2">
                  <c:v>0</c:v>
                </c:pt>
              </c:numCache>
            </c:numRef>
          </c:val>
          <c:extLst>
            <c:ext xmlns:c16="http://schemas.microsoft.com/office/drawing/2014/chart" uri="{C3380CC4-5D6E-409C-BE32-E72D297353CC}">
              <c16:uniqueId val="{00000000-F380-455F-BD43-D1C1CA31D067}"/>
            </c:ext>
          </c:extLst>
        </c:ser>
        <c:ser>
          <c:idx val="1"/>
          <c:order val="1"/>
          <c:tx>
            <c:strRef>
              <c:f>Sheet1!$C$1</c:f>
              <c:strCache>
                <c:ptCount val="1"/>
                <c:pt idx="0">
                  <c:v>Reactive baseline</c:v>
                </c:pt>
              </c:strCache>
            </c:strRef>
          </c:tx>
          <c:spPr>
            <a:solidFill>
              <a:srgbClr val="7C5CE0"/>
            </a:solidFill>
            <a:effectLst/>
          </c:spPr>
          <c:invertIfNegative val="0"/>
          <c:dLbls>
            <c:numFmt formatCode="#,##0" sourceLinked="0"/>
            <c:spPr>
              <a:noFill/>
              <a:ln>
                <a:noFill/>
              </a:ln>
              <a:effectLst/>
            </c:spPr>
            <c:txPr>
              <a:bodyPr/>
              <a:lstStyle/>
              <a:p>
                <a:pPr>
                  <a:defRPr sz="1200" b="0" i="0" u="none" strike="noStrike">
                    <a:solidFill>
                      <a:srgbClr val="101820"/>
                    </a:solidFill>
                    <a:latin typeface="+mn-lt"/>
                  </a:defRPr>
                </a:pPr>
                <a:endParaRPr lang="en-A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Goals reached</c:v>
                </c:pt>
                <c:pt idx="1">
                  <c:v>Collisions</c:v>
                </c:pt>
                <c:pt idx="2">
                  <c:v>Near misses</c:v>
                </c:pt>
              </c:strCache>
            </c:strRef>
          </c:cat>
          <c:val>
            <c:numRef>
              <c:f>Sheet1!$C$2:$C$4</c:f>
              <c:numCache>
                <c:formatCode>General</c:formatCode>
                <c:ptCount val="3"/>
                <c:pt idx="0">
                  <c:v>7</c:v>
                </c:pt>
                <c:pt idx="1">
                  <c:v>2</c:v>
                </c:pt>
                <c:pt idx="2">
                  <c:v>3</c:v>
                </c:pt>
              </c:numCache>
            </c:numRef>
          </c:val>
          <c:extLst>
            <c:ext xmlns:c16="http://schemas.microsoft.com/office/drawing/2014/chart" uri="{C3380CC4-5D6E-409C-BE32-E72D297353CC}">
              <c16:uniqueId val="{00000001-F380-455F-BD43-D1C1CA31D06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866"/>
                </a:solidFill>
                <a:latin typeface="+mn-lt"/>
              </a:defRPr>
            </a:pPr>
            <a:endParaRPr lang="en-US"/>
          </a:p>
        </c:txPr>
        <c:crossAx val="2094734552"/>
        <c:crosses val="autoZero"/>
        <c:auto val="1"/>
        <c:lblAlgn val="ctr"/>
        <c:lblOffset val="100"/>
        <c:noMultiLvlLbl val="1"/>
      </c:catAx>
      <c:valAx>
        <c:axId val="2094734552"/>
        <c:scaling>
          <c:orientation val="minMax"/>
          <c:max val="1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B58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4B5866"/>
                </a:solidFill>
                <a:latin typeface="+mn-lt"/>
              </a:defRPr>
            </a:pPr>
            <a:r>
              <a:rPr lang="en-AS" sz="1200" b="0" i="0" u="none" strike="noStrike">
                <a:solidFill>
                  <a:srgbClr val="4B5866"/>
                </a:solidFill>
                <a:latin typeface="+mn-lt"/>
              </a:rPr>
              <a:t>₹ </a:t>
            </a:r>
            <a:r>
              <a:rPr lang="en-US" sz="1200" b="0" i="0" u="none" strike="noStrike">
                <a:solidFill>
                  <a:srgbClr val="4B5866"/>
                </a:solidFill>
                <a:latin typeface="+mn-lt"/>
              </a:rPr>
              <a:t>thousand</a:t>
            </a:r>
          </a:p>
        </c:rich>
      </c:tx>
      <c:overlay val="0"/>
    </c:title>
    <c:autoTitleDeleted val="0"/>
    <c:plotArea>
      <c:layout/>
      <c:doughnutChart>
        <c:varyColors val="1"/>
        <c:ser>
          <c:idx val="0"/>
          <c:order val="0"/>
          <c:tx>
            <c:strRef>
              <c:f>Sheet1!$B$1</c:f>
              <c:strCache>
                <c:ptCount val="1"/>
                <c:pt idx="0">
                  <c:v>Cost (₹ thousand)</c:v>
                </c:pt>
              </c:strCache>
            </c:strRef>
          </c:tx>
          <c:spPr>
            <a:solidFill>
              <a:schemeClr val="accent1"/>
            </a:solidFill>
            <a:ln w="9525" cap="flat">
              <a:solidFill>
                <a:srgbClr val="F9F9F9"/>
              </a:solidFill>
              <a:prstDash val="solid"/>
              <a:round/>
            </a:ln>
            <a:effectLst/>
          </c:spPr>
          <c:dPt>
            <c:idx val="0"/>
            <c:bubble3D val="0"/>
            <c:spPr>
              <a:solidFill>
                <a:srgbClr val="0B7D73"/>
              </a:solidFill>
              <a:effectLst/>
            </c:spPr>
            <c:extLst>
              <c:ext xmlns:c16="http://schemas.microsoft.com/office/drawing/2014/chart" uri="{C3380CC4-5D6E-409C-BE32-E72D297353CC}">
                <c16:uniqueId val="{00000001-E2ED-4218-8DC5-D8E50F42D6EA}"/>
              </c:ext>
            </c:extLst>
          </c:dPt>
          <c:dPt>
            <c:idx val="1"/>
            <c:bubble3D val="0"/>
            <c:spPr>
              <a:solidFill>
                <a:srgbClr val="101820"/>
              </a:solidFill>
              <a:effectLst/>
            </c:spPr>
            <c:extLst>
              <c:ext xmlns:c16="http://schemas.microsoft.com/office/drawing/2014/chart" uri="{C3380CC4-5D6E-409C-BE32-E72D297353CC}">
                <c16:uniqueId val="{00000003-E2ED-4218-8DC5-D8E50F42D6EA}"/>
              </c:ext>
            </c:extLst>
          </c:dPt>
          <c:dPt>
            <c:idx val="2"/>
            <c:bubble3D val="0"/>
            <c:spPr>
              <a:solidFill>
                <a:srgbClr val="D9A441"/>
              </a:solidFill>
              <a:effectLst/>
            </c:spPr>
            <c:extLst>
              <c:ext xmlns:c16="http://schemas.microsoft.com/office/drawing/2014/chart" uri="{C3380CC4-5D6E-409C-BE32-E72D297353CC}">
                <c16:uniqueId val="{00000005-E2ED-4218-8DC5-D8E50F42D6EA}"/>
              </c:ext>
            </c:extLst>
          </c:dPt>
          <c:dPt>
            <c:idx val="3"/>
            <c:bubble3D val="0"/>
            <c:spPr>
              <a:solidFill>
                <a:srgbClr val="8FA3B0"/>
              </a:solidFill>
              <a:effectLst/>
            </c:spPr>
            <c:extLst>
              <c:ext xmlns:c16="http://schemas.microsoft.com/office/drawing/2014/chart" uri="{C3380CC4-5D6E-409C-BE32-E72D297353CC}">
                <c16:uniqueId val="{00000007-E2ED-4218-8DC5-D8E50F42D6EA}"/>
              </c:ext>
            </c:extLst>
          </c:dPt>
          <c:dPt>
            <c:idx val="4"/>
            <c:bubble3D val="0"/>
            <c:spPr>
              <a:solidFill>
                <a:srgbClr val="C0352A"/>
              </a:solidFill>
              <a:effectLst/>
            </c:spPr>
            <c:extLst>
              <c:ext xmlns:c16="http://schemas.microsoft.com/office/drawing/2014/chart" uri="{C3380CC4-5D6E-409C-BE32-E72D297353CC}">
                <c16:uniqueId val="{00000009-E2ED-4218-8DC5-D8E50F42D6EA}"/>
              </c:ext>
            </c:extLst>
          </c:dPt>
          <c:dPt>
            <c:idx val="5"/>
            <c:bubble3D val="0"/>
            <c:spPr>
              <a:solidFill>
                <a:srgbClr val="7C5CE0"/>
              </a:solidFill>
              <a:effectLst/>
            </c:spPr>
            <c:extLst>
              <c:ext xmlns:c16="http://schemas.microsoft.com/office/drawing/2014/chart" uri="{C3380CC4-5D6E-409C-BE32-E72D297353CC}">
                <c16:uniqueId val="{0000000B-E2ED-4218-8DC5-D8E50F42D6EA}"/>
              </c:ext>
            </c:extLst>
          </c:dPt>
          <c:dLbls>
            <c:dLbl>
              <c:idx val="0"/>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2ED-4218-8DC5-D8E50F42D6EA}"/>
                </c:ext>
              </c:extLst>
            </c:dLbl>
            <c:dLbl>
              <c:idx val="1"/>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2ED-4218-8DC5-D8E50F42D6EA}"/>
                </c:ext>
              </c:extLst>
            </c:dLbl>
            <c:dLbl>
              <c:idx val="2"/>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2ED-4218-8DC5-D8E50F42D6EA}"/>
                </c:ext>
              </c:extLst>
            </c:dLbl>
            <c:dLbl>
              <c:idx val="3"/>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2ED-4218-8DC5-D8E50F42D6EA}"/>
                </c:ext>
              </c:extLst>
            </c:dLbl>
            <c:dLbl>
              <c:idx val="4"/>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E2ED-4218-8DC5-D8E50F42D6EA}"/>
                </c:ext>
              </c:extLst>
            </c:dLbl>
            <c:dLbl>
              <c:idx val="5"/>
              <c:numFmt formatCode="0.0" sourceLinked="0"/>
              <c:spPr/>
              <c:txPr>
                <a:bodyPr/>
                <a:lstStyle/>
                <a:p>
                  <a:pPr>
                    <a:defRPr sz="1100" b="0" i="0" u="none" strike="noStrike">
                      <a:solidFill>
                        <a:srgbClr val="FFFFFF"/>
                      </a:solidFill>
                      <a:latin typeface="+mn-lt"/>
                    </a:defRPr>
                  </a:pPr>
                  <a:endParaRPr lang="en-A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E2ED-4218-8DC5-D8E50F42D6EA}"/>
                </c:ext>
              </c:extLst>
            </c:dLbl>
            <c:numFmt formatCode="0.0" sourceLinked="0"/>
            <c:spPr>
              <a:noFill/>
              <a:ln>
                <a:noFill/>
              </a:ln>
              <a:effectLst/>
            </c:spPr>
            <c:txPr>
              <a:bodyPr/>
              <a:lstStyle/>
              <a:p>
                <a:pPr>
                  <a:defRPr sz="1800" b="0" i="0" u="none" strike="noStrike">
                    <a:solidFill>
                      <a:srgbClr val="000000"/>
                    </a:solidFill>
                    <a:latin typeface="Arial"/>
                  </a:defRPr>
                </a:pPr>
                <a:endParaRPr lang="en-A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Sheet1!$A$2:$A$7</c:f>
              <c:strCache>
                <c:ptCount val="6"/>
                <c:pt idx="0">
                  <c:v>LiDAR</c:v>
                </c:pt>
                <c:pt idx="1">
                  <c:v>Drive + chassis</c:v>
                </c:pt>
                <c:pt idx="2">
                  <c:v>Electronics</c:v>
                </c:pt>
                <c:pt idx="3">
                  <c:v>Cables, misc.</c:v>
                </c:pt>
                <c:pt idx="4">
                  <c:v>Battery</c:v>
                </c:pt>
                <c:pt idx="5">
                  <c:v>Camera</c:v>
                </c:pt>
              </c:strCache>
            </c:strRef>
          </c:cat>
          <c:val>
            <c:numRef>
              <c:f>Sheet1!$B$2:$B$7</c:f>
              <c:numCache>
                <c:formatCode>General</c:formatCode>
                <c:ptCount val="6"/>
                <c:pt idx="0">
                  <c:v>8.5</c:v>
                </c:pt>
                <c:pt idx="1">
                  <c:v>5.0999999999999996</c:v>
                </c:pt>
                <c:pt idx="2">
                  <c:v>2.1</c:v>
                </c:pt>
                <c:pt idx="3">
                  <c:v>1.8</c:v>
                </c:pt>
                <c:pt idx="4">
                  <c:v>1.8</c:v>
                </c:pt>
                <c:pt idx="5">
                  <c:v>1.6</c:v>
                </c:pt>
              </c:numCache>
            </c:numRef>
          </c:val>
          <c:extLst>
            <c:ext xmlns:c16="http://schemas.microsoft.com/office/drawing/2014/chart" uri="{C3380CC4-5D6E-409C-BE32-E72D297353CC}">
              <c16:uniqueId val="{0000000C-E2ED-4218-8DC5-D8E50F42D6EA}"/>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r"/>
      <c:overlay val="0"/>
      <c:txPr>
        <a:bodyPr/>
        <a:lstStyle/>
        <a:p>
          <a:pPr>
            <a:defRPr sz="1100">
              <a:solidFill>
                <a:srgbClr val="4B58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2931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Team Hack01. VISTARA-X is an autonomous navigation system for indoor robots that share corridors with people, like hospital or warehouse delivery robots. The picture is a screenshot of our own 3D digital twin.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robots brake only for what is directly in front of them. In a hospital corridor people walk across and do not give way, and stopping does not stop someone walking into you. In our test the reactive robot was hit twice in nine runs; ours predicted the person's path and slowed early, with zero collisions.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from the user's side. A nurse says, in Hinglish, take the medicine from the pharmacy to Ward B. The robot confirms, plans a route on its map, drives there while predicting the people around it, and the recipient enters a PIN as proof of delivery. The Arduino safety layer is always on underneath.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runs our Python backend: speech commands, YOLO perception, LiDAR tracking and prediction, SLAM, A-star planning and the delivery missions. It sends a speed command twenty times a second to an Arduino Mega, which keeps the robot safe on its own: if the laptop freezes it stops in half a second, and the E-stop cuts motor power in hardware.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from our dashboard during the demo. The pipeline strip lights up only from live state. The boxes show where person T1 will be from half a second to three seconds ahead, with growing uncertainty. The radar shows the robot, its route and the predicted path, and the decision timeline logs every action with its reason.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judge demo running in the browser. A person crosses without giving way and a cart turns. Each step on the right is ticked only from real telemetry: the pedestrian is tracked, its path predicted, the robot slows to fifty percent, re-routes and reaches the goal with zero collisions.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evaluation script runs the same nine crossing variants with prediction on and off. Predictive: nine of nine goals, zero collisions, zero near misses. Reactive: two collisions and three near misses. The cost is about one and a half seconds per mission. These are simulation results.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electronics on the left are exactly the parts in our Wokwi simulation: an Arduino Mega, six ultrasonic sensors, an IMU, the emergency stop, a buzzer and the battery sense. The laptop we already own runs the backend. The rest is off the shelf: a 360-degree LiDAR, a webcam, two encoder gearmotors with a driver, a battery and the chassis, about twenty-one thousand rupees in total.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Sense: ultrasonic sensors, encoders, IMU, E-stop and battery level go into the Arduino. Think: the laptop sends a speed command and the Arduino checks four safety rules every twenty milliseconds. Act: it drives the motors, the buzzer and the status LED. The power path is separate, so the E-stop cuts only the wheels.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connection with its pin: motor driver on 5 to 8, wheel encoders on interrupt pins 2 and 3, the six ultrasonic sensors on 30 to 41, the IMU on I2C, battery on A0, E-stop on 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in Wokwi with the same pin map as the real robot. The robot's front points right, and each ultrasonic sensor sits on the side it faces. The motor LEDs show the PWM; moving a sensor's distance slows or stops the robot, the E-stop cuts everything at once and stays latched, and the battery knob triggers the low-battery rules.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laptop does the computing, the robot costs about twenty-one thousand rupees. The LiDAR is the biggest single part. A depth camera is an optional upgrade. It runs about two hours per charge, and the software already sends it back to the dock when the battery is low.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to a real robot takes about ten weeks. Week one is already de-risked because the same Arduino firmware runs in Wokwi today. The navigation code does not change, only the sensor source and the motor output.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Everything is on GitHub: the code, the evaluation, the hardware design and the Wokwi simulation. The QR code opens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marL="0" indent="0">
              <a:buNone/>
            </a:pPr>
            <a:r>
              <a:rPr lang="en-US" sz="900" dirty="0">
                <a:solidFill>
                  <a:schemeClr val="accent5"/>
                </a:solidFill>
              </a:rPr>
              <a:t>VISTARA-X  |  Team Hack01</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RiteshKumar2e/VISTARA-X"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502920"/>
            <a:ext cx="3840480" cy="274320"/>
          </a:xfrm>
          <a:prstGeom prst="rect">
            <a:avLst/>
          </a:prstGeom>
          <a:noFill/>
          <a:ln/>
        </p:spPr>
        <p:txBody>
          <a:bodyPr wrap="square" lIns="0" tIns="0" rIns="0" bIns="0" rtlCol="0" anchor="t"/>
          <a:lstStyle/>
          <a:p>
            <a:pPr marL="0" indent="0">
              <a:buNone/>
            </a:pPr>
            <a:r>
              <a:rPr lang="en-US" sz="1200" dirty="0">
                <a:solidFill>
                  <a:schemeClr val="accent5"/>
                </a:solidFill>
              </a:rPr>
              <a:t>Hack in Hills 2026  |  Team Hack01</a:t>
            </a:r>
            <a:endParaRPr lang="en-US" sz="1200" dirty="0"/>
          </a:p>
        </p:txBody>
      </p:sp>
      <p:sp>
        <p:nvSpPr>
          <p:cNvPr id="3" name="Text 1"/>
          <p:cNvSpPr txBox="1"/>
          <p:nvPr/>
        </p:nvSpPr>
        <p:spPr>
          <a:xfrm>
            <a:off x="457200" y="1143000"/>
            <a:ext cx="4023360" cy="777240"/>
          </a:xfrm>
          <a:prstGeom prst="rect">
            <a:avLst/>
          </a:prstGeom>
          <a:noFill/>
          <a:ln/>
        </p:spPr>
        <p:txBody>
          <a:bodyPr wrap="square" lIns="0" tIns="0" rIns="0" bIns="0" rtlCol="0" anchor="t"/>
          <a:lstStyle/>
          <a:p>
            <a:pPr marL="0" indent="0">
              <a:buNone/>
            </a:pPr>
            <a:r>
              <a:rPr lang="en-US" sz="4400" b="1" dirty="0">
                <a:solidFill>
                  <a:schemeClr val="accent1"/>
                </a:solidFill>
              </a:rPr>
              <a:t>VISTARA-X</a:t>
            </a:r>
            <a:endParaRPr lang="en-US" sz="4400" dirty="0"/>
          </a:p>
        </p:txBody>
      </p:sp>
      <p:sp>
        <p:nvSpPr>
          <p:cNvPr id="4" name="Text 2"/>
          <p:cNvSpPr txBox="1"/>
          <p:nvPr/>
        </p:nvSpPr>
        <p:spPr>
          <a:xfrm>
            <a:off x="457200" y="2011680"/>
            <a:ext cx="3657600" cy="822960"/>
          </a:xfrm>
          <a:prstGeom prst="rect">
            <a:avLst/>
          </a:prstGeom>
          <a:noFill/>
          <a:ln/>
        </p:spPr>
        <p:txBody>
          <a:bodyPr wrap="square" lIns="0" tIns="0" rIns="0" bIns="0" rtlCol="0" anchor="t"/>
          <a:lstStyle/>
          <a:p>
            <a:pPr marL="0" indent="0">
              <a:buNone/>
            </a:pPr>
            <a:r>
              <a:rPr lang="en-US" sz="1700" dirty="0">
                <a:solidFill>
                  <a:schemeClr val="tx1"/>
                </a:solidFill>
              </a:rPr>
              <a:t>An indoor robot that predicts where people are walking and plans around them.</a:t>
            </a:r>
            <a:endParaRPr lang="en-US" sz="1700" dirty="0"/>
          </a:p>
        </p:txBody>
      </p:sp>
      <p:sp>
        <p:nvSpPr>
          <p:cNvPr id="5" name="Text 3"/>
          <p:cNvSpPr txBox="1"/>
          <p:nvPr/>
        </p:nvSpPr>
        <p:spPr>
          <a:xfrm>
            <a:off x="457200" y="3246120"/>
            <a:ext cx="3657600" cy="1188720"/>
          </a:xfrm>
          <a:prstGeom prst="rect">
            <a:avLst/>
          </a:prstGeom>
          <a:noFill/>
          <a:ln/>
        </p:spPr>
        <p:txBody>
          <a:bodyPr wrap="square" lIns="0" tIns="0" rIns="0" bIns="0" rtlCol="0" anchor="t"/>
          <a:lstStyle/>
          <a:p>
            <a:pPr marL="0" indent="0">
              <a:buNone/>
            </a:pPr>
            <a:r>
              <a:rPr lang="en-US" sz="1300" b="1" dirty="0">
                <a:solidFill>
                  <a:schemeClr val="tx1"/>
                </a:solidFill>
              </a:rPr>
              <a:t>Ritesh Kumar</a:t>
            </a:r>
            <a:endParaRPr lang="en-US" sz="1300" dirty="0"/>
          </a:p>
          <a:p>
            <a:pPr marL="0" indent="0">
              <a:buNone/>
            </a:pPr>
            <a:r>
              <a:rPr lang="en-US" sz="1300" dirty="0">
                <a:solidFill>
                  <a:schemeClr val="accent5"/>
                </a:solidFill>
              </a:rPr>
              <a:t>backend, AI/ML, hardware design</a:t>
            </a:r>
            <a:endParaRPr lang="en-US" sz="1300" dirty="0"/>
          </a:p>
          <a:p>
            <a:pPr marL="0" indent="0">
              <a:buNone/>
            </a:pPr>
            <a:r>
              <a:rPr lang="en-US" sz="600" dirty="0">
                <a:solidFill>
                  <a:schemeClr val="tx1"/>
                </a:solidFill>
              </a:rPr>
              <a:t> </a:t>
            </a:r>
            <a:endParaRPr lang="en-US" sz="1300" dirty="0"/>
          </a:p>
          <a:p>
            <a:pPr marL="0" indent="0">
              <a:buNone/>
            </a:pPr>
            <a:r>
              <a:rPr lang="en-US" sz="1300" b="1" dirty="0">
                <a:solidFill>
                  <a:schemeClr val="tx1"/>
                </a:solidFill>
              </a:rPr>
              <a:t>Kainat Afrazi</a:t>
            </a:r>
            <a:endParaRPr lang="en-US" sz="1300" dirty="0"/>
          </a:p>
          <a:p>
            <a:pPr marL="0" indent="0">
              <a:buNone/>
            </a:pPr>
            <a:r>
              <a:rPr lang="en-US" sz="1300" dirty="0">
                <a:solidFill>
                  <a:schemeClr val="accent5"/>
                </a:solidFill>
              </a:rPr>
              <a:t>frontend, dashboard</a:t>
            </a:r>
            <a:endParaRPr lang="en-US" sz="1300" dirty="0"/>
          </a:p>
        </p:txBody>
      </p:sp>
      <p:pic>
        <p:nvPicPr>
          <p:cNvPr id="6" name="Digital twin screenshot" descr="Screenshot of the VISTARA-X 3D digital twin: warehouse aisles, the robot and a walking person"/>
          <p:cNvPicPr>
            <a:picLocks noChangeAspect="1"/>
          </p:cNvPicPr>
          <p:nvPr/>
        </p:nvPicPr>
        <p:blipFill>
          <a:blip r:embed="rId3"/>
          <a:stretch>
            <a:fillRect/>
          </a:stretch>
        </p:blipFill>
        <p:spPr>
          <a:xfrm>
            <a:off x="4526280" y="1143000"/>
            <a:ext cx="4206240" cy="1892808"/>
          </a:xfrm>
          <a:prstGeom prst="rect">
            <a:avLst/>
          </a:prstGeom>
        </p:spPr>
      </p:pic>
      <p:sp>
        <p:nvSpPr>
          <p:cNvPr id="7" name="Screenshot frame"/>
          <p:cNvSpPr/>
          <p:nvPr/>
        </p:nvSpPr>
        <p:spPr>
          <a:xfrm>
            <a:off x="4526280" y="1143000"/>
            <a:ext cx="4206240" cy="1892808"/>
          </a:xfrm>
          <a:prstGeom prst="rect">
            <a:avLst/>
          </a:prstGeom>
          <a:ln w="12700">
            <a:solidFill>
              <a:srgbClr val="DFE4E9"/>
            </a:solidFill>
            <a:prstDash val="solid"/>
          </a:ln>
        </p:spPr>
      </p:sp>
      <p:sp>
        <p:nvSpPr>
          <p:cNvPr id="8" name="Text 5"/>
          <p:cNvSpPr txBox="1"/>
          <p:nvPr/>
        </p:nvSpPr>
        <p:spPr>
          <a:xfrm>
            <a:off x="4526280" y="3108960"/>
            <a:ext cx="4206240" cy="274320"/>
          </a:xfrm>
          <a:prstGeom prst="rect">
            <a:avLst/>
          </a:prstGeom>
          <a:noFill/>
          <a:ln/>
        </p:spPr>
        <p:txBody>
          <a:bodyPr wrap="square" lIns="0" tIns="0" rIns="0" bIns="0" rtlCol="0" anchor="t"/>
          <a:lstStyle/>
          <a:p>
            <a:pPr marL="0" indent="0">
              <a:buNone/>
            </a:pPr>
            <a:r>
              <a:rPr lang="en-US" sz="1000" i="1" dirty="0">
                <a:solidFill>
                  <a:schemeClr val="accent5"/>
                </a:solidFill>
              </a:rPr>
              <a:t>Screenshot of our 3D digital twin (warehouse scenario)</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Robots react too late</a:t>
            </a:r>
            <a:endParaRPr lang="en-US" sz="2600" dirty="0"/>
          </a:p>
        </p:txBody>
      </p:sp>
      <p:pic>
        <p:nvPicPr>
          <p:cNvPr id="3" name="Reactive vs predictive" descr="A typical robot stops at 0.3 m and a crossing person walks into it: 2 collisions in 9 runs. VISTARA-X predicts the path 2.8 s ahead and slows early: 0 collisions in 9 runs."/>
          <p:cNvPicPr>
            <a:picLocks noChangeAspect="1"/>
          </p:cNvPicPr>
          <p:nvPr/>
        </p:nvPicPr>
        <p:blipFill>
          <a:blip r:embed="rId3"/>
          <a:stretch>
            <a:fillRect/>
          </a:stretch>
        </p:blipFill>
        <p:spPr>
          <a:xfrm>
            <a:off x="457200" y="1005840"/>
            <a:ext cx="8229600" cy="3291840"/>
          </a:xfrm>
          <a:prstGeom prst="rect">
            <a:avLst/>
          </a:prstGeom>
        </p:spPr>
      </p:pic>
      <p:sp>
        <p:nvSpPr>
          <p:cNvPr id="4" name="Text 1"/>
          <p:cNvSpPr txBox="1"/>
          <p:nvPr/>
        </p:nvSpPr>
        <p:spPr>
          <a:xfrm>
            <a:off x="457200" y="4407408"/>
            <a:ext cx="8229600" cy="228600"/>
          </a:xfrm>
          <a:prstGeom prst="rect">
            <a:avLst/>
          </a:prstGeom>
          <a:noFill/>
          <a:ln/>
        </p:spPr>
        <p:txBody>
          <a:bodyPr wrap="square" lIns="0" tIns="0" rIns="0" bIns="0" rtlCol="0" anchor="t"/>
          <a:lstStyle/>
          <a:p>
            <a:pPr marL="0" indent="0">
              <a:buNone/>
            </a:pPr>
            <a:r>
              <a:rPr lang="en-US" sz="1000" i="1" dirty="0">
                <a:solidFill>
                  <a:schemeClr val="accent5"/>
                </a:solidFill>
              </a:rPr>
              <a:t>Numbers from our own evaluation script: same crossing corridor, 9 runs per mode, fixed seeds.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One delivery, step by step</a:t>
            </a:r>
            <a:endParaRPr lang="en-US" sz="2600" dirty="0"/>
          </a:p>
        </p:txBody>
      </p:sp>
      <p:pic>
        <p:nvPicPr>
          <p:cNvPr id="3" name="Mission workflow" descr="Five steps of a hospital delivery: ask in Hinglish, confirm, plan, drive safely while predicting a crossing person, deliver with a PIN"/>
          <p:cNvPicPr>
            <a:picLocks noChangeAspect="1"/>
          </p:cNvPicPr>
          <p:nvPr/>
        </p:nvPicPr>
        <p:blipFill>
          <a:blip r:embed="rId3"/>
          <a:stretch>
            <a:fillRect/>
          </a:stretch>
        </p:blipFill>
        <p:spPr>
          <a:xfrm>
            <a:off x="457200" y="960120"/>
            <a:ext cx="8229600" cy="370332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System architecture</a:t>
            </a:r>
            <a:endParaRPr lang="en-US" sz="2600" dirty="0"/>
          </a:p>
        </p:txBody>
      </p:sp>
      <p:pic>
        <p:nvPicPr>
          <p:cNvPr id="3" name="System architecture" descr="User, laptop backend modules, Arduino Mega safety layer, motors"/>
          <p:cNvPicPr>
            <a:picLocks noChangeAspect="1"/>
          </p:cNvPicPr>
          <p:nvPr/>
        </p:nvPicPr>
        <p:blipFill>
          <a:blip r:embed="rId3"/>
          <a:stretch>
            <a:fillRect/>
          </a:stretch>
        </p:blipFill>
        <p:spPr>
          <a:xfrm>
            <a:off x="457200" y="1005840"/>
            <a:ext cx="8229600" cy="3502152"/>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Prediction running in our dashboard</a:t>
            </a:r>
            <a:endParaRPr lang="en-US" sz="2600" dirty="0"/>
          </a:p>
        </p:txBody>
      </p:sp>
      <p:pic>
        <p:nvPicPr>
          <p:cNvPr id="3" name="Prediction panel screenshot" descr="Prediction panel: pipeline strip, predicted positions of person T1 from 0.5 to 3 s, radar, decision timeline"/>
          <p:cNvPicPr>
            <a:picLocks noChangeAspect="1"/>
          </p:cNvPicPr>
          <p:nvPr/>
        </p:nvPicPr>
        <p:blipFill>
          <a:blip r:embed="rId3"/>
          <a:stretch>
            <a:fillRect/>
          </a:stretch>
        </p:blipFill>
        <p:spPr>
          <a:xfrm>
            <a:off x="457200" y="1005840"/>
            <a:ext cx="8229600" cy="2286000"/>
          </a:xfrm>
          <a:prstGeom prst="rect">
            <a:avLst/>
          </a:prstGeom>
        </p:spPr>
      </p:pic>
      <p:sp>
        <p:nvSpPr>
          <p:cNvPr id="4" name="Screenshot frame"/>
          <p:cNvSpPr/>
          <p:nvPr/>
        </p:nvSpPr>
        <p:spPr>
          <a:xfrm>
            <a:off x="457200" y="1005840"/>
            <a:ext cx="8229600" cy="2286000"/>
          </a:xfrm>
          <a:prstGeom prst="rect">
            <a:avLst/>
          </a:prstGeom>
          <a:ln w="12700">
            <a:solidFill>
              <a:srgbClr val="DFE4E9"/>
            </a:solidFill>
            <a:prstDash val="solid"/>
          </a:ln>
        </p:spPr>
      </p:sp>
      <p:sp>
        <p:nvSpPr>
          <p:cNvPr id="5" name="Marker 1"/>
          <p:cNvSpPr/>
          <p:nvPr/>
        </p:nvSpPr>
        <p:spPr>
          <a:xfrm>
            <a:off x="146304" y="1389888"/>
            <a:ext cx="292608" cy="292608"/>
          </a:xfrm>
          <a:prstGeom prst="ellipse">
            <a:avLst/>
          </a:prstGeom>
          <a:solidFill>
            <a:srgbClr val="D9A441"/>
          </a:solidFill>
          <a:ln w="19050">
            <a:solidFill>
              <a:srgbClr val="FFFFFF"/>
            </a:solidFill>
            <a:prstDash val="solid"/>
          </a:ln>
        </p:spPr>
      </p:sp>
      <p:sp>
        <p:nvSpPr>
          <p:cNvPr id="6" name="Text 3"/>
          <p:cNvSpPr txBox="1"/>
          <p:nvPr/>
        </p:nvSpPr>
        <p:spPr>
          <a:xfrm>
            <a:off x="146304" y="1389888"/>
            <a:ext cx="292608" cy="292608"/>
          </a:xfrm>
          <a:prstGeom prst="rect">
            <a:avLst/>
          </a:prstGeom>
          <a:noFill/>
          <a:ln/>
        </p:spPr>
        <p:txBody>
          <a:bodyPr wrap="square" lIns="0" tIns="0" rIns="0" bIns="0" rtlCol="0" anchor="ctr"/>
          <a:lstStyle/>
          <a:p>
            <a:pPr marL="0" indent="0" algn="ctr">
              <a:buNone/>
            </a:pPr>
            <a:r>
              <a:rPr lang="en-US" sz="1100" b="1" dirty="0">
                <a:solidFill>
                  <a:schemeClr val="tx1"/>
                </a:solidFill>
              </a:rPr>
              <a:t>1</a:t>
            </a:r>
            <a:endParaRPr lang="en-US" sz="1100" dirty="0"/>
          </a:p>
        </p:txBody>
      </p:sp>
      <p:sp>
        <p:nvSpPr>
          <p:cNvPr id="7" name="Marker 2"/>
          <p:cNvSpPr/>
          <p:nvPr/>
        </p:nvSpPr>
        <p:spPr>
          <a:xfrm>
            <a:off x="2331720" y="2340864"/>
            <a:ext cx="292608" cy="292608"/>
          </a:xfrm>
          <a:prstGeom prst="ellipse">
            <a:avLst/>
          </a:prstGeom>
          <a:solidFill>
            <a:srgbClr val="D9A441"/>
          </a:solidFill>
          <a:ln w="19050">
            <a:solidFill>
              <a:srgbClr val="FFFFFF"/>
            </a:solidFill>
            <a:prstDash val="solid"/>
          </a:ln>
        </p:spPr>
      </p:sp>
      <p:sp>
        <p:nvSpPr>
          <p:cNvPr id="8" name="Text 5"/>
          <p:cNvSpPr txBox="1"/>
          <p:nvPr/>
        </p:nvSpPr>
        <p:spPr>
          <a:xfrm>
            <a:off x="2331720" y="2340864"/>
            <a:ext cx="292608" cy="292608"/>
          </a:xfrm>
          <a:prstGeom prst="rect">
            <a:avLst/>
          </a:prstGeom>
          <a:no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9" name="Marker 3"/>
          <p:cNvSpPr/>
          <p:nvPr/>
        </p:nvSpPr>
        <p:spPr>
          <a:xfrm>
            <a:off x="4498848" y="1719072"/>
            <a:ext cx="292608" cy="292608"/>
          </a:xfrm>
          <a:prstGeom prst="ellipse">
            <a:avLst/>
          </a:prstGeom>
          <a:solidFill>
            <a:srgbClr val="D9A441"/>
          </a:solidFill>
          <a:ln w="19050">
            <a:solidFill>
              <a:srgbClr val="FFFFFF"/>
            </a:solidFill>
            <a:prstDash val="solid"/>
          </a:ln>
        </p:spPr>
      </p:sp>
      <p:sp>
        <p:nvSpPr>
          <p:cNvPr id="10" name="Text 7"/>
          <p:cNvSpPr txBox="1"/>
          <p:nvPr/>
        </p:nvSpPr>
        <p:spPr>
          <a:xfrm>
            <a:off x="4498848" y="1719072"/>
            <a:ext cx="292608" cy="292608"/>
          </a:xfrm>
          <a:prstGeom prst="rect">
            <a:avLst/>
          </a:prstGeom>
          <a:noFill/>
          <a:ln/>
        </p:spPr>
        <p:txBody>
          <a:bodyPr wrap="square" lIns="0" tIns="0" rIns="0" bIns="0" rtlCol="0" anchor="ctr"/>
          <a:lstStyle/>
          <a:p>
            <a:pPr marL="0" indent="0" algn="ctr">
              <a:buNone/>
            </a:pPr>
            <a:r>
              <a:rPr lang="en-US" sz="1100" b="1" dirty="0">
                <a:solidFill>
                  <a:schemeClr val="tx1"/>
                </a:solidFill>
              </a:rPr>
              <a:t>3</a:t>
            </a:r>
            <a:endParaRPr lang="en-US" sz="1100" dirty="0"/>
          </a:p>
        </p:txBody>
      </p:sp>
      <p:sp>
        <p:nvSpPr>
          <p:cNvPr id="11" name="Marker 4"/>
          <p:cNvSpPr/>
          <p:nvPr/>
        </p:nvSpPr>
        <p:spPr>
          <a:xfrm>
            <a:off x="6400800" y="1389888"/>
            <a:ext cx="292608" cy="292608"/>
          </a:xfrm>
          <a:prstGeom prst="ellipse">
            <a:avLst/>
          </a:prstGeom>
          <a:solidFill>
            <a:srgbClr val="D9A441"/>
          </a:solidFill>
          <a:ln w="19050">
            <a:solidFill>
              <a:srgbClr val="FFFFFF"/>
            </a:solidFill>
            <a:prstDash val="solid"/>
          </a:ln>
        </p:spPr>
      </p:sp>
      <p:sp>
        <p:nvSpPr>
          <p:cNvPr id="12" name="Text 9"/>
          <p:cNvSpPr txBox="1"/>
          <p:nvPr/>
        </p:nvSpPr>
        <p:spPr>
          <a:xfrm>
            <a:off x="6400800" y="1389888"/>
            <a:ext cx="292608" cy="292608"/>
          </a:xfrm>
          <a:prstGeom prst="rect">
            <a:avLst/>
          </a:prstGeom>
          <a:noFill/>
          <a:ln/>
        </p:spPr>
        <p:txBody>
          <a:bodyPr wrap="square" lIns="0" tIns="0" rIns="0" bIns="0" rtlCol="0" anchor="ctr"/>
          <a:lstStyle/>
          <a:p>
            <a:pPr marL="0" indent="0" algn="ctr">
              <a:buNone/>
            </a:pPr>
            <a:r>
              <a:rPr lang="en-US" sz="1100" b="1" dirty="0">
                <a:solidFill>
                  <a:schemeClr val="tx1"/>
                </a:solidFill>
              </a:rPr>
              <a:t>4</a:t>
            </a:r>
            <a:endParaRPr lang="en-US" sz="1100" dirty="0"/>
          </a:p>
        </p:txBody>
      </p:sp>
      <p:sp>
        <p:nvSpPr>
          <p:cNvPr id="13" name="Marker 1"/>
          <p:cNvSpPr/>
          <p:nvPr/>
        </p:nvSpPr>
        <p:spPr>
          <a:xfrm>
            <a:off x="457200" y="3566160"/>
            <a:ext cx="274320" cy="274320"/>
          </a:xfrm>
          <a:prstGeom prst="ellipse">
            <a:avLst/>
          </a:prstGeom>
          <a:solidFill>
            <a:srgbClr val="D9A441"/>
          </a:solidFill>
          <a:ln w="19050">
            <a:solidFill>
              <a:srgbClr val="FFFFFF"/>
            </a:solidFill>
            <a:prstDash val="solid"/>
          </a:ln>
        </p:spPr>
      </p:sp>
      <p:sp>
        <p:nvSpPr>
          <p:cNvPr id="14" name="Text 11"/>
          <p:cNvSpPr txBox="1"/>
          <p:nvPr/>
        </p:nvSpPr>
        <p:spPr>
          <a:xfrm>
            <a:off x="457200" y="3566160"/>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1</a:t>
            </a:r>
            <a:endParaRPr lang="en-US" sz="1100" dirty="0"/>
          </a:p>
        </p:txBody>
      </p:sp>
      <p:sp>
        <p:nvSpPr>
          <p:cNvPr id="15" name="Text 12"/>
          <p:cNvSpPr txBox="1"/>
          <p:nvPr/>
        </p:nvSpPr>
        <p:spPr>
          <a:xfrm>
            <a:off x="841248" y="3529584"/>
            <a:ext cx="1645920" cy="274320"/>
          </a:xfrm>
          <a:prstGeom prst="rect">
            <a:avLst/>
          </a:prstGeom>
          <a:noFill/>
          <a:ln/>
        </p:spPr>
        <p:txBody>
          <a:bodyPr wrap="square" lIns="0" tIns="0" rIns="0" bIns="0" rtlCol="0" anchor="t"/>
          <a:lstStyle/>
          <a:p>
            <a:pPr marL="0" indent="0">
              <a:buNone/>
            </a:pPr>
            <a:r>
              <a:rPr lang="en-US" sz="1300" b="1" dirty="0">
                <a:solidFill>
                  <a:schemeClr val="tx1"/>
                </a:solidFill>
              </a:rPr>
              <a:t>Pipeline</a:t>
            </a:r>
            <a:endParaRPr lang="en-US" sz="1300" dirty="0"/>
          </a:p>
        </p:txBody>
      </p:sp>
      <p:sp>
        <p:nvSpPr>
          <p:cNvPr id="16" name="Text 13"/>
          <p:cNvSpPr txBox="1"/>
          <p:nvPr/>
        </p:nvSpPr>
        <p:spPr>
          <a:xfrm>
            <a:off x="841248" y="3813048"/>
            <a:ext cx="1645920" cy="502920"/>
          </a:xfrm>
          <a:prstGeom prst="rect">
            <a:avLst/>
          </a:prstGeom>
          <a:noFill/>
          <a:ln/>
        </p:spPr>
        <p:txBody>
          <a:bodyPr wrap="square" lIns="0" tIns="0" rIns="0" bIns="0" rtlCol="0" anchor="t"/>
          <a:lstStyle/>
          <a:p>
            <a:pPr marL="0" indent="0">
              <a:buNone/>
            </a:pPr>
            <a:r>
              <a:rPr lang="en-US" sz="1100" dirty="0">
                <a:solidFill>
                  <a:schemeClr val="accent5"/>
                </a:solidFill>
              </a:rPr>
              <a:t>each stage lights up from live data</a:t>
            </a:r>
            <a:endParaRPr lang="en-US" sz="1100" dirty="0"/>
          </a:p>
        </p:txBody>
      </p:sp>
      <p:sp>
        <p:nvSpPr>
          <p:cNvPr id="17" name="Marker 2"/>
          <p:cNvSpPr/>
          <p:nvPr/>
        </p:nvSpPr>
        <p:spPr>
          <a:xfrm>
            <a:off x="2560320" y="3566160"/>
            <a:ext cx="274320" cy="274320"/>
          </a:xfrm>
          <a:prstGeom prst="ellipse">
            <a:avLst/>
          </a:prstGeom>
          <a:solidFill>
            <a:srgbClr val="D9A441"/>
          </a:solidFill>
          <a:ln w="19050">
            <a:solidFill>
              <a:srgbClr val="FFFFFF"/>
            </a:solidFill>
            <a:prstDash val="solid"/>
          </a:ln>
        </p:spPr>
      </p:sp>
      <p:sp>
        <p:nvSpPr>
          <p:cNvPr id="18" name="Text 15"/>
          <p:cNvSpPr txBox="1"/>
          <p:nvPr/>
        </p:nvSpPr>
        <p:spPr>
          <a:xfrm>
            <a:off x="2560320" y="3566160"/>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19" name="Text 16"/>
          <p:cNvSpPr txBox="1"/>
          <p:nvPr/>
        </p:nvSpPr>
        <p:spPr>
          <a:xfrm>
            <a:off x="2944368" y="3529584"/>
            <a:ext cx="1645920" cy="274320"/>
          </a:xfrm>
          <a:prstGeom prst="rect">
            <a:avLst/>
          </a:prstGeom>
          <a:noFill/>
          <a:ln/>
        </p:spPr>
        <p:txBody>
          <a:bodyPr wrap="square" lIns="0" tIns="0" rIns="0" bIns="0" rtlCol="0" anchor="t"/>
          <a:lstStyle/>
          <a:p>
            <a:pPr marL="0" indent="0">
              <a:buNone/>
            </a:pPr>
            <a:r>
              <a:rPr lang="en-US" sz="1300" b="1" dirty="0">
                <a:solidFill>
                  <a:schemeClr val="tx1"/>
                </a:solidFill>
              </a:rPr>
              <a:t>Person T1</a:t>
            </a:r>
            <a:endParaRPr lang="en-US" sz="1300" dirty="0"/>
          </a:p>
        </p:txBody>
      </p:sp>
      <p:sp>
        <p:nvSpPr>
          <p:cNvPr id="20" name="Text 17"/>
          <p:cNvSpPr txBox="1"/>
          <p:nvPr/>
        </p:nvSpPr>
        <p:spPr>
          <a:xfrm>
            <a:off x="2944368" y="3813048"/>
            <a:ext cx="1645920" cy="502920"/>
          </a:xfrm>
          <a:prstGeom prst="rect">
            <a:avLst/>
          </a:prstGeom>
          <a:noFill/>
          <a:ln/>
        </p:spPr>
        <p:txBody>
          <a:bodyPr wrap="square" lIns="0" tIns="0" rIns="0" bIns="0" rtlCol="0" anchor="t"/>
          <a:lstStyle/>
          <a:p>
            <a:pPr marL="0" indent="0">
              <a:buNone/>
            </a:pPr>
            <a:r>
              <a:rPr lang="en-US" sz="1100" dirty="0">
                <a:solidFill>
                  <a:schemeClr val="accent5"/>
                </a:solidFill>
              </a:rPr>
              <a:t>where it will be in 0.5 to 3 s, with uncertainty</a:t>
            </a:r>
            <a:endParaRPr lang="en-US" sz="1100" dirty="0"/>
          </a:p>
        </p:txBody>
      </p:sp>
      <p:sp>
        <p:nvSpPr>
          <p:cNvPr id="21" name="Marker 3"/>
          <p:cNvSpPr/>
          <p:nvPr/>
        </p:nvSpPr>
        <p:spPr>
          <a:xfrm>
            <a:off x="4663440" y="3566160"/>
            <a:ext cx="274320" cy="274320"/>
          </a:xfrm>
          <a:prstGeom prst="ellipse">
            <a:avLst/>
          </a:prstGeom>
          <a:solidFill>
            <a:srgbClr val="D9A441"/>
          </a:solidFill>
          <a:ln w="19050">
            <a:solidFill>
              <a:srgbClr val="FFFFFF"/>
            </a:solidFill>
            <a:prstDash val="solid"/>
          </a:ln>
        </p:spPr>
      </p:sp>
      <p:sp>
        <p:nvSpPr>
          <p:cNvPr id="22" name="Text 19"/>
          <p:cNvSpPr txBox="1"/>
          <p:nvPr/>
        </p:nvSpPr>
        <p:spPr>
          <a:xfrm>
            <a:off x="4663440" y="3566160"/>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3</a:t>
            </a:r>
            <a:endParaRPr lang="en-US" sz="1100" dirty="0"/>
          </a:p>
        </p:txBody>
      </p:sp>
      <p:sp>
        <p:nvSpPr>
          <p:cNvPr id="23" name="Text 20"/>
          <p:cNvSpPr txBox="1"/>
          <p:nvPr/>
        </p:nvSpPr>
        <p:spPr>
          <a:xfrm>
            <a:off x="5047488" y="3529584"/>
            <a:ext cx="1645920" cy="274320"/>
          </a:xfrm>
          <a:prstGeom prst="rect">
            <a:avLst/>
          </a:prstGeom>
          <a:noFill/>
          <a:ln/>
        </p:spPr>
        <p:txBody>
          <a:bodyPr wrap="square" lIns="0" tIns="0" rIns="0" bIns="0" rtlCol="0" anchor="t"/>
          <a:lstStyle/>
          <a:p>
            <a:pPr marL="0" indent="0">
              <a:buNone/>
            </a:pPr>
            <a:r>
              <a:rPr lang="en-US" sz="1300" b="1" dirty="0">
                <a:solidFill>
                  <a:schemeClr val="tx1"/>
                </a:solidFill>
              </a:rPr>
              <a:t>Radar</a:t>
            </a:r>
            <a:endParaRPr lang="en-US" sz="1300" dirty="0"/>
          </a:p>
        </p:txBody>
      </p:sp>
      <p:sp>
        <p:nvSpPr>
          <p:cNvPr id="24" name="Text 21"/>
          <p:cNvSpPr txBox="1"/>
          <p:nvPr/>
        </p:nvSpPr>
        <p:spPr>
          <a:xfrm>
            <a:off x="5047488" y="3813048"/>
            <a:ext cx="1645920" cy="502920"/>
          </a:xfrm>
          <a:prstGeom prst="rect">
            <a:avLst/>
          </a:prstGeom>
          <a:noFill/>
          <a:ln/>
        </p:spPr>
        <p:txBody>
          <a:bodyPr wrap="square" lIns="0" tIns="0" rIns="0" bIns="0" rtlCol="0" anchor="t"/>
          <a:lstStyle/>
          <a:p>
            <a:pPr marL="0" indent="0">
              <a:buNone/>
            </a:pPr>
            <a:r>
              <a:rPr lang="en-US" sz="1100" dirty="0">
                <a:solidFill>
                  <a:schemeClr val="accent5"/>
                </a:solidFill>
              </a:rPr>
              <a:t>robot, route and predicted path</a:t>
            </a:r>
            <a:endParaRPr lang="en-US" sz="1100" dirty="0"/>
          </a:p>
        </p:txBody>
      </p:sp>
      <p:sp>
        <p:nvSpPr>
          <p:cNvPr id="25" name="Marker 4"/>
          <p:cNvSpPr/>
          <p:nvPr/>
        </p:nvSpPr>
        <p:spPr>
          <a:xfrm>
            <a:off x="6766560" y="3566160"/>
            <a:ext cx="274320" cy="274320"/>
          </a:xfrm>
          <a:prstGeom prst="ellipse">
            <a:avLst/>
          </a:prstGeom>
          <a:solidFill>
            <a:srgbClr val="D9A441"/>
          </a:solidFill>
          <a:ln w="19050">
            <a:solidFill>
              <a:srgbClr val="FFFFFF"/>
            </a:solidFill>
            <a:prstDash val="solid"/>
          </a:ln>
        </p:spPr>
      </p:sp>
      <p:sp>
        <p:nvSpPr>
          <p:cNvPr id="26" name="Text 23"/>
          <p:cNvSpPr txBox="1"/>
          <p:nvPr/>
        </p:nvSpPr>
        <p:spPr>
          <a:xfrm>
            <a:off x="6766560" y="3566160"/>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4</a:t>
            </a:r>
            <a:endParaRPr lang="en-US" sz="1100" dirty="0"/>
          </a:p>
        </p:txBody>
      </p:sp>
      <p:sp>
        <p:nvSpPr>
          <p:cNvPr id="27" name="Text 24"/>
          <p:cNvSpPr txBox="1"/>
          <p:nvPr/>
        </p:nvSpPr>
        <p:spPr>
          <a:xfrm>
            <a:off x="7150608" y="3529584"/>
            <a:ext cx="1645920" cy="274320"/>
          </a:xfrm>
          <a:prstGeom prst="rect">
            <a:avLst/>
          </a:prstGeom>
          <a:noFill/>
          <a:ln/>
        </p:spPr>
        <p:txBody>
          <a:bodyPr wrap="square" lIns="0" tIns="0" rIns="0" bIns="0" rtlCol="0" anchor="t"/>
          <a:lstStyle/>
          <a:p>
            <a:pPr marL="0" indent="0">
              <a:buNone/>
            </a:pPr>
            <a:r>
              <a:rPr lang="en-US" sz="1300" b="1" dirty="0">
                <a:solidFill>
                  <a:schemeClr val="tx1"/>
                </a:solidFill>
              </a:rPr>
              <a:t>Decision timeline</a:t>
            </a:r>
            <a:endParaRPr lang="en-US" sz="1300" dirty="0"/>
          </a:p>
        </p:txBody>
      </p:sp>
      <p:sp>
        <p:nvSpPr>
          <p:cNvPr id="28" name="Text 25"/>
          <p:cNvSpPr txBox="1"/>
          <p:nvPr/>
        </p:nvSpPr>
        <p:spPr>
          <a:xfrm>
            <a:off x="7150608" y="3813048"/>
            <a:ext cx="1645920" cy="502920"/>
          </a:xfrm>
          <a:prstGeom prst="rect">
            <a:avLst/>
          </a:prstGeom>
          <a:noFill/>
          <a:ln/>
        </p:spPr>
        <p:txBody>
          <a:bodyPr wrap="square" lIns="0" tIns="0" rIns="0" bIns="0" rtlCol="0" anchor="t"/>
          <a:lstStyle/>
          <a:p>
            <a:pPr marL="0" indent="0">
              <a:buNone/>
            </a:pPr>
            <a:r>
              <a:rPr lang="en-US" sz="1100" dirty="0">
                <a:solidFill>
                  <a:schemeClr val="accent5"/>
                </a:solidFill>
              </a:rPr>
              <a:t>every action logged with its reason</a:t>
            </a:r>
            <a:endParaRPr lang="en-US" sz="1100" dirty="0"/>
          </a:p>
        </p:txBody>
      </p:sp>
      <p:sp>
        <p:nvSpPr>
          <p:cNvPr id="29" name="Text 26"/>
          <p:cNvSpPr txBox="1"/>
          <p:nvPr/>
        </p:nvSpPr>
        <p:spPr>
          <a:xfrm>
            <a:off x="457200" y="4434840"/>
            <a:ext cx="8229600" cy="228600"/>
          </a:xfrm>
          <a:prstGeom prst="rect">
            <a:avLst/>
          </a:prstGeom>
          <a:noFill/>
          <a:ln/>
        </p:spPr>
        <p:txBody>
          <a:bodyPr wrap="square" lIns="0" tIns="0" rIns="0" bIns="0" rtlCol="0" anchor="t"/>
          <a:lstStyle/>
          <a:p>
            <a:pPr marL="0" indent="0">
              <a:buNone/>
            </a:pPr>
            <a:r>
              <a:rPr lang="en-US" sz="1000" i="1" dirty="0">
                <a:solidFill>
                  <a:schemeClr val="accent5"/>
                </a:solidFill>
              </a:rPr>
              <a:t>Captured from the running app during the judge demo.</a:t>
            </a:r>
            <a:endParaRPr lang="en-US" sz="1000" dirty="0"/>
          </a:p>
        </p:txBody>
      </p:sp>
      <p:sp>
        <p:nvSpPr>
          <p:cNvPr id="30"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Judge demo: a person crosses the corridor</a:t>
            </a:r>
            <a:endParaRPr lang="en-US" sz="2600" dirty="0"/>
          </a:p>
        </p:txBody>
      </p:sp>
      <p:pic>
        <p:nvPicPr>
          <p:cNvPr id="3" name="Live mission screenshot" descr="3D crossing corridor with a person and a cart, and the judge demo checklist ticked from telemetry"/>
          <p:cNvPicPr>
            <a:picLocks noChangeAspect="1"/>
          </p:cNvPicPr>
          <p:nvPr/>
        </p:nvPicPr>
        <p:blipFill>
          <a:blip r:embed="rId3"/>
          <a:stretch>
            <a:fillRect/>
          </a:stretch>
        </p:blipFill>
        <p:spPr>
          <a:xfrm>
            <a:off x="457200" y="960120"/>
            <a:ext cx="8229600" cy="3090672"/>
          </a:xfrm>
          <a:prstGeom prst="rect">
            <a:avLst/>
          </a:prstGeom>
        </p:spPr>
      </p:pic>
      <p:sp>
        <p:nvSpPr>
          <p:cNvPr id="4" name="Screenshot frame"/>
          <p:cNvSpPr/>
          <p:nvPr/>
        </p:nvSpPr>
        <p:spPr>
          <a:xfrm>
            <a:off x="457200" y="960120"/>
            <a:ext cx="8229600" cy="3090672"/>
          </a:xfrm>
          <a:prstGeom prst="rect">
            <a:avLst/>
          </a:prstGeom>
          <a:ln w="12700">
            <a:solidFill>
              <a:srgbClr val="DFE4E9"/>
            </a:solidFill>
            <a:prstDash val="solid"/>
          </a:ln>
        </p:spPr>
      </p:sp>
      <p:sp>
        <p:nvSpPr>
          <p:cNvPr id="5" name="Person detected"/>
          <p:cNvSpPr/>
          <p:nvPr/>
        </p:nvSpPr>
        <p:spPr>
          <a:xfrm>
            <a:off x="457200" y="4206240"/>
            <a:ext cx="1481328" cy="365760"/>
          </a:xfrm>
          <a:prstGeom prst="roundRect">
            <a:avLst>
              <a:gd name="adj" fmla="val 15000"/>
            </a:avLst>
          </a:prstGeom>
          <a:solidFill>
            <a:srgbClr val="E2F2F0"/>
          </a:solidFill>
          <a:ln/>
        </p:spPr>
      </p:sp>
      <p:sp>
        <p:nvSpPr>
          <p:cNvPr id="6" name="Text 3"/>
          <p:cNvSpPr txBox="1"/>
          <p:nvPr/>
        </p:nvSpPr>
        <p:spPr>
          <a:xfrm>
            <a:off x="457200" y="4206240"/>
            <a:ext cx="1481328" cy="365760"/>
          </a:xfrm>
          <a:prstGeom prst="rect">
            <a:avLst/>
          </a:prstGeom>
          <a:noFill/>
          <a:ln/>
        </p:spPr>
        <p:txBody>
          <a:bodyPr wrap="square" lIns="0" tIns="0" rIns="0" bIns="0" rtlCol="0" anchor="ctr"/>
          <a:lstStyle/>
          <a:p>
            <a:pPr marL="0" indent="0" algn="ctr">
              <a:buNone/>
            </a:pPr>
            <a:r>
              <a:rPr lang="en-US" sz="1200" b="1" dirty="0">
                <a:solidFill>
                  <a:schemeClr val="accent1"/>
                </a:solidFill>
              </a:rPr>
              <a:t>Person detected</a:t>
            </a:r>
            <a:endParaRPr lang="en-US" sz="1200" dirty="0"/>
          </a:p>
        </p:txBody>
      </p:sp>
      <p:sp>
        <p:nvSpPr>
          <p:cNvPr id="7" name="Shape 4"/>
          <p:cNvSpPr/>
          <p:nvPr/>
        </p:nvSpPr>
        <p:spPr>
          <a:xfrm>
            <a:off x="1965960" y="4389120"/>
            <a:ext cx="146304" cy="0"/>
          </a:xfrm>
          <a:prstGeom prst="line">
            <a:avLst/>
          </a:prstGeom>
          <a:noFill/>
          <a:ln w="19050">
            <a:solidFill>
              <a:srgbClr val="4B5866"/>
            </a:solidFill>
            <a:prstDash val="solid"/>
            <a:tailEnd type="triangle"/>
          </a:ln>
        </p:spPr>
      </p:sp>
      <p:sp>
        <p:nvSpPr>
          <p:cNvPr id="8" name="Path predicted"/>
          <p:cNvSpPr/>
          <p:nvPr/>
        </p:nvSpPr>
        <p:spPr>
          <a:xfrm>
            <a:off x="2144268" y="4206240"/>
            <a:ext cx="1481328" cy="365760"/>
          </a:xfrm>
          <a:prstGeom prst="roundRect">
            <a:avLst>
              <a:gd name="adj" fmla="val 15000"/>
            </a:avLst>
          </a:prstGeom>
          <a:solidFill>
            <a:srgbClr val="E2F2F0"/>
          </a:solidFill>
          <a:ln/>
        </p:spPr>
      </p:sp>
      <p:sp>
        <p:nvSpPr>
          <p:cNvPr id="9" name="Text 6"/>
          <p:cNvSpPr txBox="1"/>
          <p:nvPr/>
        </p:nvSpPr>
        <p:spPr>
          <a:xfrm>
            <a:off x="2144268" y="4206240"/>
            <a:ext cx="1481328" cy="365760"/>
          </a:xfrm>
          <a:prstGeom prst="rect">
            <a:avLst/>
          </a:prstGeom>
          <a:noFill/>
          <a:ln/>
        </p:spPr>
        <p:txBody>
          <a:bodyPr wrap="square" lIns="0" tIns="0" rIns="0" bIns="0" rtlCol="0" anchor="ctr"/>
          <a:lstStyle/>
          <a:p>
            <a:pPr marL="0" indent="0" algn="ctr">
              <a:buNone/>
            </a:pPr>
            <a:r>
              <a:rPr lang="en-US" sz="1200" b="1" dirty="0">
                <a:solidFill>
                  <a:schemeClr val="accent1"/>
                </a:solidFill>
              </a:rPr>
              <a:t>Path predicted</a:t>
            </a:r>
            <a:endParaRPr lang="en-US" sz="1200" dirty="0"/>
          </a:p>
        </p:txBody>
      </p:sp>
      <p:sp>
        <p:nvSpPr>
          <p:cNvPr id="10" name="Shape 7"/>
          <p:cNvSpPr/>
          <p:nvPr/>
        </p:nvSpPr>
        <p:spPr>
          <a:xfrm>
            <a:off x="3653028" y="4389120"/>
            <a:ext cx="146304" cy="0"/>
          </a:xfrm>
          <a:prstGeom prst="line">
            <a:avLst/>
          </a:prstGeom>
          <a:noFill/>
          <a:ln w="19050">
            <a:solidFill>
              <a:srgbClr val="4B5866"/>
            </a:solidFill>
            <a:prstDash val="solid"/>
            <a:tailEnd type="triangle"/>
          </a:ln>
        </p:spPr>
      </p:sp>
      <p:sp>
        <p:nvSpPr>
          <p:cNvPr id="11" name="Slows to 50%"/>
          <p:cNvSpPr/>
          <p:nvPr/>
        </p:nvSpPr>
        <p:spPr>
          <a:xfrm>
            <a:off x="3831336" y="4206240"/>
            <a:ext cx="1481328" cy="365760"/>
          </a:xfrm>
          <a:prstGeom prst="roundRect">
            <a:avLst>
              <a:gd name="adj" fmla="val 15000"/>
            </a:avLst>
          </a:prstGeom>
          <a:solidFill>
            <a:srgbClr val="E2F2F0"/>
          </a:solidFill>
          <a:ln/>
        </p:spPr>
      </p:sp>
      <p:sp>
        <p:nvSpPr>
          <p:cNvPr id="12" name="Text 9"/>
          <p:cNvSpPr txBox="1"/>
          <p:nvPr/>
        </p:nvSpPr>
        <p:spPr>
          <a:xfrm>
            <a:off x="3831336" y="4206240"/>
            <a:ext cx="1481328" cy="365760"/>
          </a:xfrm>
          <a:prstGeom prst="rect">
            <a:avLst/>
          </a:prstGeom>
          <a:noFill/>
          <a:ln/>
        </p:spPr>
        <p:txBody>
          <a:bodyPr wrap="square" lIns="0" tIns="0" rIns="0" bIns="0" rtlCol="0" anchor="ctr"/>
          <a:lstStyle/>
          <a:p>
            <a:pPr marL="0" indent="0" algn="ctr">
              <a:buNone/>
            </a:pPr>
            <a:r>
              <a:rPr lang="en-US" sz="1200" b="1" dirty="0">
                <a:solidFill>
                  <a:schemeClr val="accent1"/>
                </a:solidFill>
              </a:rPr>
              <a:t>Slows to 50%</a:t>
            </a:r>
            <a:endParaRPr lang="en-US" sz="1200" dirty="0"/>
          </a:p>
        </p:txBody>
      </p:sp>
      <p:sp>
        <p:nvSpPr>
          <p:cNvPr id="13" name="Shape 10"/>
          <p:cNvSpPr/>
          <p:nvPr/>
        </p:nvSpPr>
        <p:spPr>
          <a:xfrm>
            <a:off x="5340096" y="4389120"/>
            <a:ext cx="146304" cy="0"/>
          </a:xfrm>
          <a:prstGeom prst="line">
            <a:avLst/>
          </a:prstGeom>
          <a:noFill/>
          <a:ln w="19050">
            <a:solidFill>
              <a:srgbClr val="4B5866"/>
            </a:solidFill>
            <a:prstDash val="solid"/>
            <a:tailEnd type="triangle"/>
          </a:ln>
        </p:spPr>
      </p:sp>
      <p:sp>
        <p:nvSpPr>
          <p:cNvPr id="14" name="Re-routes"/>
          <p:cNvSpPr/>
          <p:nvPr/>
        </p:nvSpPr>
        <p:spPr>
          <a:xfrm>
            <a:off x="5518404" y="4206240"/>
            <a:ext cx="1481328" cy="365760"/>
          </a:xfrm>
          <a:prstGeom prst="roundRect">
            <a:avLst>
              <a:gd name="adj" fmla="val 15000"/>
            </a:avLst>
          </a:prstGeom>
          <a:solidFill>
            <a:srgbClr val="E2F2F0"/>
          </a:solidFill>
          <a:ln/>
        </p:spPr>
      </p:sp>
      <p:sp>
        <p:nvSpPr>
          <p:cNvPr id="15" name="Text 12"/>
          <p:cNvSpPr txBox="1"/>
          <p:nvPr/>
        </p:nvSpPr>
        <p:spPr>
          <a:xfrm>
            <a:off x="5518404" y="4206240"/>
            <a:ext cx="1481328" cy="365760"/>
          </a:xfrm>
          <a:prstGeom prst="rect">
            <a:avLst/>
          </a:prstGeom>
          <a:noFill/>
          <a:ln/>
        </p:spPr>
        <p:txBody>
          <a:bodyPr wrap="square" lIns="0" tIns="0" rIns="0" bIns="0" rtlCol="0" anchor="ctr"/>
          <a:lstStyle/>
          <a:p>
            <a:pPr marL="0" indent="0" algn="ctr">
              <a:buNone/>
            </a:pPr>
            <a:r>
              <a:rPr lang="en-US" sz="1200" b="1" dirty="0">
                <a:solidFill>
                  <a:schemeClr val="accent1"/>
                </a:solidFill>
              </a:rPr>
              <a:t>Re-routes</a:t>
            </a:r>
            <a:endParaRPr lang="en-US" sz="1200" dirty="0"/>
          </a:p>
        </p:txBody>
      </p:sp>
      <p:sp>
        <p:nvSpPr>
          <p:cNvPr id="16" name="Shape 13"/>
          <p:cNvSpPr/>
          <p:nvPr/>
        </p:nvSpPr>
        <p:spPr>
          <a:xfrm>
            <a:off x="7027164" y="4389120"/>
            <a:ext cx="146304" cy="0"/>
          </a:xfrm>
          <a:prstGeom prst="line">
            <a:avLst/>
          </a:prstGeom>
          <a:noFill/>
          <a:ln w="19050">
            <a:solidFill>
              <a:srgbClr val="4B5866"/>
            </a:solidFill>
            <a:prstDash val="solid"/>
            <a:tailEnd type="triangle"/>
          </a:ln>
        </p:spPr>
      </p:sp>
      <p:sp>
        <p:nvSpPr>
          <p:cNvPr id="17" name="Goal, 0 collisions"/>
          <p:cNvSpPr/>
          <p:nvPr/>
        </p:nvSpPr>
        <p:spPr>
          <a:xfrm>
            <a:off x="7205472" y="4206240"/>
            <a:ext cx="1481328" cy="365760"/>
          </a:xfrm>
          <a:prstGeom prst="roundRect">
            <a:avLst>
              <a:gd name="adj" fmla="val 15000"/>
            </a:avLst>
          </a:prstGeom>
          <a:solidFill>
            <a:srgbClr val="0B7D73"/>
          </a:solidFill>
          <a:ln/>
        </p:spPr>
      </p:sp>
      <p:sp>
        <p:nvSpPr>
          <p:cNvPr id="18" name="Text 15"/>
          <p:cNvSpPr txBox="1"/>
          <p:nvPr/>
        </p:nvSpPr>
        <p:spPr>
          <a:xfrm>
            <a:off x="7205472" y="4206240"/>
            <a:ext cx="1481328" cy="365760"/>
          </a:xfrm>
          <a:prstGeom prst="rect">
            <a:avLst/>
          </a:prstGeom>
          <a:noFill/>
          <a:ln/>
        </p:spPr>
        <p:txBody>
          <a:bodyPr wrap="square" lIns="0" tIns="0" rIns="0" bIns="0" rtlCol="0" anchor="ctr"/>
          <a:lstStyle/>
          <a:p>
            <a:pPr marL="0" indent="0" algn="ctr">
              <a:buNone/>
            </a:pPr>
            <a:r>
              <a:rPr lang="en-US" sz="1200" b="1" dirty="0">
                <a:solidFill>
                  <a:schemeClr val="bg1"/>
                </a:solidFill>
              </a:rPr>
              <a:t>Goal, 0 collisions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Results: predictive vs reactive, 9 runs each</a:t>
            </a:r>
            <a:endParaRPr lang="en-US" sz="2600" dirty="0"/>
          </a:p>
        </p:txBody>
      </p:sp>
      <p:graphicFrame>
        <p:nvGraphicFramePr>
          <p:cNvPr id="3" name="Chart 0"/>
          <p:cNvGraphicFramePr/>
          <p:nvPr/>
        </p:nvGraphicFramePr>
        <p:xfrm>
          <a:off x="457200" y="960120"/>
          <a:ext cx="493776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669280" y="1143000"/>
            <a:ext cx="3017520" cy="457200"/>
          </a:xfrm>
          <a:prstGeom prst="rect">
            <a:avLst/>
          </a:prstGeom>
          <a:noFill/>
          <a:ln/>
        </p:spPr>
        <p:txBody>
          <a:bodyPr wrap="square" lIns="0" tIns="0" rIns="0" bIns="0" rtlCol="0" anchor="t"/>
          <a:lstStyle/>
          <a:p>
            <a:pPr marL="0" indent="0">
              <a:buNone/>
            </a:pPr>
            <a:r>
              <a:rPr lang="en-US" sz="2600" b="1" dirty="0">
                <a:solidFill>
                  <a:schemeClr val="accent1"/>
                </a:solidFill>
              </a:rPr>
              <a:t>0.60 m</a:t>
            </a:r>
            <a:endParaRPr lang="en-US" sz="2600" dirty="0"/>
          </a:p>
        </p:txBody>
      </p:sp>
      <p:sp>
        <p:nvSpPr>
          <p:cNvPr id="5" name="Text 2"/>
          <p:cNvSpPr txBox="1"/>
          <p:nvPr/>
        </p:nvSpPr>
        <p:spPr>
          <a:xfrm>
            <a:off x="5669280" y="1600200"/>
            <a:ext cx="3017520" cy="228600"/>
          </a:xfrm>
          <a:prstGeom prst="rect">
            <a:avLst/>
          </a:prstGeom>
          <a:noFill/>
          <a:ln/>
        </p:spPr>
        <p:txBody>
          <a:bodyPr wrap="square" lIns="0" tIns="0" rIns="0" bIns="0" rtlCol="0" anchor="t"/>
          <a:lstStyle/>
          <a:p>
            <a:pPr marL="0" indent="0">
              <a:buNone/>
            </a:pPr>
            <a:r>
              <a:rPr lang="en-US" sz="1200" dirty="0">
                <a:solidFill>
                  <a:schemeClr val="tx1"/>
                </a:solidFill>
              </a:rPr>
              <a:t>closest approach to the person, worst run</a:t>
            </a:r>
            <a:endParaRPr lang="en-US" sz="1200" dirty="0"/>
          </a:p>
        </p:txBody>
      </p:sp>
      <p:sp>
        <p:nvSpPr>
          <p:cNvPr id="6" name="Text 3"/>
          <p:cNvSpPr txBox="1"/>
          <p:nvPr/>
        </p:nvSpPr>
        <p:spPr>
          <a:xfrm>
            <a:off x="5669280" y="1819656"/>
            <a:ext cx="3017520" cy="228600"/>
          </a:xfrm>
          <a:prstGeom prst="rect">
            <a:avLst/>
          </a:prstGeom>
          <a:noFill/>
          <a:ln/>
        </p:spPr>
        <p:txBody>
          <a:bodyPr wrap="square" lIns="0" tIns="0" rIns="0" bIns="0" rtlCol="0" anchor="t"/>
          <a:lstStyle/>
          <a:p>
            <a:pPr marL="0" indent="0">
              <a:buNone/>
            </a:pPr>
            <a:r>
              <a:rPr lang="en-US" sz="1100" dirty="0">
                <a:solidFill>
                  <a:schemeClr val="accent5"/>
                </a:solidFill>
              </a:rPr>
              <a:t>reactive: −0.03 m (contact)</a:t>
            </a:r>
            <a:endParaRPr lang="en-US" sz="1100" dirty="0"/>
          </a:p>
        </p:txBody>
      </p:sp>
      <p:sp>
        <p:nvSpPr>
          <p:cNvPr id="7" name="Text 4"/>
          <p:cNvSpPr txBox="1"/>
          <p:nvPr/>
        </p:nvSpPr>
        <p:spPr>
          <a:xfrm>
            <a:off x="5669280" y="2167128"/>
            <a:ext cx="3017520" cy="457200"/>
          </a:xfrm>
          <a:prstGeom prst="rect">
            <a:avLst/>
          </a:prstGeom>
          <a:noFill/>
          <a:ln/>
        </p:spPr>
        <p:txBody>
          <a:bodyPr wrap="square" lIns="0" tIns="0" rIns="0" bIns="0" rtlCol="0" anchor="t"/>
          <a:lstStyle/>
          <a:p>
            <a:pPr marL="0" indent="0">
              <a:buNone/>
            </a:pPr>
            <a:r>
              <a:rPr lang="en-US" sz="2600" b="1" dirty="0">
                <a:solidFill>
                  <a:schemeClr val="accent1"/>
                </a:solidFill>
              </a:rPr>
              <a:t>1.36 m</a:t>
            </a:r>
            <a:endParaRPr lang="en-US" sz="2600" dirty="0"/>
          </a:p>
        </p:txBody>
      </p:sp>
      <p:sp>
        <p:nvSpPr>
          <p:cNvPr id="8" name="Text 5"/>
          <p:cNvSpPr txBox="1"/>
          <p:nvPr/>
        </p:nvSpPr>
        <p:spPr>
          <a:xfrm>
            <a:off x="5669280" y="2624328"/>
            <a:ext cx="3017520" cy="228600"/>
          </a:xfrm>
          <a:prstGeom prst="rect">
            <a:avLst/>
          </a:prstGeom>
          <a:noFill/>
          <a:ln/>
        </p:spPr>
        <p:txBody>
          <a:bodyPr wrap="square" lIns="0" tIns="0" rIns="0" bIns="0" rtlCol="0" anchor="t"/>
          <a:lstStyle/>
          <a:p>
            <a:pPr marL="0" indent="0">
              <a:buNone/>
            </a:pPr>
            <a:r>
              <a:rPr lang="en-US" sz="1200" dirty="0">
                <a:solidFill>
                  <a:schemeClr val="tx1"/>
                </a:solidFill>
              </a:rPr>
              <a:t>average closest approach</a:t>
            </a:r>
            <a:endParaRPr lang="en-US" sz="1200" dirty="0"/>
          </a:p>
        </p:txBody>
      </p:sp>
      <p:sp>
        <p:nvSpPr>
          <p:cNvPr id="9" name="Text 6"/>
          <p:cNvSpPr txBox="1"/>
          <p:nvPr/>
        </p:nvSpPr>
        <p:spPr>
          <a:xfrm>
            <a:off x="5669280" y="2843784"/>
            <a:ext cx="3017520" cy="228600"/>
          </a:xfrm>
          <a:prstGeom prst="rect">
            <a:avLst/>
          </a:prstGeom>
          <a:noFill/>
          <a:ln/>
        </p:spPr>
        <p:txBody>
          <a:bodyPr wrap="square" lIns="0" tIns="0" rIns="0" bIns="0" rtlCol="0" anchor="t"/>
          <a:lstStyle/>
          <a:p>
            <a:pPr marL="0" indent="0">
              <a:buNone/>
            </a:pPr>
            <a:r>
              <a:rPr lang="en-US" sz="1100" dirty="0">
                <a:solidFill>
                  <a:schemeClr val="accent5"/>
                </a:solidFill>
              </a:rPr>
              <a:t>reactive: 1.01 m</a:t>
            </a:r>
            <a:endParaRPr lang="en-US" sz="1100" dirty="0"/>
          </a:p>
        </p:txBody>
      </p:sp>
      <p:sp>
        <p:nvSpPr>
          <p:cNvPr id="10" name="Text 7"/>
          <p:cNvSpPr txBox="1"/>
          <p:nvPr/>
        </p:nvSpPr>
        <p:spPr>
          <a:xfrm>
            <a:off x="5669280" y="3191256"/>
            <a:ext cx="3017520" cy="457200"/>
          </a:xfrm>
          <a:prstGeom prst="rect">
            <a:avLst/>
          </a:prstGeom>
          <a:noFill/>
          <a:ln/>
        </p:spPr>
        <p:txBody>
          <a:bodyPr wrap="square" lIns="0" tIns="0" rIns="0" bIns="0" rtlCol="0" anchor="t"/>
          <a:lstStyle/>
          <a:p>
            <a:pPr marL="0" indent="0">
              <a:buNone/>
            </a:pPr>
            <a:r>
              <a:rPr lang="en-US" sz="2600" b="1" dirty="0">
                <a:solidFill>
                  <a:schemeClr val="tx2"/>
                </a:solidFill>
              </a:rPr>
              <a:t>+1.5 s</a:t>
            </a:r>
            <a:endParaRPr lang="en-US" sz="2600" dirty="0"/>
          </a:p>
        </p:txBody>
      </p:sp>
      <p:sp>
        <p:nvSpPr>
          <p:cNvPr id="11" name="Text 8"/>
          <p:cNvSpPr txBox="1"/>
          <p:nvPr/>
        </p:nvSpPr>
        <p:spPr>
          <a:xfrm>
            <a:off x="5669280" y="3648456"/>
            <a:ext cx="3017520" cy="228600"/>
          </a:xfrm>
          <a:prstGeom prst="rect">
            <a:avLst/>
          </a:prstGeom>
          <a:noFill/>
          <a:ln/>
        </p:spPr>
        <p:txBody>
          <a:bodyPr wrap="square" lIns="0" tIns="0" rIns="0" bIns="0" rtlCol="0" anchor="t"/>
          <a:lstStyle/>
          <a:p>
            <a:pPr marL="0" indent="0">
              <a:buNone/>
            </a:pPr>
            <a:r>
              <a:rPr lang="en-US" sz="1200" dirty="0">
                <a:solidFill>
                  <a:schemeClr val="tx1"/>
                </a:solidFill>
              </a:rPr>
              <a:t>longer per mission</a:t>
            </a:r>
            <a:endParaRPr lang="en-US" sz="1200" dirty="0"/>
          </a:p>
        </p:txBody>
      </p:sp>
      <p:sp>
        <p:nvSpPr>
          <p:cNvPr id="12" name="Text 9"/>
          <p:cNvSpPr txBox="1"/>
          <p:nvPr/>
        </p:nvSpPr>
        <p:spPr>
          <a:xfrm>
            <a:off x="5669280" y="3867912"/>
            <a:ext cx="3017520" cy="228600"/>
          </a:xfrm>
          <a:prstGeom prst="rect">
            <a:avLst/>
          </a:prstGeom>
          <a:noFill/>
          <a:ln/>
        </p:spPr>
        <p:txBody>
          <a:bodyPr wrap="square" lIns="0" tIns="0" rIns="0" bIns="0" rtlCol="0" anchor="t"/>
          <a:lstStyle/>
          <a:p>
            <a:pPr marL="0" indent="0">
              <a:buNone/>
            </a:pPr>
            <a:r>
              <a:rPr lang="en-US" sz="1100" dirty="0">
                <a:solidFill>
                  <a:schemeClr val="accent5"/>
                </a:solidFill>
              </a:rPr>
              <a:t>the cost of slowing early</a:t>
            </a:r>
            <a:endParaRPr lang="en-US" sz="1100" dirty="0"/>
          </a:p>
        </p:txBody>
      </p:sp>
      <p:sp>
        <p:nvSpPr>
          <p:cNvPr id="13" name="Text 10"/>
          <p:cNvSpPr txBox="1"/>
          <p:nvPr/>
        </p:nvSpPr>
        <p:spPr>
          <a:xfrm>
            <a:off x="457200" y="4434840"/>
            <a:ext cx="8229600" cy="228600"/>
          </a:xfrm>
          <a:prstGeom prst="rect">
            <a:avLst/>
          </a:prstGeom>
          <a:noFill/>
          <a:ln/>
        </p:spPr>
        <p:txBody>
          <a:bodyPr wrap="square" lIns="0" tIns="0" rIns="0" bIns="0" rtlCol="0" anchor="t"/>
          <a:lstStyle/>
          <a:p>
            <a:pPr marL="0" indent="0">
              <a:buNone/>
            </a:pPr>
            <a:r>
              <a:rPr lang="en-US" sz="1000" i="1" dirty="0">
                <a:solidFill>
                  <a:schemeClr val="accent5"/>
                </a:solidFill>
              </a:rPr>
              <a:t>Source: backend/evaluation/results.md (python -m app.evaluation). Simulation only, not a safety certification.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Hardware we use</a:t>
            </a:r>
            <a:endParaRPr lang="en-US" sz="2600" dirty="0"/>
          </a:p>
        </p:txBody>
      </p:sp>
      <p:sp>
        <p:nvSpPr>
          <p:cNvPr id="3" name="Text 1"/>
          <p:cNvSpPr txBox="1"/>
          <p:nvPr/>
        </p:nvSpPr>
        <p:spPr>
          <a:xfrm>
            <a:off x="457200" y="914400"/>
            <a:ext cx="4572000" cy="274320"/>
          </a:xfrm>
          <a:prstGeom prst="rect">
            <a:avLst/>
          </a:prstGeom>
          <a:noFill/>
          <a:ln/>
        </p:spPr>
        <p:txBody>
          <a:bodyPr wrap="square" lIns="0" tIns="0" rIns="0" bIns="0" rtlCol="0" anchor="t"/>
          <a:lstStyle/>
          <a:p>
            <a:pPr marL="0" indent="0">
              <a:buNone/>
            </a:pPr>
            <a:r>
              <a:rPr lang="en-US" sz="1200" b="1" dirty="0">
                <a:solidFill>
                  <a:schemeClr val="accent1"/>
                </a:solidFill>
              </a:rPr>
              <a:t>Electronics (same parts as in our Wokwi simulation)</a:t>
            </a:r>
            <a:endParaRPr lang="en-US" sz="1200" dirty="0"/>
          </a:p>
        </p:txBody>
      </p:sp>
      <p:pic>
        <p:nvPicPr>
          <p:cNvPr id="4" name="Arduino Mega 2560" descr="Arduino Mega 2560"/>
          <p:cNvPicPr>
            <a:picLocks noChangeAspect="1"/>
          </p:cNvPicPr>
          <p:nvPr/>
        </p:nvPicPr>
        <p:blipFill>
          <a:blip r:embed="rId3"/>
          <a:stretch>
            <a:fillRect/>
          </a:stretch>
        </p:blipFill>
        <p:spPr>
          <a:xfrm>
            <a:off x="457200" y="1280160"/>
            <a:ext cx="2651760" cy="1307592"/>
          </a:xfrm>
          <a:prstGeom prst="rect">
            <a:avLst/>
          </a:prstGeom>
        </p:spPr>
      </p:pic>
      <p:sp>
        <p:nvSpPr>
          <p:cNvPr id="5" name="Text 2"/>
          <p:cNvSpPr txBox="1"/>
          <p:nvPr/>
        </p:nvSpPr>
        <p:spPr>
          <a:xfrm>
            <a:off x="457200" y="2660904"/>
            <a:ext cx="2651760" cy="201168"/>
          </a:xfrm>
          <a:prstGeom prst="rect">
            <a:avLst/>
          </a:prstGeom>
          <a:noFill/>
          <a:ln/>
        </p:spPr>
        <p:txBody>
          <a:bodyPr wrap="square" lIns="0" tIns="0" rIns="0" bIns="0" rtlCol="0" anchor="t"/>
          <a:lstStyle/>
          <a:p>
            <a:pPr marL="0" indent="0">
              <a:buNone/>
            </a:pPr>
            <a:r>
              <a:rPr lang="en-US" sz="1100" b="1" dirty="0">
                <a:solidFill>
                  <a:schemeClr val="tx1"/>
                </a:solidFill>
              </a:rPr>
              <a:t>Arduino Mega 2560</a:t>
            </a:r>
            <a:endParaRPr lang="en-US" sz="1100" dirty="0"/>
          </a:p>
        </p:txBody>
      </p:sp>
      <p:sp>
        <p:nvSpPr>
          <p:cNvPr id="6" name="Text 3"/>
          <p:cNvSpPr txBox="1"/>
          <p:nvPr/>
        </p:nvSpPr>
        <p:spPr>
          <a:xfrm>
            <a:off x="457200" y="2862072"/>
            <a:ext cx="2651760" cy="201168"/>
          </a:xfrm>
          <a:prstGeom prst="rect">
            <a:avLst/>
          </a:prstGeom>
          <a:noFill/>
          <a:ln/>
        </p:spPr>
        <p:txBody>
          <a:bodyPr wrap="square" lIns="0" tIns="0" rIns="0" bIns="0" rtlCol="0" anchor="t"/>
          <a:lstStyle/>
          <a:p>
            <a:pPr marL="0" indent="0">
              <a:buNone/>
            </a:pPr>
            <a:r>
              <a:rPr lang="en-US" sz="1000" dirty="0">
                <a:solidFill>
                  <a:schemeClr val="accent5"/>
                </a:solidFill>
              </a:rPr>
              <a:t>controller and safety</a:t>
            </a:r>
            <a:endParaRPr lang="en-US" sz="1000" dirty="0"/>
          </a:p>
        </p:txBody>
      </p:sp>
      <p:pic>
        <p:nvPicPr>
          <p:cNvPr id="7" name="HC-SR04 × 6" descr="HC-SR04 × 6"/>
          <p:cNvPicPr>
            <a:picLocks noChangeAspect="1"/>
          </p:cNvPicPr>
          <p:nvPr/>
        </p:nvPicPr>
        <p:blipFill>
          <a:blip r:embed="rId4"/>
          <a:stretch>
            <a:fillRect/>
          </a:stretch>
        </p:blipFill>
        <p:spPr>
          <a:xfrm>
            <a:off x="3337560" y="1325880"/>
            <a:ext cx="1417320" cy="786384"/>
          </a:xfrm>
          <a:prstGeom prst="rect">
            <a:avLst/>
          </a:prstGeom>
        </p:spPr>
      </p:pic>
      <p:sp>
        <p:nvSpPr>
          <p:cNvPr id="8" name="Text 4"/>
          <p:cNvSpPr txBox="1"/>
          <p:nvPr/>
        </p:nvSpPr>
        <p:spPr>
          <a:xfrm>
            <a:off x="3337560" y="2185416"/>
            <a:ext cx="1417320" cy="201168"/>
          </a:xfrm>
          <a:prstGeom prst="rect">
            <a:avLst/>
          </a:prstGeom>
          <a:noFill/>
          <a:ln/>
        </p:spPr>
        <p:txBody>
          <a:bodyPr wrap="square" lIns="0" tIns="0" rIns="0" bIns="0" rtlCol="0" anchor="t"/>
          <a:lstStyle/>
          <a:p>
            <a:pPr marL="0" indent="0">
              <a:buNone/>
            </a:pPr>
            <a:r>
              <a:rPr lang="en-US" sz="1100" b="1" dirty="0">
                <a:solidFill>
                  <a:schemeClr val="tx1"/>
                </a:solidFill>
              </a:rPr>
              <a:t>HC-SR04 × 6</a:t>
            </a:r>
            <a:endParaRPr lang="en-US" sz="1100" dirty="0"/>
          </a:p>
        </p:txBody>
      </p:sp>
      <p:sp>
        <p:nvSpPr>
          <p:cNvPr id="9" name="Text 5"/>
          <p:cNvSpPr txBox="1"/>
          <p:nvPr/>
        </p:nvSpPr>
        <p:spPr>
          <a:xfrm>
            <a:off x="3337560" y="2386584"/>
            <a:ext cx="1417320" cy="201168"/>
          </a:xfrm>
          <a:prstGeom prst="rect">
            <a:avLst/>
          </a:prstGeom>
          <a:noFill/>
          <a:ln/>
        </p:spPr>
        <p:txBody>
          <a:bodyPr wrap="square" lIns="0" tIns="0" rIns="0" bIns="0" rtlCol="0" anchor="t"/>
          <a:lstStyle/>
          <a:p>
            <a:pPr marL="0" indent="0">
              <a:buNone/>
            </a:pPr>
            <a:r>
              <a:rPr lang="en-US" sz="1000" dirty="0">
                <a:solidFill>
                  <a:schemeClr val="accent5"/>
                </a:solidFill>
              </a:rPr>
              <a:t>distance all around</a:t>
            </a:r>
            <a:endParaRPr lang="en-US" sz="1000" dirty="0"/>
          </a:p>
        </p:txBody>
      </p:sp>
      <p:pic>
        <p:nvPicPr>
          <p:cNvPr id="10" name="MPU6050" descr="MPU6050"/>
          <p:cNvPicPr>
            <a:picLocks noChangeAspect="1"/>
          </p:cNvPicPr>
          <p:nvPr/>
        </p:nvPicPr>
        <p:blipFill>
          <a:blip r:embed="rId5"/>
          <a:stretch>
            <a:fillRect/>
          </a:stretch>
        </p:blipFill>
        <p:spPr>
          <a:xfrm>
            <a:off x="457200" y="3154680"/>
            <a:ext cx="822960" cy="612648"/>
          </a:xfrm>
          <a:prstGeom prst="rect">
            <a:avLst/>
          </a:prstGeom>
        </p:spPr>
      </p:pic>
      <p:sp>
        <p:nvSpPr>
          <p:cNvPr id="11" name="Text 6"/>
          <p:cNvSpPr txBox="1"/>
          <p:nvPr/>
        </p:nvSpPr>
        <p:spPr>
          <a:xfrm>
            <a:off x="457200" y="3840480"/>
            <a:ext cx="1097280" cy="201168"/>
          </a:xfrm>
          <a:prstGeom prst="rect">
            <a:avLst/>
          </a:prstGeom>
          <a:noFill/>
          <a:ln/>
        </p:spPr>
        <p:txBody>
          <a:bodyPr wrap="square" lIns="0" tIns="0" rIns="0" bIns="0" rtlCol="0" anchor="t"/>
          <a:lstStyle/>
          <a:p>
            <a:pPr marL="0" indent="0">
              <a:buNone/>
            </a:pPr>
            <a:r>
              <a:rPr lang="en-US" sz="1100" b="1" dirty="0">
                <a:solidFill>
                  <a:schemeClr val="tx1"/>
                </a:solidFill>
              </a:rPr>
              <a:t>MPU6050</a:t>
            </a:r>
            <a:endParaRPr lang="en-US" sz="1100" dirty="0"/>
          </a:p>
        </p:txBody>
      </p:sp>
      <p:sp>
        <p:nvSpPr>
          <p:cNvPr id="12" name="Text 7"/>
          <p:cNvSpPr txBox="1"/>
          <p:nvPr/>
        </p:nvSpPr>
        <p:spPr>
          <a:xfrm>
            <a:off x="457200" y="4041648"/>
            <a:ext cx="1097280" cy="201168"/>
          </a:xfrm>
          <a:prstGeom prst="rect">
            <a:avLst/>
          </a:prstGeom>
          <a:noFill/>
          <a:ln/>
        </p:spPr>
        <p:txBody>
          <a:bodyPr wrap="square" lIns="0" tIns="0" rIns="0" bIns="0" rtlCol="0" anchor="t"/>
          <a:lstStyle/>
          <a:p>
            <a:pPr marL="0" indent="0">
              <a:buNone/>
            </a:pPr>
            <a:r>
              <a:rPr lang="en-US" sz="1000" dirty="0">
                <a:solidFill>
                  <a:schemeClr val="accent5"/>
                </a:solidFill>
              </a:rPr>
              <a:t>IMU, turning rate</a:t>
            </a:r>
            <a:endParaRPr lang="en-US" sz="1000" dirty="0"/>
          </a:p>
        </p:txBody>
      </p:sp>
      <p:pic>
        <p:nvPicPr>
          <p:cNvPr id="13" name="E-stop" descr="E-stop"/>
          <p:cNvPicPr>
            <a:picLocks noChangeAspect="1"/>
          </p:cNvPicPr>
          <p:nvPr/>
        </p:nvPicPr>
        <p:blipFill>
          <a:blip r:embed="rId6"/>
          <a:stretch>
            <a:fillRect/>
          </a:stretch>
        </p:blipFill>
        <p:spPr>
          <a:xfrm>
            <a:off x="1600200" y="3200400"/>
            <a:ext cx="749808" cy="502920"/>
          </a:xfrm>
          <a:prstGeom prst="rect">
            <a:avLst/>
          </a:prstGeom>
        </p:spPr>
      </p:pic>
      <p:sp>
        <p:nvSpPr>
          <p:cNvPr id="14" name="Text 8"/>
          <p:cNvSpPr txBox="1"/>
          <p:nvPr/>
        </p:nvSpPr>
        <p:spPr>
          <a:xfrm>
            <a:off x="1600200" y="3840480"/>
            <a:ext cx="1097280" cy="201168"/>
          </a:xfrm>
          <a:prstGeom prst="rect">
            <a:avLst/>
          </a:prstGeom>
          <a:noFill/>
          <a:ln/>
        </p:spPr>
        <p:txBody>
          <a:bodyPr wrap="square" lIns="0" tIns="0" rIns="0" bIns="0" rtlCol="0" anchor="t"/>
          <a:lstStyle/>
          <a:p>
            <a:pPr marL="0" indent="0">
              <a:buNone/>
            </a:pPr>
            <a:r>
              <a:rPr lang="en-US" sz="1100" b="1" dirty="0">
                <a:solidFill>
                  <a:schemeClr val="tx1"/>
                </a:solidFill>
              </a:rPr>
              <a:t>E-stop</a:t>
            </a:r>
            <a:endParaRPr lang="en-US" sz="1100" dirty="0"/>
          </a:p>
        </p:txBody>
      </p:sp>
      <p:sp>
        <p:nvSpPr>
          <p:cNvPr id="15" name="Text 9"/>
          <p:cNvSpPr txBox="1"/>
          <p:nvPr/>
        </p:nvSpPr>
        <p:spPr>
          <a:xfrm>
            <a:off x="1600200" y="4041648"/>
            <a:ext cx="1097280" cy="201168"/>
          </a:xfrm>
          <a:prstGeom prst="rect">
            <a:avLst/>
          </a:prstGeom>
          <a:noFill/>
          <a:ln/>
        </p:spPr>
        <p:txBody>
          <a:bodyPr wrap="square" lIns="0" tIns="0" rIns="0" bIns="0" rtlCol="0" anchor="t"/>
          <a:lstStyle/>
          <a:p>
            <a:pPr marL="0" indent="0">
              <a:buNone/>
            </a:pPr>
            <a:r>
              <a:rPr lang="en-US" sz="1000" dirty="0">
                <a:solidFill>
                  <a:schemeClr val="accent5"/>
                </a:solidFill>
              </a:rPr>
              <a:t>cuts motor power</a:t>
            </a:r>
            <a:endParaRPr lang="en-US" sz="1000" dirty="0"/>
          </a:p>
        </p:txBody>
      </p:sp>
      <p:pic>
        <p:nvPicPr>
          <p:cNvPr id="16" name="Buzzer" descr="Buzzer"/>
          <p:cNvPicPr>
            <a:picLocks noChangeAspect="1"/>
          </p:cNvPicPr>
          <p:nvPr/>
        </p:nvPicPr>
        <p:blipFill>
          <a:blip r:embed="rId7"/>
          <a:stretch>
            <a:fillRect/>
          </a:stretch>
        </p:blipFill>
        <p:spPr>
          <a:xfrm>
            <a:off x="2697480" y="3108960"/>
            <a:ext cx="548640" cy="649224"/>
          </a:xfrm>
          <a:prstGeom prst="rect">
            <a:avLst/>
          </a:prstGeom>
        </p:spPr>
      </p:pic>
      <p:sp>
        <p:nvSpPr>
          <p:cNvPr id="17" name="Text 10"/>
          <p:cNvSpPr txBox="1"/>
          <p:nvPr/>
        </p:nvSpPr>
        <p:spPr>
          <a:xfrm>
            <a:off x="2697480" y="3840480"/>
            <a:ext cx="1097280" cy="201168"/>
          </a:xfrm>
          <a:prstGeom prst="rect">
            <a:avLst/>
          </a:prstGeom>
          <a:noFill/>
          <a:ln/>
        </p:spPr>
        <p:txBody>
          <a:bodyPr wrap="square" lIns="0" tIns="0" rIns="0" bIns="0" rtlCol="0" anchor="t"/>
          <a:lstStyle/>
          <a:p>
            <a:pPr marL="0" indent="0">
              <a:buNone/>
            </a:pPr>
            <a:r>
              <a:rPr lang="en-US" sz="1100" b="1" dirty="0">
                <a:solidFill>
                  <a:schemeClr val="tx1"/>
                </a:solidFill>
              </a:rPr>
              <a:t>Buzzer</a:t>
            </a:r>
            <a:endParaRPr lang="en-US" sz="1100" dirty="0"/>
          </a:p>
        </p:txBody>
      </p:sp>
      <p:sp>
        <p:nvSpPr>
          <p:cNvPr id="18" name="Text 11"/>
          <p:cNvSpPr txBox="1"/>
          <p:nvPr/>
        </p:nvSpPr>
        <p:spPr>
          <a:xfrm>
            <a:off x="2697480" y="4041648"/>
            <a:ext cx="1097280" cy="201168"/>
          </a:xfrm>
          <a:prstGeom prst="rect">
            <a:avLst/>
          </a:prstGeom>
          <a:noFill/>
          <a:ln/>
        </p:spPr>
        <p:txBody>
          <a:bodyPr wrap="square" lIns="0" tIns="0" rIns="0" bIns="0" rtlCol="0" anchor="t"/>
          <a:lstStyle/>
          <a:p>
            <a:pPr marL="0" indent="0">
              <a:buNone/>
            </a:pPr>
            <a:r>
              <a:rPr lang="en-US" sz="1000" dirty="0">
                <a:solidFill>
                  <a:schemeClr val="accent5"/>
                </a:solidFill>
              </a:rPr>
              <a:t>danger alarm</a:t>
            </a:r>
            <a:endParaRPr lang="en-US" sz="1000" dirty="0"/>
          </a:p>
        </p:txBody>
      </p:sp>
      <p:pic>
        <p:nvPicPr>
          <p:cNvPr id="19" name="Battery sense" descr="Battery sense"/>
          <p:cNvPicPr>
            <a:picLocks noChangeAspect="1"/>
          </p:cNvPicPr>
          <p:nvPr/>
        </p:nvPicPr>
        <p:blipFill>
          <a:blip r:embed="rId8"/>
          <a:stretch>
            <a:fillRect/>
          </a:stretch>
        </p:blipFill>
        <p:spPr>
          <a:xfrm>
            <a:off x="3611880" y="3127248"/>
            <a:ext cx="621792" cy="621792"/>
          </a:xfrm>
          <a:prstGeom prst="rect">
            <a:avLst/>
          </a:prstGeom>
        </p:spPr>
      </p:pic>
      <p:sp>
        <p:nvSpPr>
          <p:cNvPr id="20" name="Text 12"/>
          <p:cNvSpPr txBox="1"/>
          <p:nvPr/>
        </p:nvSpPr>
        <p:spPr>
          <a:xfrm>
            <a:off x="3611880" y="3840480"/>
            <a:ext cx="1097280" cy="201168"/>
          </a:xfrm>
          <a:prstGeom prst="rect">
            <a:avLst/>
          </a:prstGeom>
          <a:noFill/>
          <a:ln/>
        </p:spPr>
        <p:txBody>
          <a:bodyPr wrap="square" lIns="0" tIns="0" rIns="0" bIns="0" rtlCol="0" anchor="t"/>
          <a:lstStyle/>
          <a:p>
            <a:pPr marL="0" indent="0">
              <a:buNone/>
            </a:pPr>
            <a:r>
              <a:rPr lang="en-US" sz="1100" b="1" dirty="0">
                <a:solidFill>
                  <a:schemeClr val="tx1"/>
                </a:solidFill>
              </a:rPr>
              <a:t>Battery sense</a:t>
            </a:r>
            <a:endParaRPr lang="en-US" sz="1100" dirty="0"/>
          </a:p>
        </p:txBody>
      </p:sp>
      <p:sp>
        <p:nvSpPr>
          <p:cNvPr id="21" name="Text 13"/>
          <p:cNvSpPr txBox="1"/>
          <p:nvPr/>
        </p:nvSpPr>
        <p:spPr>
          <a:xfrm>
            <a:off x="3611880" y="4041648"/>
            <a:ext cx="1097280" cy="201168"/>
          </a:xfrm>
          <a:prstGeom prst="rect">
            <a:avLst/>
          </a:prstGeom>
          <a:noFill/>
          <a:ln/>
        </p:spPr>
        <p:txBody>
          <a:bodyPr wrap="square" lIns="0" tIns="0" rIns="0" bIns="0" rtlCol="0" anchor="t"/>
          <a:lstStyle/>
          <a:p>
            <a:pPr marL="0" indent="0">
              <a:buNone/>
            </a:pPr>
            <a:r>
              <a:rPr lang="en-US" sz="1000" dirty="0">
                <a:solidFill>
                  <a:schemeClr val="accent5"/>
                </a:solidFill>
              </a:rPr>
              <a:t>knob in Wokwi</a:t>
            </a:r>
            <a:endParaRPr lang="en-US" sz="1000" dirty="0"/>
          </a:p>
        </p:txBody>
      </p:sp>
      <p:sp>
        <p:nvSpPr>
          <p:cNvPr id="22" name="Text 14"/>
          <p:cNvSpPr txBox="1"/>
          <p:nvPr/>
        </p:nvSpPr>
        <p:spPr>
          <a:xfrm>
            <a:off x="5120640" y="914400"/>
            <a:ext cx="3566160" cy="274320"/>
          </a:xfrm>
          <a:prstGeom prst="rect">
            <a:avLst/>
          </a:prstGeom>
          <a:noFill/>
          <a:ln/>
        </p:spPr>
        <p:txBody>
          <a:bodyPr wrap="square" lIns="0" tIns="0" rIns="0" bIns="0" rtlCol="0" anchor="t"/>
          <a:lstStyle/>
          <a:p>
            <a:pPr marL="0" indent="0">
              <a:buNone/>
            </a:pPr>
            <a:r>
              <a:rPr lang="en-US" sz="1200" b="1" dirty="0">
                <a:solidFill>
                  <a:schemeClr val="accent1"/>
                </a:solidFill>
              </a:rPr>
              <a:t>Bought off the shelf</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120640" y="1234440"/>
          <a:ext cx="3566160" cy="2743200"/>
        </p:xfrm>
        <a:graphic>
          <a:graphicData uri="http://schemas.openxmlformats.org/drawingml/2006/table">
            <a:tbl>
              <a:tblPr/>
              <a:tblGrid>
                <a:gridCol w="1691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274320">
                <a:tc>
                  <a:txBody>
                    <a:bodyPr/>
                    <a:lstStyle/>
                    <a:p>
                      <a:pPr marL="0" indent="0">
                        <a:buNone/>
                      </a:pPr>
                      <a:r>
                        <a:rPr lang="en-US" sz="1050" b="1" dirty="0">
                          <a:solidFill>
                            <a:srgbClr val="4B5866"/>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tc>
                  <a:txBody>
                    <a:bodyPr/>
                    <a:lstStyle/>
                    <a:p>
                      <a:pPr marL="0" indent="0">
                        <a:buNone/>
                      </a:pPr>
                      <a:r>
                        <a:rPr lang="en-US" sz="1050" b="1" dirty="0">
                          <a:solidFill>
                            <a:srgbClr val="4B5866"/>
                          </a:solidFill>
                          <a:latin typeface="Calibri" pitchFamily="34" charset="0"/>
                          <a:ea typeface="Calibri" pitchFamily="34" charset="-122"/>
                          <a:cs typeface="Calibri" pitchFamily="34" charset="-120"/>
                        </a:rPr>
                        <a:t>Job</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tc>
                  <a:txBody>
                    <a:bodyPr/>
                    <a:lstStyle/>
                    <a:p>
                      <a:pPr marL="0" indent="0" algn="r">
                        <a:buNone/>
                      </a:pPr>
                      <a:r>
                        <a:rPr lang="en-US" sz="1050" b="1" dirty="0">
                          <a:solidFill>
                            <a:srgbClr val="4B586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solidFill>
                      <a:srgbClr val="F3F5F7"/>
                    </a:solidFill>
                  </a:tcPr>
                </a:tc>
                <a:extLst>
                  <a:ext uri="{0D108BD9-81ED-4DB2-BD59-A6C34878D82A}">
                    <a16:rowId xmlns:a16="http://schemas.microsoft.com/office/drawing/2014/main" val="10000"/>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Laptop</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runs the backend</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owned</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RPLIDAR A1M8</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360° LiDAR, 12 m</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8,500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USB webcam</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camera for YOLOv8</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1,600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2 × JGB37 motors + MDD3A</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drive wheels</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2,900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3S Li-ion pack + charger</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motor power</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1,800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Chassis, wheels, casters</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body</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2,200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Electronics on the left</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control, safety</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2,100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1050" dirty="0">
                          <a:solidFill>
                            <a:srgbClr val="101820"/>
                          </a:solidFill>
                          <a:latin typeface="Calibri" pitchFamily="34" charset="0"/>
                          <a:ea typeface="Calibri" pitchFamily="34" charset="-122"/>
                          <a:cs typeface="Calibri" pitchFamily="34" charset="-120"/>
                        </a:rPr>
                        <a:t>Cables, USB hub, misc.</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dirty="0">
                          <a:solidFill>
                            <a:srgbClr val="101820"/>
                          </a:solidFill>
                          <a:latin typeface="Calibri" pitchFamily="34" charset="0"/>
                          <a:ea typeface="Calibri" pitchFamily="34" charset="-122"/>
                          <a:cs typeface="Calibri" pitchFamily="34" charset="-120"/>
                        </a:rPr>
                        <a:t>1,800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1050" b="1" dirty="0">
                          <a:solidFill>
                            <a:srgbClr val="101820"/>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buNone/>
                      </a:pP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tc>
                  <a:txBody>
                    <a:bodyPr/>
                    <a:lstStyle/>
                    <a:p>
                      <a:pPr marL="0" indent="0" algn="r">
                        <a:buNone/>
                      </a:pPr>
                      <a:r>
                        <a:rPr lang="en-US" sz="1050" b="1" dirty="0">
                          <a:solidFill>
                            <a:srgbClr val="101820"/>
                          </a:solidFill>
                          <a:latin typeface="Calibri" pitchFamily="34" charset="0"/>
                          <a:ea typeface="Calibri" pitchFamily="34" charset="-122"/>
                          <a:cs typeface="Calibri" pitchFamily="34" charset="-120"/>
                        </a:rPr>
                        <a:t>≈ 20,900</a:t>
                      </a:r>
                      <a:endParaRPr lang="en-US" sz="1050" dirty="0">
                        <a:latin typeface="Calibri" charset="0"/>
                        <a:ea typeface="Calibri" charset="0"/>
                        <a:cs typeface="Calibri" charset="0"/>
                      </a:endParaRPr>
                    </a:p>
                  </a:txBody>
                  <a:tcPr marL="54864" marR="54864" marT="27432" marB="27432" anchor="ctr">
                    <a:lnL w="6350" cap="flat" cmpd="sng" algn="ctr">
                      <a:solidFill>
                        <a:srgbClr val="DFE4E9"/>
                      </a:solidFill>
                      <a:prstDash val="solid"/>
                      <a:round/>
                      <a:headEnd type="none" w="med" len="med"/>
                      <a:tailEnd type="none" w="med" len="med"/>
                    </a:lnL>
                    <a:lnR w="6350" cap="flat" cmpd="sng" algn="ctr">
                      <a:solidFill>
                        <a:srgbClr val="DFE4E9"/>
                      </a:solidFill>
                      <a:prstDash val="solid"/>
                      <a:round/>
                      <a:headEnd type="none" w="med" len="med"/>
                      <a:tailEnd type="none" w="med" len="med"/>
                    </a:lnR>
                    <a:lnT w="6350" cap="flat" cmpd="sng" algn="ctr">
                      <a:solidFill>
                        <a:srgbClr val="DFE4E9"/>
                      </a:solidFill>
                      <a:prstDash val="solid"/>
                      <a:round/>
                      <a:headEnd type="none" w="med" len="med"/>
                      <a:tailEnd type="none" w="med" len="med"/>
                    </a:lnT>
                    <a:lnB w="6350" cap="flat" cmpd="sng" algn="ctr">
                      <a:solidFill>
                        <a:srgbClr val="DFE4E9"/>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24" name="Text 15"/>
          <p:cNvSpPr txBox="1"/>
          <p:nvPr/>
        </p:nvSpPr>
        <p:spPr>
          <a:xfrm>
            <a:off x="5120640" y="4206240"/>
            <a:ext cx="3566160" cy="228600"/>
          </a:xfrm>
          <a:prstGeom prst="rect">
            <a:avLst/>
          </a:prstGeom>
          <a:noFill/>
          <a:ln/>
        </p:spPr>
        <p:txBody>
          <a:bodyPr wrap="square" lIns="0" tIns="0" rIns="0" bIns="0" rtlCol="0" anchor="t"/>
          <a:lstStyle/>
          <a:p>
            <a:pPr marL="0" indent="0">
              <a:buNone/>
            </a:pPr>
            <a:r>
              <a:rPr lang="en-US" sz="1000" i="1" dirty="0">
                <a:solidFill>
                  <a:schemeClr val="accent5"/>
                </a:solidFill>
              </a:rPr>
              <a:t>Full specs and wiring: hardware/README.md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How the circuit works</a:t>
            </a:r>
            <a:endParaRPr lang="en-US" sz="2600" dirty="0"/>
          </a:p>
        </p:txBody>
      </p:sp>
      <p:pic>
        <p:nvPicPr>
          <p:cNvPr id="3" name="How the circuit works" descr="Sense, think, act: sensors into the Arduino, laptop sends speed commands, Arduino drives motors, buzzer and LED; separate power path through the E-stop"/>
          <p:cNvPicPr>
            <a:picLocks noChangeAspect="1"/>
          </p:cNvPicPr>
          <p:nvPr/>
        </p:nvPicPr>
        <p:blipFill>
          <a:blip r:embed="rId3"/>
          <a:stretch>
            <a:fillRect/>
          </a:stretch>
        </p:blipFill>
        <p:spPr>
          <a:xfrm>
            <a:off x="457200" y="960120"/>
            <a:ext cx="8229600" cy="3602736"/>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Pin wiring</a:t>
            </a:r>
            <a:endParaRPr lang="en-US" sz="2600" dirty="0"/>
          </a:p>
        </p:txBody>
      </p:sp>
      <p:pic>
        <p:nvPicPr>
          <p:cNvPr id="3" name="Circuit diagram" descr="Arduino Mega pin map: motor driver D5-D8, encoders D2/D24 and D3/D25, ultrasonic D30-D41, IMU D20/D21, battery A0, E-stop D26, buzzer D28, LED D13"/>
          <p:cNvPicPr>
            <a:picLocks noChangeAspect="1"/>
          </p:cNvPicPr>
          <p:nvPr/>
        </p:nvPicPr>
        <p:blipFill>
          <a:blip r:embed="rId3"/>
          <a:stretch>
            <a:fillRect/>
          </a:stretch>
        </p:blipFill>
        <p:spPr>
          <a:xfrm>
            <a:off x="841248" y="960120"/>
            <a:ext cx="7461504"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Simulated in Wokwi</a:t>
            </a:r>
            <a:endParaRPr lang="en-US" sz="2600" dirty="0"/>
          </a:p>
        </p:txBody>
      </p:sp>
      <p:pic>
        <p:nvPicPr>
          <p:cNvPr id="3" name="Wokwi screenshot" descr="Wokwi simulation: Arduino Mega with six HC-SR04 sensors placed around it as on the robot, IMU, E-stop, buzzer, battery knob, motor LEDs"/>
          <p:cNvPicPr>
            <a:picLocks noChangeAspect="1"/>
          </p:cNvPicPr>
          <p:nvPr/>
        </p:nvPicPr>
        <p:blipFill>
          <a:blip r:embed="rId3"/>
          <a:stretch>
            <a:fillRect/>
          </a:stretch>
        </p:blipFill>
        <p:spPr>
          <a:xfrm>
            <a:off x="457200" y="960120"/>
            <a:ext cx="4965192" cy="3474720"/>
          </a:xfrm>
          <a:prstGeom prst="rect">
            <a:avLst/>
          </a:prstGeom>
        </p:spPr>
      </p:pic>
      <p:sp>
        <p:nvSpPr>
          <p:cNvPr id="4" name="Screenshot frame"/>
          <p:cNvSpPr/>
          <p:nvPr/>
        </p:nvSpPr>
        <p:spPr>
          <a:xfrm>
            <a:off x="457200" y="960120"/>
            <a:ext cx="4965192" cy="3474720"/>
          </a:xfrm>
          <a:prstGeom prst="rect">
            <a:avLst/>
          </a:prstGeom>
          <a:ln w="12700">
            <a:solidFill>
              <a:srgbClr val="DFE4E9"/>
            </a:solidFill>
            <a:prstDash val="solid"/>
          </a:ln>
        </p:spPr>
      </p:sp>
      <p:sp>
        <p:nvSpPr>
          <p:cNvPr id="5" name="Text 2"/>
          <p:cNvSpPr txBox="1"/>
          <p:nvPr/>
        </p:nvSpPr>
        <p:spPr>
          <a:xfrm>
            <a:off x="5715000" y="960120"/>
            <a:ext cx="2971800" cy="320040"/>
          </a:xfrm>
          <a:prstGeom prst="rect">
            <a:avLst/>
          </a:prstGeom>
          <a:noFill/>
          <a:ln/>
        </p:spPr>
        <p:txBody>
          <a:bodyPr wrap="square" lIns="0" tIns="0" rIns="0" bIns="0" rtlCol="0" anchor="t"/>
          <a:lstStyle/>
          <a:p>
            <a:pPr marL="0" indent="0">
              <a:buNone/>
            </a:pPr>
            <a:r>
              <a:rPr lang="en-US" sz="1500" b="1" dirty="0">
                <a:solidFill>
                  <a:schemeClr val="tx1"/>
                </a:solidFill>
              </a:rPr>
              <a:t>What you can try</a:t>
            </a:r>
            <a:endParaRPr lang="en-US" sz="1500" dirty="0"/>
          </a:p>
        </p:txBody>
      </p:sp>
      <p:sp>
        <p:nvSpPr>
          <p:cNvPr id="6" name="Marker 1"/>
          <p:cNvSpPr/>
          <p:nvPr/>
        </p:nvSpPr>
        <p:spPr>
          <a:xfrm>
            <a:off x="5715000" y="1444752"/>
            <a:ext cx="274320" cy="274320"/>
          </a:xfrm>
          <a:prstGeom prst="ellipse">
            <a:avLst/>
          </a:prstGeom>
          <a:solidFill>
            <a:srgbClr val="D9A441"/>
          </a:solidFill>
          <a:ln w="19050">
            <a:solidFill>
              <a:srgbClr val="FFFFFF"/>
            </a:solidFill>
            <a:prstDash val="solid"/>
          </a:ln>
        </p:spPr>
      </p:sp>
      <p:sp>
        <p:nvSpPr>
          <p:cNvPr id="7" name="Text 4"/>
          <p:cNvSpPr txBox="1"/>
          <p:nvPr/>
        </p:nvSpPr>
        <p:spPr>
          <a:xfrm>
            <a:off x="5715000" y="1444752"/>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1</a:t>
            </a:r>
            <a:endParaRPr lang="en-US" sz="1100" dirty="0"/>
          </a:p>
        </p:txBody>
      </p:sp>
      <p:sp>
        <p:nvSpPr>
          <p:cNvPr id="8" name="Text 5"/>
          <p:cNvSpPr txBox="1"/>
          <p:nvPr/>
        </p:nvSpPr>
        <p:spPr>
          <a:xfrm>
            <a:off x="6126480" y="1417320"/>
            <a:ext cx="2560320" cy="237744"/>
          </a:xfrm>
          <a:prstGeom prst="rect">
            <a:avLst/>
          </a:prstGeom>
          <a:noFill/>
          <a:ln/>
        </p:spPr>
        <p:txBody>
          <a:bodyPr wrap="square" lIns="0" tIns="0" rIns="0" bIns="0" rtlCol="0" anchor="t"/>
          <a:lstStyle/>
          <a:p>
            <a:pPr marL="0" indent="0">
              <a:buNone/>
            </a:pPr>
            <a:r>
              <a:rPr lang="en-US" sz="1300" b="1" dirty="0">
                <a:solidFill>
                  <a:schemeClr val="tx1"/>
                </a:solidFill>
              </a:rPr>
              <a:t>Type D</a:t>
            </a:r>
            <a:endParaRPr lang="en-US" sz="1300" dirty="0"/>
          </a:p>
        </p:txBody>
      </p:sp>
      <p:sp>
        <p:nvSpPr>
          <p:cNvPr id="9" name="Text 6"/>
          <p:cNvSpPr txBox="1"/>
          <p:nvPr/>
        </p:nvSpPr>
        <p:spPr>
          <a:xfrm>
            <a:off x="6126480" y="1664208"/>
            <a:ext cx="2560320" cy="237744"/>
          </a:xfrm>
          <a:prstGeom prst="rect">
            <a:avLst/>
          </a:prstGeom>
          <a:noFill/>
          <a:ln/>
        </p:spPr>
        <p:txBody>
          <a:bodyPr wrap="square" lIns="0" tIns="0" rIns="0" bIns="0" rtlCol="0" anchor="t"/>
          <a:lstStyle/>
          <a:p>
            <a:pPr marL="0" indent="0">
              <a:buNone/>
            </a:pPr>
            <a:r>
              <a:rPr lang="en-US" sz="1200" dirty="0">
                <a:solidFill>
                  <a:schemeClr val="accent5"/>
                </a:solidFill>
              </a:rPr>
              <a:t>motor LEDs light up</a:t>
            </a:r>
            <a:endParaRPr lang="en-US" sz="1200" dirty="0"/>
          </a:p>
        </p:txBody>
      </p:sp>
      <p:sp>
        <p:nvSpPr>
          <p:cNvPr id="10" name="Marker 2"/>
          <p:cNvSpPr/>
          <p:nvPr/>
        </p:nvSpPr>
        <p:spPr>
          <a:xfrm>
            <a:off x="5715000" y="2011680"/>
            <a:ext cx="274320" cy="274320"/>
          </a:xfrm>
          <a:prstGeom prst="ellipse">
            <a:avLst/>
          </a:prstGeom>
          <a:solidFill>
            <a:srgbClr val="D9A441"/>
          </a:solidFill>
          <a:ln w="19050">
            <a:solidFill>
              <a:srgbClr val="FFFFFF"/>
            </a:solidFill>
            <a:prstDash val="solid"/>
          </a:ln>
        </p:spPr>
      </p:sp>
      <p:sp>
        <p:nvSpPr>
          <p:cNvPr id="11" name="Text 8"/>
          <p:cNvSpPr txBox="1"/>
          <p:nvPr/>
        </p:nvSpPr>
        <p:spPr>
          <a:xfrm>
            <a:off x="5715000" y="2011680"/>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12" name="Text 9"/>
          <p:cNvSpPr txBox="1"/>
          <p:nvPr/>
        </p:nvSpPr>
        <p:spPr>
          <a:xfrm>
            <a:off x="6126480" y="1984248"/>
            <a:ext cx="2560320" cy="237744"/>
          </a:xfrm>
          <a:prstGeom prst="rect">
            <a:avLst/>
          </a:prstGeom>
          <a:noFill/>
          <a:ln/>
        </p:spPr>
        <p:txBody>
          <a:bodyPr wrap="square" lIns="0" tIns="0" rIns="0" bIns="0" rtlCol="0" anchor="t"/>
          <a:lstStyle/>
          <a:p>
            <a:pPr marL="0" indent="0">
              <a:buNone/>
            </a:pPr>
            <a:r>
              <a:rPr lang="en-US" sz="1300" b="1" dirty="0">
                <a:solidFill>
                  <a:schemeClr val="tx1"/>
                </a:solidFill>
              </a:rPr>
              <a:t>Front sensor to 60 cm</a:t>
            </a:r>
            <a:endParaRPr lang="en-US" sz="1300" dirty="0"/>
          </a:p>
        </p:txBody>
      </p:sp>
      <p:sp>
        <p:nvSpPr>
          <p:cNvPr id="13" name="Text 10"/>
          <p:cNvSpPr txBox="1"/>
          <p:nvPr/>
        </p:nvSpPr>
        <p:spPr>
          <a:xfrm>
            <a:off x="6126480" y="2231136"/>
            <a:ext cx="2560320" cy="237744"/>
          </a:xfrm>
          <a:prstGeom prst="rect">
            <a:avLst/>
          </a:prstGeom>
          <a:noFill/>
          <a:ln/>
        </p:spPr>
        <p:txBody>
          <a:bodyPr wrap="square" lIns="0" tIns="0" rIns="0" bIns="0" rtlCol="0" anchor="t"/>
          <a:lstStyle/>
          <a:p>
            <a:pPr marL="0" indent="0">
              <a:buNone/>
            </a:pPr>
            <a:r>
              <a:rPr lang="en-US" sz="1200" dirty="0">
                <a:solidFill>
                  <a:schemeClr val="accent5"/>
                </a:solidFill>
              </a:rPr>
              <a:t>robot slows down</a:t>
            </a:r>
            <a:endParaRPr lang="en-US" sz="1200" dirty="0"/>
          </a:p>
        </p:txBody>
      </p:sp>
      <p:sp>
        <p:nvSpPr>
          <p:cNvPr id="14" name="Marker 3"/>
          <p:cNvSpPr/>
          <p:nvPr/>
        </p:nvSpPr>
        <p:spPr>
          <a:xfrm>
            <a:off x="5715000" y="2578608"/>
            <a:ext cx="274320" cy="274320"/>
          </a:xfrm>
          <a:prstGeom prst="ellipse">
            <a:avLst/>
          </a:prstGeom>
          <a:solidFill>
            <a:srgbClr val="D9A441"/>
          </a:solidFill>
          <a:ln w="19050">
            <a:solidFill>
              <a:srgbClr val="FFFFFF"/>
            </a:solidFill>
            <a:prstDash val="solid"/>
          </a:ln>
        </p:spPr>
      </p:sp>
      <p:sp>
        <p:nvSpPr>
          <p:cNvPr id="15" name="Text 12"/>
          <p:cNvSpPr txBox="1"/>
          <p:nvPr/>
        </p:nvSpPr>
        <p:spPr>
          <a:xfrm>
            <a:off x="5715000" y="2578608"/>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3</a:t>
            </a:r>
            <a:endParaRPr lang="en-US" sz="1100" dirty="0"/>
          </a:p>
        </p:txBody>
      </p:sp>
      <p:sp>
        <p:nvSpPr>
          <p:cNvPr id="16" name="Text 13"/>
          <p:cNvSpPr txBox="1"/>
          <p:nvPr/>
        </p:nvSpPr>
        <p:spPr>
          <a:xfrm>
            <a:off x="6126480" y="2551176"/>
            <a:ext cx="2560320" cy="237744"/>
          </a:xfrm>
          <a:prstGeom prst="rect">
            <a:avLst/>
          </a:prstGeom>
          <a:noFill/>
          <a:ln/>
        </p:spPr>
        <p:txBody>
          <a:bodyPr wrap="square" lIns="0" tIns="0" rIns="0" bIns="0" rtlCol="0" anchor="t"/>
          <a:lstStyle/>
          <a:p>
            <a:pPr marL="0" indent="0">
              <a:buNone/>
            </a:pPr>
            <a:r>
              <a:rPr lang="en-US" sz="1300" b="1" dirty="0">
                <a:solidFill>
                  <a:schemeClr val="tx1"/>
                </a:solidFill>
              </a:rPr>
              <a:t>Front sensor to 20 cm</a:t>
            </a:r>
            <a:endParaRPr lang="en-US" sz="1300" dirty="0"/>
          </a:p>
        </p:txBody>
      </p:sp>
      <p:sp>
        <p:nvSpPr>
          <p:cNvPr id="17" name="Text 14"/>
          <p:cNvSpPr txBox="1"/>
          <p:nvPr/>
        </p:nvSpPr>
        <p:spPr>
          <a:xfrm>
            <a:off x="6126480" y="2798064"/>
            <a:ext cx="2560320" cy="237744"/>
          </a:xfrm>
          <a:prstGeom prst="rect">
            <a:avLst/>
          </a:prstGeom>
          <a:noFill/>
          <a:ln/>
        </p:spPr>
        <p:txBody>
          <a:bodyPr wrap="square" lIns="0" tIns="0" rIns="0" bIns="0" rtlCol="0" anchor="t"/>
          <a:lstStyle/>
          <a:p>
            <a:pPr marL="0" indent="0">
              <a:buNone/>
            </a:pPr>
            <a:r>
              <a:rPr lang="en-US" sz="1200" dirty="0">
                <a:solidFill>
                  <a:schemeClr val="accent5"/>
                </a:solidFill>
              </a:rPr>
              <a:t>robot stops, buzzer</a:t>
            </a:r>
            <a:endParaRPr lang="en-US" sz="1200" dirty="0"/>
          </a:p>
        </p:txBody>
      </p:sp>
      <p:sp>
        <p:nvSpPr>
          <p:cNvPr id="18" name="Marker 4"/>
          <p:cNvSpPr/>
          <p:nvPr/>
        </p:nvSpPr>
        <p:spPr>
          <a:xfrm>
            <a:off x="5715000" y="3145536"/>
            <a:ext cx="274320" cy="274320"/>
          </a:xfrm>
          <a:prstGeom prst="ellipse">
            <a:avLst/>
          </a:prstGeom>
          <a:solidFill>
            <a:srgbClr val="D9A441"/>
          </a:solidFill>
          <a:ln w="19050">
            <a:solidFill>
              <a:srgbClr val="FFFFFF"/>
            </a:solidFill>
            <a:prstDash val="solid"/>
          </a:ln>
        </p:spPr>
      </p:sp>
      <p:sp>
        <p:nvSpPr>
          <p:cNvPr id="19" name="Text 16"/>
          <p:cNvSpPr txBox="1"/>
          <p:nvPr/>
        </p:nvSpPr>
        <p:spPr>
          <a:xfrm>
            <a:off x="5715000" y="3145536"/>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4</a:t>
            </a:r>
            <a:endParaRPr lang="en-US" sz="1100" dirty="0"/>
          </a:p>
        </p:txBody>
      </p:sp>
      <p:sp>
        <p:nvSpPr>
          <p:cNvPr id="20" name="Text 17"/>
          <p:cNvSpPr txBox="1"/>
          <p:nvPr/>
        </p:nvSpPr>
        <p:spPr>
          <a:xfrm>
            <a:off x="6126480" y="3118104"/>
            <a:ext cx="2560320" cy="237744"/>
          </a:xfrm>
          <a:prstGeom prst="rect">
            <a:avLst/>
          </a:prstGeom>
          <a:noFill/>
          <a:ln/>
        </p:spPr>
        <p:txBody>
          <a:bodyPr wrap="square" lIns="0" tIns="0" rIns="0" bIns="0" rtlCol="0" anchor="t"/>
          <a:lstStyle/>
          <a:p>
            <a:pPr marL="0" indent="0">
              <a:buNone/>
            </a:pPr>
            <a:r>
              <a:rPr lang="en-US" sz="1300" b="1" dirty="0">
                <a:solidFill>
                  <a:schemeClr val="tx1"/>
                </a:solidFill>
              </a:rPr>
              <a:t>Press E-STOP</a:t>
            </a:r>
            <a:endParaRPr lang="en-US" sz="1300" dirty="0"/>
          </a:p>
        </p:txBody>
      </p:sp>
      <p:sp>
        <p:nvSpPr>
          <p:cNvPr id="21" name="Text 18"/>
          <p:cNvSpPr txBox="1"/>
          <p:nvPr/>
        </p:nvSpPr>
        <p:spPr>
          <a:xfrm>
            <a:off x="6126480" y="3364992"/>
            <a:ext cx="2560320" cy="237744"/>
          </a:xfrm>
          <a:prstGeom prst="rect">
            <a:avLst/>
          </a:prstGeom>
          <a:noFill/>
          <a:ln/>
        </p:spPr>
        <p:txBody>
          <a:bodyPr wrap="square" lIns="0" tIns="0" rIns="0" bIns="0" rtlCol="0" anchor="t"/>
          <a:lstStyle/>
          <a:p>
            <a:pPr marL="0" indent="0">
              <a:buNone/>
            </a:pPr>
            <a:r>
              <a:rPr lang="en-US" sz="1200" dirty="0">
                <a:solidFill>
                  <a:schemeClr val="accent5"/>
                </a:solidFill>
              </a:rPr>
              <a:t>instant stop, stays latched</a:t>
            </a:r>
            <a:endParaRPr lang="en-US" sz="1200" dirty="0"/>
          </a:p>
        </p:txBody>
      </p:sp>
      <p:sp>
        <p:nvSpPr>
          <p:cNvPr id="22" name="Marker 5"/>
          <p:cNvSpPr/>
          <p:nvPr/>
        </p:nvSpPr>
        <p:spPr>
          <a:xfrm>
            <a:off x="5715000" y="3712464"/>
            <a:ext cx="274320" cy="274320"/>
          </a:xfrm>
          <a:prstGeom prst="ellipse">
            <a:avLst/>
          </a:prstGeom>
          <a:solidFill>
            <a:srgbClr val="D9A441"/>
          </a:solidFill>
          <a:ln w="19050">
            <a:solidFill>
              <a:srgbClr val="FFFFFF"/>
            </a:solidFill>
            <a:prstDash val="solid"/>
          </a:ln>
        </p:spPr>
      </p:sp>
      <p:sp>
        <p:nvSpPr>
          <p:cNvPr id="23" name="Text 20"/>
          <p:cNvSpPr txBox="1"/>
          <p:nvPr/>
        </p:nvSpPr>
        <p:spPr>
          <a:xfrm>
            <a:off x="5715000" y="3712464"/>
            <a:ext cx="274320" cy="274320"/>
          </a:xfrm>
          <a:prstGeom prst="rect">
            <a:avLst/>
          </a:prstGeom>
          <a:noFill/>
          <a:ln/>
        </p:spPr>
        <p:txBody>
          <a:bodyPr wrap="square" lIns="0" tIns="0" rIns="0" bIns="0" rtlCol="0" anchor="ctr"/>
          <a:lstStyle/>
          <a:p>
            <a:pPr marL="0" indent="0" algn="ctr">
              <a:buNone/>
            </a:pPr>
            <a:r>
              <a:rPr lang="en-US" sz="1100" b="1" dirty="0">
                <a:solidFill>
                  <a:schemeClr val="tx1"/>
                </a:solidFill>
              </a:rPr>
              <a:t>5</a:t>
            </a:r>
            <a:endParaRPr lang="en-US" sz="1100" dirty="0"/>
          </a:p>
        </p:txBody>
      </p:sp>
      <p:sp>
        <p:nvSpPr>
          <p:cNvPr id="24" name="Text 21"/>
          <p:cNvSpPr txBox="1"/>
          <p:nvPr/>
        </p:nvSpPr>
        <p:spPr>
          <a:xfrm>
            <a:off x="6126480" y="3685032"/>
            <a:ext cx="2560320" cy="237744"/>
          </a:xfrm>
          <a:prstGeom prst="rect">
            <a:avLst/>
          </a:prstGeom>
          <a:noFill/>
          <a:ln/>
        </p:spPr>
        <p:txBody>
          <a:bodyPr wrap="square" lIns="0" tIns="0" rIns="0" bIns="0" rtlCol="0" anchor="t"/>
          <a:lstStyle/>
          <a:p>
            <a:pPr marL="0" indent="0">
              <a:buNone/>
            </a:pPr>
            <a:r>
              <a:rPr lang="en-US" sz="1300" b="1" dirty="0">
                <a:solidFill>
                  <a:schemeClr val="tx1"/>
                </a:solidFill>
              </a:rPr>
              <a:t>Turn the battery knob</a:t>
            </a:r>
            <a:endParaRPr lang="en-US" sz="1300" dirty="0"/>
          </a:p>
        </p:txBody>
      </p:sp>
      <p:sp>
        <p:nvSpPr>
          <p:cNvPr id="25" name="Text 22"/>
          <p:cNvSpPr txBox="1"/>
          <p:nvPr/>
        </p:nvSpPr>
        <p:spPr>
          <a:xfrm>
            <a:off x="6126480" y="3931920"/>
            <a:ext cx="2560320" cy="237744"/>
          </a:xfrm>
          <a:prstGeom prst="rect">
            <a:avLst/>
          </a:prstGeom>
          <a:noFill/>
          <a:ln/>
        </p:spPr>
        <p:txBody>
          <a:bodyPr wrap="square" lIns="0" tIns="0" rIns="0" bIns="0" rtlCol="0" anchor="t"/>
          <a:lstStyle/>
          <a:p>
            <a:pPr marL="0" indent="0">
              <a:buNone/>
            </a:pPr>
            <a:r>
              <a:rPr lang="en-US" sz="1200" dirty="0">
                <a:solidFill>
                  <a:schemeClr val="accent5"/>
                </a:solidFill>
              </a:rPr>
              <a:t>half speed, then stop</a:t>
            </a:r>
            <a:endParaRPr lang="en-US" sz="1200" dirty="0"/>
          </a:p>
        </p:txBody>
      </p:sp>
      <p:sp>
        <p:nvSpPr>
          <p:cNvPr id="26" name="Text 23"/>
          <p:cNvSpPr txBox="1"/>
          <p:nvPr/>
        </p:nvSpPr>
        <p:spPr>
          <a:xfrm>
            <a:off x="5715000" y="4206240"/>
            <a:ext cx="2971800" cy="228600"/>
          </a:xfrm>
          <a:prstGeom prst="rect">
            <a:avLst/>
          </a:prstGeom>
          <a:noFill/>
          <a:ln/>
        </p:spPr>
        <p:txBody>
          <a:bodyPr wrap="square" lIns="0" tIns="0" rIns="0" bIns="0" rtlCol="0" anchor="t"/>
          <a:lstStyle/>
          <a:p>
            <a:pPr marL="0" indent="0">
              <a:buNone/>
            </a:pPr>
            <a:r>
              <a:rPr lang="en-US" sz="1000" i="1" dirty="0">
                <a:solidFill>
                  <a:schemeClr val="accent5"/>
                </a:solidFill>
              </a:rPr>
              <a:t>Firmware and diagram.json: hardware/firmware/vistara_mega</a:t>
            </a:r>
            <a:endParaRPr lang="en-US" sz="1000" dirty="0"/>
          </a:p>
        </p:txBody>
      </p:sp>
      <p:sp>
        <p:nvSpPr>
          <p:cNvPr id="27"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Cost and runtime</a:t>
            </a:r>
            <a:endParaRPr lang="en-US" sz="2600" dirty="0"/>
          </a:p>
        </p:txBody>
      </p:sp>
      <p:graphicFrame>
        <p:nvGraphicFramePr>
          <p:cNvPr id="3" name="Chart 0"/>
          <p:cNvGraphicFramePr/>
          <p:nvPr/>
        </p:nvGraphicFramePr>
        <p:xfrm>
          <a:off x="365760" y="914400"/>
          <a:ext cx="45720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394960" y="1188720"/>
            <a:ext cx="3291840" cy="457200"/>
          </a:xfrm>
          <a:prstGeom prst="rect">
            <a:avLst/>
          </a:prstGeom>
          <a:noFill/>
          <a:ln/>
        </p:spPr>
        <p:txBody>
          <a:bodyPr wrap="square" lIns="0" tIns="0" rIns="0" bIns="0" rtlCol="0" anchor="t"/>
          <a:lstStyle/>
          <a:p>
            <a:pPr marL="0" indent="0">
              <a:buNone/>
            </a:pPr>
            <a:r>
              <a:rPr lang="en-US" sz="2600" b="1" dirty="0">
                <a:solidFill>
                  <a:schemeClr val="accent1"/>
                </a:solidFill>
              </a:rPr>
              <a:t>≈ ₹21,000</a:t>
            </a:r>
            <a:endParaRPr lang="en-US" sz="2600" dirty="0"/>
          </a:p>
        </p:txBody>
      </p:sp>
      <p:sp>
        <p:nvSpPr>
          <p:cNvPr id="5" name="Text 2"/>
          <p:cNvSpPr txBox="1"/>
          <p:nvPr/>
        </p:nvSpPr>
        <p:spPr>
          <a:xfrm>
            <a:off x="5394960" y="1664208"/>
            <a:ext cx="3291840" cy="274320"/>
          </a:xfrm>
          <a:prstGeom prst="rect">
            <a:avLst/>
          </a:prstGeom>
          <a:noFill/>
          <a:ln/>
        </p:spPr>
        <p:txBody>
          <a:bodyPr wrap="square" lIns="0" tIns="0" rIns="0" bIns="0" rtlCol="0" anchor="t"/>
          <a:lstStyle/>
          <a:p>
            <a:pPr marL="0" indent="0">
              <a:buNone/>
            </a:pPr>
            <a:r>
              <a:rPr lang="en-US" sz="1200" dirty="0">
                <a:solidFill>
                  <a:schemeClr val="tx1"/>
                </a:solidFill>
              </a:rPr>
              <a:t>full build, using a laptop we already have</a:t>
            </a:r>
            <a:endParaRPr lang="en-US" sz="1200" dirty="0"/>
          </a:p>
        </p:txBody>
      </p:sp>
      <p:sp>
        <p:nvSpPr>
          <p:cNvPr id="6" name="Text 3"/>
          <p:cNvSpPr txBox="1"/>
          <p:nvPr/>
        </p:nvSpPr>
        <p:spPr>
          <a:xfrm>
            <a:off x="5394960" y="2194560"/>
            <a:ext cx="3291840" cy="457200"/>
          </a:xfrm>
          <a:prstGeom prst="rect">
            <a:avLst/>
          </a:prstGeom>
          <a:noFill/>
          <a:ln/>
        </p:spPr>
        <p:txBody>
          <a:bodyPr wrap="square" lIns="0" tIns="0" rIns="0" bIns="0" rtlCol="0" anchor="t"/>
          <a:lstStyle/>
          <a:p>
            <a:pPr marL="0" indent="0">
              <a:buNone/>
            </a:pPr>
            <a:r>
              <a:rPr lang="en-US" sz="2600" b="1" dirty="0">
                <a:solidFill>
                  <a:schemeClr val="accent1"/>
                </a:solidFill>
              </a:rPr>
              <a:t>+ ₹14,400</a:t>
            </a:r>
            <a:endParaRPr lang="en-US" sz="2600" dirty="0"/>
          </a:p>
        </p:txBody>
      </p:sp>
      <p:sp>
        <p:nvSpPr>
          <p:cNvPr id="7" name="Text 4"/>
          <p:cNvSpPr txBox="1"/>
          <p:nvPr/>
        </p:nvSpPr>
        <p:spPr>
          <a:xfrm>
            <a:off x="5394960" y="2670048"/>
            <a:ext cx="3291840" cy="274320"/>
          </a:xfrm>
          <a:prstGeom prst="rect">
            <a:avLst/>
          </a:prstGeom>
          <a:noFill/>
          <a:ln/>
        </p:spPr>
        <p:txBody>
          <a:bodyPr wrap="square" lIns="0" tIns="0" rIns="0" bIns="0" rtlCol="0" anchor="t"/>
          <a:lstStyle/>
          <a:p>
            <a:pPr marL="0" indent="0">
              <a:buNone/>
            </a:pPr>
            <a:r>
              <a:rPr lang="en-US" sz="1200" dirty="0">
                <a:solidFill>
                  <a:schemeClr val="tx1"/>
                </a:solidFill>
              </a:rPr>
              <a:t>optional OAK-D Lite depth camera</a:t>
            </a:r>
            <a:endParaRPr lang="en-US" sz="1200" dirty="0"/>
          </a:p>
        </p:txBody>
      </p:sp>
      <p:sp>
        <p:nvSpPr>
          <p:cNvPr id="8" name="Text 5"/>
          <p:cNvSpPr txBox="1"/>
          <p:nvPr/>
        </p:nvSpPr>
        <p:spPr>
          <a:xfrm>
            <a:off x="5394960" y="3200400"/>
            <a:ext cx="3291840" cy="457200"/>
          </a:xfrm>
          <a:prstGeom prst="rect">
            <a:avLst/>
          </a:prstGeom>
          <a:noFill/>
          <a:ln/>
        </p:spPr>
        <p:txBody>
          <a:bodyPr wrap="square" lIns="0" tIns="0" rIns="0" bIns="0" rtlCol="0" anchor="t"/>
          <a:lstStyle/>
          <a:p>
            <a:pPr marL="0" indent="0">
              <a:buNone/>
            </a:pPr>
            <a:r>
              <a:rPr lang="en-US" sz="2600" b="1" dirty="0">
                <a:solidFill>
                  <a:schemeClr val="accent1"/>
                </a:solidFill>
              </a:rPr>
              <a:t>≈ 2 hours</a:t>
            </a:r>
            <a:endParaRPr lang="en-US" sz="2600" dirty="0"/>
          </a:p>
        </p:txBody>
      </p:sp>
      <p:sp>
        <p:nvSpPr>
          <p:cNvPr id="9" name="Text 6"/>
          <p:cNvSpPr txBox="1"/>
          <p:nvPr/>
        </p:nvSpPr>
        <p:spPr>
          <a:xfrm>
            <a:off x="5394960" y="3675888"/>
            <a:ext cx="3291840" cy="274320"/>
          </a:xfrm>
          <a:prstGeom prst="rect">
            <a:avLst/>
          </a:prstGeom>
          <a:noFill/>
          <a:ln/>
        </p:spPr>
        <p:txBody>
          <a:bodyPr wrap="square" lIns="0" tIns="0" rIns="0" bIns="0" rtlCol="0" anchor="t"/>
          <a:lstStyle/>
          <a:p>
            <a:pPr marL="0" indent="0">
              <a:buNone/>
            </a:pPr>
            <a:r>
              <a:rPr lang="en-US" sz="1200" dirty="0">
                <a:solidFill>
                  <a:schemeClr val="tx1"/>
                </a:solidFill>
              </a:rPr>
              <a:t>per charge, limited by the laptop battery</a:t>
            </a:r>
            <a:endParaRPr lang="en-US" sz="1200" dirty="0"/>
          </a:p>
        </p:txBody>
      </p:sp>
      <p:sp>
        <p:nvSpPr>
          <p:cNvPr id="10" name="Text 7"/>
          <p:cNvSpPr txBox="1"/>
          <p:nvPr/>
        </p:nvSpPr>
        <p:spPr>
          <a:xfrm>
            <a:off x="457200" y="4434840"/>
            <a:ext cx="8229600" cy="228600"/>
          </a:xfrm>
          <a:prstGeom prst="rect">
            <a:avLst/>
          </a:prstGeom>
          <a:noFill/>
          <a:ln/>
        </p:spPr>
        <p:txBody>
          <a:bodyPr wrap="square" lIns="0" tIns="0" rIns="0" bIns="0" rtlCol="0" anchor="t"/>
          <a:lstStyle/>
          <a:p>
            <a:pPr marL="0" indent="0">
              <a:buNone/>
            </a:pPr>
            <a:r>
              <a:rPr lang="en-US" sz="1000" i="1" dirty="0">
                <a:solidFill>
                  <a:schemeClr val="accent5"/>
                </a:solidFill>
              </a:rPr>
              <a:t>Approximate Indian retail prices, October 2026.</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48640"/>
          </a:xfrm>
          <a:prstGeom prst="rect">
            <a:avLst/>
          </a:prstGeom>
          <a:noFill/>
          <a:ln/>
        </p:spPr>
        <p:txBody>
          <a:bodyPr wrap="square" lIns="0" tIns="0" rIns="0" bIns="0" rtlCol="0" anchor="ctr"/>
          <a:lstStyle/>
          <a:p>
            <a:pPr marL="0" indent="0" algn="l">
              <a:buNone/>
            </a:pPr>
            <a:r>
              <a:rPr lang="en-US" sz="2600" b="1" dirty="0">
                <a:solidFill>
                  <a:schemeClr val="tx1"/>
                </a:solidFill>
              </a:rPr>
              <a:t>From simulation to a real robot</a:t>
            </a:r>
            <a:endParaRPr lang="en-US" sz="2600" dirty="0"/>
          </a:p>
        </p:txBody>
      </p:sp>
      <p:sp>
        <p:nvSpPr>
          <p:cNvPr id="3" name="Shape 1"/>
          <p:cNvSpPr/>
          <p:nvPr/>
        </p:nvSpPr>
        <p:spPr>
          <a:xfrm>
            <a:off x="1088136" y="1600200"/>
            <a:ext cx="6967728" cy="0"/>
          </a:xfrm>
          <a:prstGeom prst="line">
            <a:avLst/>
          </a:prstGeom>
          <a:noFill/>
          <a:ln w="31750">
            <a:solidFill>
              <a:srgbClr val="DFE4E9"/>
            </a:solidFill>
            <a:prstDash val="solid"/>
          </a:ln>
        </p:spPr>
      </p:sp>
      <p:sp>
        <p:nvSpPr>
          <p:cNvPr id="4" name="Bench test marker"/>
          <p:cNvSpPr/>
          <p:nvPr/>
        </p:nvSpPr>
        <p:spPr>
          <a:xfrm>
            <a:off x="969264" y="1481328"/>
            <a:ext cx="237744" cy="237744"/>
          </a:xfrm>
          <a:prstGeom prst="ellipse">
            <a:avLst/>
          </a:prstGeom>
          <a:solidFill>
            <a:srgbClr val="D9A441"/>
          </a:solidFill>
          <a:ln w="25400">
            <a:solidFill>
              <a:srgbClr val="FFFFFF"/>
            </a:solidFill>
            <a:prstDash val="solid"/>
          </a:ln>
        </p:spPr>
      </p:sp>
      <p:sp>
        <p:nvSpPr>
          <p:cNvPr id="5" name="Text 3"/>
          <p:cNvSpPr txBox="1"/>
          <p:nvPr/>
        </p:nvSpPr>
        <p:spPr>
          <a:xfrm>
            <a:off x="457200"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 1</a:t>
            </a:r>
            <a:endParaRPr lang="en-US" sz="1100" dirty="0"/>
          </a:p>
        </p:txBody>
      </p:sp>
      <p:sp>
        <p:nvSpPr>
          <p:cNvPr id="6" name="Text 4"/>
          <p:cNvSpPr txBox="1"/>
          <p:nvPr/>
        </p:nvSpPr>
        <p:spPr>
          <a:xfrm>
            <a:off x="502920"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Bench test</a:t>
            </a:r>
            <a:endParaRPr lang="en-US" sz="1400" dirty="0"/>
          </a:p>
        </p:txBody>
      </p:sp>
      <p:sp>
        <p:nvSpPr>
          <p:cNvPr id="7" name="Text 5"/>
          <p:cNvSpPr txBox="1"/>
          <p:nvPr/>
        </p:nvSpPr>
        <p:spPr>
          <a:xfrm>
            <a:off x="502920"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Arduino + sensors pass the Wokwi tests</a:t>
            </a:r>
            <a:endParaRPr lang="en-US" sz="1100" dirty="0"/>
          </a:p>
        </p:txBody>
      </p:sp>
      <p:sp>
        <p:nvSpPr>
          <p:cNvPr id="8" name="Drive base marker"/>
          <p:cNvSpPr/>
          <p:nvPr/>
        </p:nvSpPr>
        <p:spPr>
          <a:xfrm>
            <a:off x="2362810" y="1481328"/>
            <a:ext cx="237744" cy="237744"/>
          </a:xfrm>
          <a:prstGeom prst="ellipse">
            <a:avLst/>
          </a:prstGeom>
          <a:solidFill>
            <a:srgbClr val="0B7D73"/>
          </a:solidFill>
          <a:ln w="25400">
            <a:solidFill>
              <a:srgbClr val="FFFFFF"/>
            </a:solidFill>
            <a:prstDash val="solid"/>
          </a:ln>
        </p:spPr>
      </p:sp>
      <p:sp>
        <p:nvSpPr>
          <p:cNvPr id="9" name="Text 7"/>
          <p:cNvSpPr txBox="1"/>
          <p:nvPr/>
        </p:nvSpPr>
        <p:spPr>
          <a:xfrm>
            <a:off x="1850746"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Weeks 2–3</a:t>
            </a:r>
            <a:endParaRPr lang="en-US" sz="1100" dirty="0"/>
          </a:p>
        </p:txBody>
      </p:sp>
      <p:sp>
        <p:nvSpPr>
          <p:cNvPr id="10" name="Text 8"/>
          <p:cNvSpPr txBox="1"/>
          <p:nvPr/>
        </p:nvSpPr>
        <p:spPr>
          <a:xfrm>
            <a:off x="1896466"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Drive base</a:t>
            </a:r>
            <a:endParaRPr lang="en-US" sz="1400" dirty="0"/>
          </a:p>
        </p:txBody>
      </p:sp>
      <p:sp>
        <p:nvSpPr>
          <p:cNvPr id="11" name="Text 9"/>
          <p:cNvSpPr txBox="1"/>
          <p:nvPr/>
        </p:nvSpPr>
        <p:spPr>
          <a:xfrm>
            <a:off x="1896466"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chassis, motors, E‑stop, speed control</a:t>
            </a:r>
            <a:endParaRPr lang="en-US" sz="1100" dirty="0"/>
          </a:p>
        </p:txBody>
      </p:sp>
      <p:sp>
        <p:nvSpPr>
          <p:cNvPr id="12" name="Laptop link marker"/>
          <p:cNvSpPr/>
          <p:nvPr/>
        </p:nvSpPr>
        <p:spPr>
          <a:xfrm>
            <a:off x="3756355" y="1481328"/>
            <a:ext cx="237744" cy="237744"/>
          </a:xfrm>
          <a:prstGeom prst="ellipse">
            <a:avLst/>
          </a:prstGeom>
          <a:solidFill>
            <a:srgbClr val="0B7D73"/>
          </a:solidFill>
          <a:ln w="25400">
            <a:solidFill>
              <a:srgbClr val="FFFFFF"/>
            </a:solidFill>
            <a:prstDash val="solid"/>
          </a:ln>
        </p:spPr>
      </p:sp>
      <p:sp>
        <p:nvSpPr>
          <p:cNvPr id="13" name="Text 11"/>
          <p:cNvSpPr txBox="1"/>
          <p:nvPr/>
        </p:nvSpPr>
        <p:spPr>
          <a:xfrm>
            <a:off x="3244291"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 4</a:t>
            </a:r>
            <a:endParaRPr lang="en-US" sz="1100" dirty="0"/>
          </a:p>
        </p:txBody>
      </p:sp>
      <p:sp>
        <p:nvSpPr>
          <p:cNvPr id="14" name="Text 12"/>
          <p:cNvSpPr txBox="1"/>
          <p:nvPr/>
        </p:nvSpPr>
        <p:spPr>
          <a:xfrm>
            <a:off x="3290011"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Laptop link</a:t>
            </a:r>
            <a:endParaRPr lang="en-US" sz="1400" dirty="0"/>
          </a:p>
        </p:txBody>
      </p:sp>
      <p:sp>
        <p:nvSpPr>
          <p:cNvPr id="15" name="Text 13"/>
          <p:cNvSpPr txBox="1"/>
          <p:nvPr/>
        </p:nvSpPr>
        <p:spPr>
          <a:xfrm>
            <a:off x="3290011"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serial bridge, real sensors on the dashboard</a:t>
            </a:r>
            <a:endParaRPr lang="en-US" sz="1100" dirty="0"/>
          </a:p>
        </p:txBody>
      </p:sp>
      <p:sp>
        <p:nvSpPr>
          <p:cNvPr id="16" name="Mapping marker"/>
          <p:cNvSpPr/>
          <p:nvPr/>
        </p:nvSpPr>
        <p:spPr>
          <a:xfrm>
            <a:off x="5149901" y="1481328"/>
            <a:ext cx="237744" cy="237744"/>
          </a:xfrm>
          <a:prstGeom prst="ellipse">
            <a:avLst/>
          </a:prstGeom>
          <a:solidFill>
            <a:srgbClr val="0B7D73"/>
          </a:solidFill>
          <a:ln w="25400">
            <a:solidFill>
              <a:srgbClr val="FFFFFF"/>
            </a:solidFill>
            <a:prstDash val="solid"/>
          </a:ln>
        </p:spPr>
      </p:sp>
      <p:sp>
        <p:nvSpPr>
          <p:cNvPr id="17" name="Text 15"/>
          <p:cNvSpPr txBox="1"/>
          <p:nvPr/>
        </p:nvSpPr>
        <p:spPr>
          <a:xfrm>
            <a:off x="4637837"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Weeks 5–6</a:t>
            </a:r>
            <a:endParaRPr lang="en-US" sz="1100" dirty="0"/>
          </a:p>
        </p:txBody>
      </p:sp>
      <p:sp>
        <p:nvSpPr>
          <p:cNvPr id="18" name="Text 16"/>
          <p:cNvSpPr txBox="1"/>
          <p:nvPr/>
        </p:nvSpPr>
        <p:spPr>
          <a:xfrm>
            <a:off x="4683557"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Mapping</a:t>
            </a:r>
            <a:endParaRPr lang="en-US" sz="1400" dirty="0"/>
          </a:p>
        </p:txBody>
      </p:sp>
      <p:sp>
        <p:nvSpPr>
          <p:cNvPr id="19" name="Text 17"/>
          <p:cNvSpPr txBox="1"/>
          <p:nvPr/>
        </p:nvSpPr>
        <p:spPr>
          <a:xfrm>
            <a:off x="4683557"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real LiDAR SLAM, 10/10 goals</a:t>
            </a:r>
            <a:endParaRPr lang="en-US" sz="1100" dirty="0"/>
          </a:p>
        </p:txBody>
      </p:sp>
      <p:sp>
        <p:nvSpPr>
          <p:cNvPr id="20" name="Prediction marker"/>
          <p:cNvSpPr/>
          <p:nvPr/>
        </p:nvSpPr>
        <p:spPr>
          <a:xfrm>
            <a:off x="6543446" y="1481328"/>
            <a:ext cx="237744" cy="237744"/>
          </a:xfrm>
          <a:prstGeom prst="ellipse">
            <a:avLst/>
          </a:prstGeom>
          <a:solidFill>
            <a:srgbClr val="0B7D73"/>
          </a:solidFill>
          <a:ln w="25400">
            <a:solidFill>
              <a:srgbClr val="FFFFFF"/>
            </a:solidFill>
            <a:prstDash val="solid"/>
          </a:ln>
        </p:spPr>
      </p:sp>
      <p:sp>
        <p:nvSpPr>
          <p:cNvPr id="21" name="Text 19"/>
          <p:cNvSpPr txBox="1"/>
          <p:nvPr/>
        </p:nvSpPr>
        <p:spPr>
          <a:xfrm>
            <a:off x="6031382"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Weeks 7–8</a:t>
            </a:r>
            <a:endParaRPr lang="en-US" sz="1100" dirty="0"/>
          </a:p>
        </p:txBody>
      </p:sp>
      <p:sp>
        <p:nvSpPr>
          <p:cNvPr id="22" name="Text 20"/>
          <p:cNvSpPr txBox="1"/>
          <p:nvPr/>
        </p:nvSpPr>
        <p:spPr>
          <a:xfrm>
            <a:off x="6077102"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Prediction</a:t>
            </a:r>
            <a:endParaRPr lang="en-US" sz="1400" dirty="0"/>
          </a:p>
        </p:txBody>
      </p:sp>
      <p:sp>
        <p:nvSpPr>
          <p:cNvPr id="23" name="Text 21"/>
          <p:cNvSpPr txBox="1"/>
          <p:nvPr/>
        </p:nvSpPr>
        <p:spPr>
          <a:xfrm>
            <a:off x="6077102"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crossing test with a real person</a:t>
            </a:r>
            <a:endParaRPr lang="en-US" sz="1100" dirty="0"/>
          </a:p>
        </p:txBody>
      </p:sp>
      <p:sp>
        <p:nvSpPr>
          <p:cNvPr id="24" name="Field trial marker"/>
          <p:cNvSpPr/>
          <p:nvPr/>
        </p:nvSpPr>
        <p:spPr>
          <a:xfrm>
            <a:off x="7936992" y="1481328"/>
            <a:ext cx="237744" cy="237744"/>
          </a:xfrm>
          <a:prstGeom prst="ellipse">
            <a:avLst/>
          </a:prstGeom>
          <a:solidFill>
            <a:srgbClr val="0B7D73"/>
          </a:solidFill>
          <a:ln w="25400">
            <a:solidFill>
              <a:srgbClr val="FFFFFF"/>
            </a:solidFill>
            <a:prstDash val="solid"/>
          </a:ln>
        </p:spPr>
      </p:sp>
      <p:sp>
        <p:nvSpPr>
          <p:cNvPr id="25" name="Text 23"/>
          <p:cNvSpPr txBox="1"/>
          <p:nvPr/>
        </p:nvSpPr>
        <p:spPr>
          <a:xfrm>
            <a:off x="7424928" y="1097280"/>
            <a:ext cx="1261872" cy="256032"/>
          </a:xfrm>
          <a:prstGeom prst="rect">
            <a:avLst/>
          </a:prstGeom>
          <a:noFill/>
          <a:ln/>
        </p:spPr>
        <p:txBody>
          <a:bodyPr wrap="square" lIns="0" tIns="0" rIns="0" bIns="0" rtlCol="0" anchor="t"/>
          <a:lstStyle/>
          <a:p>
            <a:pPr marL="0" indent="0" algn="ctr">
              <a:buNone/>
            </a:pPr>
            <a:r>
              <a:rPr lang="en-US" sz="1100" b="1" dirty="0">
                <a:solidFill>
                  <a:schemeClr val="accent5"/>
                </a:solidFill>
              </a:rPr>
              <a:t>Weeks 9–10</a:t>
            </a:r>
            <a:endParaRPr lang="en-US" sz="1100" dirty="0"/>
          </a:p>
        </p:txBody>
      </p:sp>
      <p:sp>
        <p:nvSpPr>
          <p:cNvPr id="26" name="Text 24"/>
          <p:cNvSpPr txBox="1"/>
          <p:nvPr/>
        </p:nvSpPr>
        <p:spPr>
          <a:xfrm>
            <a:off x="7470648" y="1920240"/>
            <a:ext cx="1170432" cy="274320"/>
          </a:xfrm>
          <a:prstGeom prst="rect">
            <a:avLst/>
          </a:prstGeom>
          <a:noFill/>
          <a:ln/>
        </p:spPr>
        <p:txBody>
          <a:bodyPr wrap="square" lIns="0" tIns="0" rIns="0" bIns="0" rtlCol="0" anchor="t"/>
          <a:lstStyle/>
          <a:p>
            <a:pPr marL="0" indent="0" algn="ctr">
              <a:buNone/>
            </a:pPr>
            <a:r>
              <a:rPr lang="en-US" sz="1400" b="1" dirty="0">
                <a:solidFill>
                  <a:schemeClr val="tx1"/>
                </a:solidFill>
              </a:rPr>
              <a:t>Field trial</a:t>
            </a:r>
            <a:endParaRPr lang="en-US" sz="1400" dirty="0"/>
          </a:p>
        </p:txBody>
      </p:sp>
      <p:sp>
        <p:nvSpPr>
          <p:cNvPr id="27" name="Text 25"/>
          <p:cNvSpPr txBox="1"/>
          <p:nvPr/>
        </p:nvSpPr>
        <p:spPr>
          <a:xfrm>
            <a:off x="7470648" y="2240280"/>
            <a:ext cx="1170432" cy="822960"/>
          </a:xfrm>
          <a:prstGeom prst="rect">
            <a:avLst/>
          </a:prstGeom>
          <a:noFill/>
          <a:ln/>
        </p:spPr>
        <p:txBody>
          <a:bodyPr wrap="square" lIns="0" tIns="0" rIns="0" bIns="0" rtlCol="0" anchor="t"/>
          <a:lstStyle/>
          <a:p>
            <a:pPr marL="0" indent="0" algn="ctr">
              <a:buNone/>
            </a:pPr>
            <a:r>
              <a:rPr lang="en-US" sz="1100" dirty="0">
                <a:solidFill>
                  <a:schemeClr val="accent5"/>
                </a:solidFill>
              </a:rPr>
              <a:t>supervised runs in a real corridor</a:t>
            </a:r>
            <a:endParaRPr lang="en-US" sz="1100" dirty="0"/>
          </a:p>
        </p:txBody>
      </p:sp>
      <p:sp>
        <p:nvSpPr>
          <p:cNvPr id="28" name="Works today"/>
          <p:cNvSpPr/>
          <p:nvPr/>
        </p:nvSpPr>
        <p:spPr>
          <a:xfrm>
            <a:off x="457200" y="3429000"/>
            <a:ext cx="4023360" cy="621792"/>
          </a:xfrm>
          <a:prstGeom prst="rect">
            <a:avLst/>
          </a:prstGeom>
          <a:solidFill>
            <a:srgbClr val="E2F2F0"/>
          </a:solidFill>
          <a:ln/>
        </p:spPr>
      </p:sp>
      <p:sp>
        <p:nvSpPr>
          <p:cNvPr id="29" name="Text 27"/>
          <p:cNvSpPr txBox="1"/>
          <p:nvPr/>
        </p:nvSpPr>
        <p:spPr>
          <a:xfrm>
            <a:off x="594360" y="3520440"/>
            <a:ext cx="3749040" cy="640080"/>
          </a:xfrm>
          <a:prstGeom prst="rect">
            <a:avLst/>
          </a:prstGeom>
          <a:noFill/>
          <a:ln/>
        </p:spPr>
        <p:txBody>
          <a:bodyPr wrap="square" lIns="0" tIns="0" rIns="0" bIns="0" rtlCol="0" anchor="t"/>
          <a:lstStyle/>
          <a:p>
            <a:pPr marL="0" indent="0">
              <a:buNone/>
            </a:pPr>
            <a:r>
              <a:rPr lang="en-US" sz="1200" b="1" dirty="0">
                <a:solidFill>
                  <a:schemeClr val="accent1"/>
                </a:solidFill>
              </a:rPr>
              <a:t>Works today</a:t>
            </a:r>
            <a:endParaRPr lang="en-US" sz="1200" dirty="0"/>
          </a:p>
          <a:p>
            <a:pPr marL="0" indent="0">
              <a:buNone/>
            </a:pPr>
            <a:r>
              <a:rPr lang="en-US" sz="1200" dirty="0">
                <a:solidFill>
                  <a:schemeClr val="tx1"/>
                </a:solidFill>
              </a:rPr>
              <a:t>backend, dashboard, evaluation, Wokwi firmware</a:t>
            </a:r>
            <a:endParaRPr lang="en-US" sz="1200" dirty="0"/>
          </a:p>
        </p:txBody>
      </p:sp>
      <p:sp>
        <p:nvSpPr>
          <p:cNvPr id="30" name="Needs hardware"/>
          <p:cNvSpPr/>
          <p:nvPr/>
        </p:nvSpPr>
        <p:spPr>
          <a:xfrm>
            <a:off x="4663440" y="3429000"/>
            <a:ext cx="4023360" cy="621792"/>
          </a:xfrm>
          <a:prstGeom prst="rect">
            <a:avLst/>
          </a:prstGeom>
          <a:solidFill>
            <a:srgbClr val="FDF1DC"/>
          </a:solidFill>
          <a:ln/>
        </p:spPr>
      </p:sp>
      <p:sp>
        <p:nvSpPr>
          <p:cNvPr id="31" name="Text 29"/>
          <p:cNvSpPr txBox="1"/>
          <p:nvPr/>
        </p:nvSpPr>
        <p:spPr>
          <a:xfrm>
            <a:off x="4800600" y="3520440"/>
            <a:ext cx="3749040" cy="640080"/>
          </a:xfrm>
          <a:prstGeom prst="rect">
            <a:avLst/>
          </a:prstGeom>
          <a:noFill/>
          <a:ln/>
        </p:spPr>
        <p:txBody>
          <a:bodyPr wrap="square" lIns="0" tIns="0" rIns="0" bIns="0" rtlCol="0" anchor="t"/>
          <a:lstStyle/>
          <a:p>
            <a:pPr marL="0" indent="0">
              <a:buNone/>
            </a:pPr>
            <a:r>
              <a:rPr lang="en-US" sz="1200" b="1" dirty="0">
                <a:solidFill>
                  <a:srgbClr val="9A5A00"/>
                </a:solidFill>
              </a:rPr>
              <a:t>Needs the robot</a:t>
            </a:r>
            <a:endParaRPr lang="en-US" sz="1200" dirty="0"/>
          </a:p>
          <a:p>
            <a:pPr marL="0" indent="0">
              <a:buNone/>
            </a:pPr>
            <a:r>
              <a:rPr lang="en-US" sz="1200" dirty="0">
                <a:solidFill>
                  <a:schemeClr val="tx1"/>
                </a:solidFill>
              </a:rPr>
              <a:t>real motors, real sensor noise, field trial</a:t>
            </a:r>
            <a:endParaRPr lang="en-US" sz="1200" dirty="0"/>
          </a:p>
        </p:txBody>
      </p:sp>
      <p:sp>
        <p:nvSpPr>
          <p:cNvPr id="32"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1097280"/>
            <a:ext cx="5029200" cy="731520"/>
          </a:xfrm>
          <a:prstGeom prst="rect">
            <a:avLst/>
          </a:prstGeom>
          <a:noFill/>
          <a:ln/>
        </p:spPr>
        <p:txBody>
          <a:bodyPr wrap="square" lIns="0" tIns="0" rIns="0" bIns="0" rtlCol="0" anchor="t"/>
          <a:lstStyle/>
          <a:p>
            <a:pPr marL="0" indent="0">
              <a:buNone/>
            </a:pPr>
            <a:r>
              <a:rPr lang="en-US" sz="4000" b="1" dirty="0">
                <a:solidFill>
                  <a:schemeClr val="accent1"/>
                </a:solidFill>
              </a:rPr>
              <a:t>Thank you</a:t>
            </a:r>
            <a:endParaRPr lang="en-US" sz="4000" dirty="0"/>
          </a:p>
        </p:txBody>
      </p:sp>
      <p:sp>
        <p:nvSpPr>
          <p:cNvPr id="3" name="Text 1"/>
          <p:cNvSpPr txBox="1"/>
          <p:nvPr/>
        </p:nvSpPr>
        <p:spPr>
          <a:xfrm>
            <a:off x="457200" y="1920240"/>
            <a:ext cx="4754880" cy="548640"/>
          </a:xfrm>
          <a:prstGeom prst="rect">
            <a:avLst/>
          </a:prstGeom>
          <a:noFill/>
          <a:ln/>
        </p:spPr>
        <p:txBody>
          <a:bodyPr wrap="square" lIns="0" tIns="0" rIns="0" bIns="0" rtlCol="0" anchor="t"/>
          <a:lstStyle/>
          <a:p>
            <a:pPr marL="0" indent="0">
              <a:buNone/>
            </a:pPr>
            <a:r>
              <a:rPr lang="en-US" sz="1500" dirty="0">
                <a:solidFill>
                  <a:schemeClr val="tx1"/>
                </a:solidFill>
              </a:rPr>
              <a:t>Code, evaluation results, hardware design, circuit and Wokwi simulation are all on GitHub.</a:t>
            </a:r>
            <a:endParaRPr lang="en-US" sz="1500" dirty="0"/>
          </a:p>
        </p:txBody>
      </p:sp>
      <p:sp>
        <p:nvSpPr>
          <p:cNvPr id="4" name="Text 2"/>
          <p:cNvSpPr txBox="1"/>
          <p:nvPr/>
        </p:nvSpPr>
        <p:spPr>
          <a:xfrm>
            <a:off x="457200" y="2606040"/>
            <a:ext cx="4754880" cy="320040"/>
          </a:xfrm>
          <a:prstGeom prst="rect">
            <a:avLst/>
          </a:prstGeom>
          <a:noFill/>
          <a:ln/>
        </p:spPr>
        <p:txBody>
          <a:bodyPr wrap="square" lIns="0" tIns="0" rIns="0" bIns="0" rtlCol="0" anchor="t"/>
          <a:lstStyle/>
          <a:p>
            <a:pPr marL="0" indent="0">
              <a:buNone/>
            </a:pPr>
            <a:r>
              <a:rPr lang="en-US" sz="1500" b="1" u="sng" dirty="0">
                <a:solidFill>
                  <a:schemeClr val="accent1"/>
                </a:solidFill>
                <a:hlinkClick r:id="rId3">
                  <a:extLst>
                    <a:ext uri="{A12FA001-AC4F-418D-AE19-62706E023703}">
                      <ahyp:hlinkClr xmlns:ahyp="http://schemas.microsoft.com/office/drawing/2018/hyperlinkcolor" val="tx"/>
                    </a:ext>
                  </a:extLst>
                </a:hlinkClick>
              </a:rPr>
              <a:t>github.com/RiteshKumar2e/VISTARA-X</a:t>
            </a:r>
            <a:endParaRPr lang="en-US" sz="1500" dirty="0"/>
          </a:p>
        </p:txBody>
      </p:sp>
      <p:sp>
        <p:nvSpPr>
          <p:cNvPr id="5" name="Text 3"/>
          <p:cNvSpPr txBox="1"/>
          <p:nvPr/>
        </p:nvSpPr>
        <p:spPr>
          <a:xfrm>
            <a:off x="457200" y="4023360"/>
            <a:ext cx="4754880" cy="274320"/>
          </a:xfrm>
          <a:prstGeom prst="rect">
            <a:avLst/>
          </a:prstGeom>
          <a:noFill/>
          <a:ln/>
        </p:spPr>
        <p:txBody>
          <a:bodyPr wrap="square" lIns="0" tIns="0" rIns="0" bIns="0" rtlCol="0" anchor="t"/>
          <a:lstStyle/>
          <a:p>
            <a:pPr marL="0" indent="0">
              <a:buNone/>
            </a:pPr>
            <a:r>
              <a:rPr lang="en-US" sz="1200" dirty="0">
                <a:solidFill>
                  <a:schemeClr val="accent5"/>
                </a:solidFill>
              </a:rPr>
              <a:t>Team Hack01  |  Ritesh Kumar, Kainat Afrazi</a:t>
            </a:r>
            <a:endParaRPr lang="en-US" sz="1200" dirty="0"/>
          </a:p>
        </p:txBody>
      </p:sp>
    </p:spTree>
  </p:cSld>
  <p:clrMapOvr>
    <a:masterClrMapping/>
  </p:clrMapOvr>
</p:sld>
</file>

<file path=ppt/theme/theme1.xml><?xml version="1.0" encoding="utf-8"?>
<a:theme xmlns:a="http://schemas.openxmlformats.org/drawingml/2006/main" name="VISTARA-X">
  <a:themeElements>
    <a:clrScheme name="VISTARA-X">
      <a:dk1>
        <a:srgbClr val="101820"/>
      </a:dk1>
      <a:lt1>
        <a:srgbClr val="FFFFFF"/>
      </a:lt1>
      <a:dk2>
        <a:srgbClr val="4B5866"/>
      </a:dk2>
      <a:lt2>
        <a:srgbClr val="F3F5F7"/>
      </a:lt2>
      <a:accent1>
        <a:srgbClr val="0B7D73"/>
      </a:accent1>
      <a:accent2>
        <a:srgbClr val="D9A441"/>
      </a:accent2>
      <a:accent3>
        <a:srgbClr val="C0352A"/>
      </a:accent3>
      <a:accent4>
        <a:srgbClr val="7C5CE0"/>
      </a:accent4>
      <a:accent5>
        <a:srgbClr val="677480"/>
      </a:accent5>
      <a:accent6>
        <a:srgbClr val="2FD6C6"/>
      </a:accent6>
      <a:hlink>
        <a:srgbClr val="0B7D73"/>
      </a:hlink>
      <a:folHlink>
        <a:srgbClr val="7C5CE0"/>
      </a:folHlink>
    </a:clrScheme>
    <a:fontScheme name="VISTARA-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1431</Words>
  <Application>Microsoft Office PowerPoint</Application>
  <PresentationFormat>On-screen Show (16:9)</PresentationFormat>
  <Paragraphs>194</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VISTARA-X</vt:lpstr>
      <vt:lpstr>PowerPoint Presentation</vt:lpstr>
      <vt:lpstr>Robots react too late</vt:lpstr>
      <vt:lpstr>One delivery, step by step</vt:lpstr>
      <vt:lpstr>System architecture</vt:lpstr>
      <vt:lpstr>Prediction running in our dashboard</vt:lpstr>
      <vt:lpstr>Judge demo: a person crosses the corridor</vt:lpstr>
      <vt:lpstr>Results: predictive vs reactive, 9 runs each</vt:lpstr>
      <vt:lpstr>Hardware we use</vt:lpstr>
      <vt:lpstr>How the circuit works</vt:lpstr>
      <vt:lpstr>Pin wiring</vt:lpstr>
      <vt:lpstr>Simulated in Wokwi</vt:lpstr>
      <vt:lpstr>Cost and runtime</vt:lpstr>
      <vt:lpstr>From simulation to a real robot</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VISTARA-X</dc:title>
  <dc:subject>PptxGenJS Presentation</dc:subject>
  <dc:creator>Team Hack01 (Ritesh Kumar, Kainat Afrazi)</dc:creator>
  <cp:lastModifiedBy>Anmol x</cp:lastModifiedBy>
  <cp:revision>2</cp:revision>
  <dcterms:created xsi:type="dcterms:W3CDTF">2026-10-24T05:18:37Z</dcterms:created>
  <dcterms:modified xsi:type="dcterms:W3CDTF">2026-10-24T05:20:37Z</dcterms:modified>
</cp:coreProperties>
</file>